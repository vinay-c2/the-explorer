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9488"/>
          </a:solidFill>
          <a:ln w="12700">
            <a:solidFill>
              <a:srgbClr val="0D9488"/>
            </a:solidFill>
            <a:prstDash val="solid"/>
          </a:ln>
        </p:spPr>
      </p:sp>
      <p:sp>
        <p:nvSpPr>
          <p:cNvPr id="3" name="Shape 1"/>
          <p:cNvSpPr/>
          <p:nvPr/>
        </p:nvSpPr>
        <p:spPr>
          <a:xfrm>
            <a:off x="9070848" y="0"/>
            <a:ext cx="73152" cy="5143500"/>
          </a:xfrm>
          <a:prstGeom prst="rect">
            <a:avLst/>
          </a:prstGeom>
          <a:solidFill>
            <a:srgbClr val="F59E0B"/>
          </a:solidFill>
          <a:ln w="12700">
            <a:solidFill>
              <a:srgbClr val="F59E0B"/>
            </a:solidFill>
            <a:prstDash val="solid"/>
          </a:ln>
        </p:spPr>
      </p:sp>
      <p:sp>
        <p:nvSpPr>
          <p:cNvPr id="4" name="Shape 2"/>
          <p:cNvSpPr/>
          <p:nvPr/>
        </p:nvSpPr>
        <p:spPr>
          <a:xfrm>
            <a:off x="73152" y="0"/>
            <a:ext cx="8997696" cy="45720"/>
          </a:xfrm>
          <a:prstGeom prst="rect">
            <a:avLst/>
          </a:prstGeom>
          <a:solidFill>
            <a:srgbClr val="0D9488"/>
          </a:solidFill>
          <a:ln w="12700">
            <a:solidFill>
              <a:srgbClr val="0D9488"/>
            </a:solidFill>
            <a:prstDash val="solid"/>
          </a:ln>
        </p:spPr>
      </p:sp>
      <p:sp>
        <p:nvSpPr>
          <p:cNvPr id="5" name="Shape 3"/>
          <p:cNvSpPr/>
          <p:nvPr/>
        </p:nvSpPr>
        <p:spPr>
          <a:xfrm>
            <a:off x="6400800" y="548640"/>
            <a:ext cx="54864" cy="54864"/>
          </a:xfrm>
          <a:prstGeom prst="ellipse">
            <a:avLst/>
          </a:prstGeom>
          <a:solidFill>
            <a:srgbClr val="0D9488">
              <a:alpha val="40000"/>
            </a:srgbClr>
          </a:solidFill>
          <a:ln w="12700">
            <a:solidFill>
              <a:srgbClr val="0D9488">
                <a:alpha val="40000"/>
              </a:srgbClr>
            </a:solidFill>
            <a:prstDash val="solid"/>
          </a:ln>
        </p:spPr>
      </p:sp>
      <p:sp>
        <p:nvSpPr>
          <p:cNvPr id="6" name="Shape 4"/>
          <p:cNvSpPr/>
          <p:nvPr/>
        </p:nvSpPr>
        <p:spPr>
          <a:xfrm>
            <a:off x="6720840" y="548640"/>
            <a:ext cx="54864" cy="54864"/>
          </a:xfrm>
          <a:prstGeom prst="ellipse">
            <a:avLst/>
          </a:prstGeom>
          <a:solidFill>
            <a:srgbClr val="0D9488">
              <a:alpha val="40000"/>
            </a:srgbClr>
          </a:solidFill>
          <a:ln w="12700">
            <a:solidFill>
              <a:srgbClr val="0D9488">
                <a:alpha val="40000"/>
              </a:srgbClr>
            </a:solidFill>
            <a:prstDash val="solid"/>
          </a:ln>
        </p:spPr>
      </p:sp>
      <p:sp>
        <p:nvSpPr>
          <p:cNvPr id="7" name="Shape 5"/>
          <p:cNvSpPr/>
          <p:nvPr/>
        </p:nvSpPr>
        <p:spPr>
          <a:xfrm>
            <a:off x="7040880" y="548640"/>
            <a:ext cx="54864" cy="54864"/>
          </a:xfrm>
          <a:prstGeom prst="ellipse">
            <a:avLst/>
          </a:prstGeom>
          <a:solidFill>
            <a:srgbClr val="0D9488">
              <a:alpha val="40000"/>
            </a:srgbClr>
          </a:solidFill>
          <a:ln w="12700">
            <a:solidFill>
              <a:srgbClr val="0D9488">
                <a:alpha val="40000"/>
              </a:srgbClr>
            </a:solidFill>
            <a:prstDash val="solid"/>
          </a:ln>
        </p:spPr>
      </p:sp>
      <p:sp>
        <p:nvSpPr>
          <p:cNvPr id="8" name="Shape 6"/>
          <p:cNvSpPr/>
          <p:nvPr/>
        </p:nvSpPr>
        <p:spPr>
          <a:xfrm>
            <a:off x="7360920" y="548640"/>
            <a:ext cx="54864" cy="54864"/>
          </a:xfrm>
          <a:prstGeom prst="ellipse">
            <a:avLst/>
          </a:prstGeom>
          <a:solidFill>
            <a:srgbClr val="0D9488">
              <a:alpha val="40000"/>
            </a:srgbClr>
          </a:solidFill>
          <a:ln w="12700">
            <a:solidFill>
              <a:srgbClr val="0D9488">
                <a:alpha val="40000"/>
              </a:srgbClr>
            </a:solidFill>
            <a:prstDash val="solid"/>
          </a:ln>
        </p:spPr>
      </p:sp>
      <p:sp>
        <p:nvSpPr>
          <p:cNvPr id="9" name="Shape 7"/>
          <p:cNvSpPr/>
          <p:nvPr/>
        </p:nvSpPr>
        <p:spPr>
          <a:xfrm>
            <a:off x="7680960" y="548640"/>
            <a:ext cx="54864" cy="54864"/>
          </a:xfrm>
          <a:prstGeom prst="ellipse">
            <a:avLst/>
          </a:prstGeom>
          <a:solidFill>
            <a:srgbClr val="0D9488">
              <a:alpha val="40000"/>
            </a:srgbClr>
          </a:solidFill>
          <a:ln w="12700">
            <a:solidFill>
              <a:srgbClr val="0D9488">
                <a:alpha val="40000"/>
              </a:srgbClr>
            </a:solidFill>
            <a:prstDash val="solid"/>
          </a:ln>
        </p:spPr>
      </p:sp>
      <p:sp>
        <p:nvSpPr>
          <p:cNvPr id="10" name="Shape 8"/>
          <p:cNvSpPr/>
          <p:nvPr/>
        </p:nvSpPr>
        <p:spPr>
          <a:xfrm>
            <a:off x="8001000" y="548640"/>
            <a:ext cx="54864" cy="54864"/>
          </a:xfrm>
          <a:prstGeom prst="ellipse">
            <a:avLst/>
          </a:prstGeom>
          <a:solidFill>
            <a:srgbClr val="0D9488">
              <a:alpha val="40000"/>
            </a:srgbClr>
          </a:solidFill>
          <a:ln w="12700">
            <a:solidFill>
              <a:srgbClr val="0D9488">
                <a:alpha val="40000"/>
              </a:srgbClr>
            </a:solidFill>
            <a:prstDash val="solid"/>
          </a:ln>
        </p:spPr>
      </p:sp>
      <p:sp>
        <p:nvSpPr>
          <p:cNvPr id="11" name="Shape 9"/>
          <p:cNvSpPr/>
          <p:nvPr/>
        </p:nvSpPr>
        <p:spPr>
          <a:xfrm>
            <a:off x="8321040" y="548640"/>
            <a:ext cx="54864" cy="54864"/>
          </a:xfrm>
          <a:prstGeom prst="ellipse">
            <a:avLst/>
          </a:prstGeom>
          <a:solidFill>
            <a:srgbClr val="0D9488">
              <a:alpha val="40000"/>
            </a:srgbClr>
          </a:solidFill>
          <a:ln w="12700">
            <a:solidFill>
              <a:srgbClr val="0D9488">
                <a:alpha val="40000"/>
              </a:srgbClr>
            </a:solidFill>
            <a:prstDash val="solid"/>
          </a:ln>
        </p:spPr>
      </p:sp>
      <p:sp>
        <p:nvSpPr>
          <p:cNvPr id="12" name="Shape 10"/>
          <p:cNvSpPr/>
          <p:nvPr/>
        </p:nvSpPr>
        <p:spPr>
          <a:xfrm>
            <a:off x="6400800" y="868680"/>
            <a:ext cx="54864" cy="54864"/>
          </a:xfrm>
          <a:prstGeom prst="ellipse">
            <a:avLst/>
          </a:prstGeom>
          <a:solidFill>
            <a:srgbClr val="0D9488">
              <a:alpha val="40000"/>
            </a:srgbClr>
          </a:solidFill>
          <a:ln w="12700">
            <a:solidFill>
              <a:srgbClr val="0D9488">
                <a:alpha val="40000"/>
              </a:srgbClr>
            </a:solidFill>
            <a:prstDash val="solid"/>
          </a:ln>
        </p:spPr>
      </p:sp>
      <p:sp>
        <p:nvSpPr>
          <p:cNvPr id="13" name="Shape 11"/>
          <p:cNvSpPr/>
          <p:nvPr/>
        </p:nvSpPr>
        <p:spPr>
          <a:xfrm>
            <a:off x="6720840" y="868680"/>
            <a:ext cx="54864" cy="54864"/>
          </a:xfrm>
          <a:prstGeom prst="ellipse">
            <a:avLst/>
          </a:prstGeom>
          <a:solidFill>
            <a:srgbClr val="0D9488">
              <a:alpha val="40000"/>
            </a:srgbClr>
          </a:solidFill>
          <a:ln w="12700">
            <a:solidFill>
              <a:srgbClr val="0D9488">
                <a:alpha val="40000"/>
              </a:srgbClr>
            </a:solidFill>
            <a:prstDash val="solid"/>
          </a:ln>
        </p:spPr>
      </p:sp>
      <p:sp>
        <p:nvSpPr>
          <p:cNvPr id="14" name="Shape 12"/>
          <p:cNvSpPr/>
          <p:nvPr/>
        </p:nvSpPr>
        <p:spPr>
          <a:xfrm>
            <a:off x="7040880" y="868680"/>
            <a:ext cx="54864" cy="54864"/>
          </a:xfrm>
          <a:prstGeom prst="ellipse">
            <a:avLst/>
          </a:prstGeom>
          <a:solidFill>
            <a:srgbClr val="0D9488">
              <a:alpha val="40000"/>
            </a:srgbClr>
          </a:solidFill>
          <a:ln w="12700">
            <a:solidFill>
              <a:srgbClr val="0D9488">
                <a:alpha val="40000"/>
              </a:srgbClr>
            </a:solidFill>
            <a:prstDash val="solid"/>
          </a:ln>
        </p:spPr>
      </p:sp>
      <p:sp>
        <p:nvSpPr>
          <p:cNvPr id="15" name="Shape 13"/>
          <p:cNvSpPr/>
          <p:nvPr/>
        </p:nvSpPr>
        <p:spPr>
          <a:xfrm>
            <a:off x="7360920" y="868680"/>
            <a:ext cx="54864" cy="54864"/>
          </a:xfrm>
          <a:prstGeom prst="ellipse">
            <a:avLst/>
          </a:prstGeom>
          <a:solidFill>
            <a:srgbClr val="0D9488">
              <a:alpha val="40000"/>
            </a:srgbClr>
          </a:solidFill>
          <a:ln w="12700">
            <a:solidFill>
              <a:srgbClr val="0D9488">
                <a:alpha val="40000"/>
              </a:srgbClr>
            </a:solidFill>
            <a:prstDash val="solid"/>
          </a:ln>
        </p:spPr>
      </p:sp>
      <p:sp>
        <p:nvSpPr>
          <p:cNvPr id="16" name="Shape 14"/>
          <p:cNvSpPr/>
          <p:nvPr/>
        </p:nvSpPr>
        <p:spPr>
          <a:xfrm>
            <a:off x="7680960" y="868680"/>
            <a:ext cx="54864" cy="54864"/>
          </a:xfrm>
          <a:prstGeom prst="ellipse">
            <a:avLst/>
          </a:prstGeom>
          <a:solidFill>
            <a:srgbClr val="0D9488">
              <a:alpha val="40000"/>
            </a:srgbClr>
          </a:solidFill>
          <a:ln w="12700">
            <a:solidFill>
              <a:srgbClr val="0D9488">
                <a:alpha val="40000"/>
              </a:srgbClr>
            </a:solidFill>
            <a:prstDash val="solid"/>
          </a:ln>
        </p:spPr>
      </p:sp>
      <p:sp>
        <p:nvSpPr>
          <p:cNvPr id="17" name="Shape 15"/>
          <p:cNvSpPr/>
          <p:nvPr/>
        </p:nvSpPr>
        <p:spPr>
          <a:xfrm>
            <a:off x="8001000" y="868680"/>
            <a:ext cx="54864" cy="54864"/>
          </a:xfrm>
          <a:prstGeom prst="ellipse">
            <a:avLst/>
          </a:prstGeom>
          <a:solidFill>
            <a:srgbClr val="0D9488">
              <a:alpha val="40000"/>
            </a:srgbClr>
          </a:solidFill>
          <a:ln w="12700">
            <a:solidFill>
              <a:srgbClr val="0D9488">
                <a:alpha val="40000"/>
              </a:srgbClr>
            </a:solidFill>
            <a:prstDash val="solid"/>
          </a:ln>
        </p:spPr>
      </p:sp>
      <p:sp>
        <p:nvSpPr>
          <p:cNvPr id="18" name="Shape 16"/>
          <p:cNvSpPr/>
          <p:nvPr/>
        </p:nvSpPr>
        <p:spPr>
          <a:xfrm>
            <a:off x="8321040" y="868680"/>
            <a:ext cx="54864" cy="54864"/>
          </a:xfrm>
          <a:prstGeom prst="ellipse">
            <a:avLst/>
          </a:prstGeom>
          <a:solidFill>
            <a:srgbClr val="0D9488">
              <a:alpha val="40000"/>
            </a:srgbClr>
          </a:solidFill>
          <a:ln w="12700">
            <a:solidFill>
              <a:srgbClr val="0D9488">
                <a:alpha val="40000"/>
              </a:srgbClr>
            </a:solidFill>
            <a:prstDash val="solid"/>
          </a:ln>
        </p:spPr>
      </p:sp>
      <p:sp>
        <p:nvSpPr>
          <p:cNvPr id="19" name="Shape 17"/>
          <p:cNvSpPr/>
          <p:nvPr/>
        </p:nvSpPr>
        <p:spPr>
          <a:xfrm>
            <a:off x="6400800" y="1188720"/>
            <a:ext cx="54864" cy="54864"/>
          </a:xfrm>
          <a:prstGeom prst="ellipse">
            <a:avLst/>
          </a:prstGeom>
          <a:solidFill>
            <a:srgbClr val="0D9488">
              <a:alpha val="40000"/>
            </a:srgbClr>
          </a:solidFill>
          <a:ln w="12700">
            <a:solidFill>
              <a:srgbClr val="0D9488">
                <a:alpha val="40000"/>
              </a:srgbClr>
            </a:solidFill>
            <a:prstDash val="solid"/>
          </a:ln>
        </p:spPr>
      </p:sp>
      <p:sp>
        <p:nvSpPr>
          <p:cNvPr id="20" name="Shape 18"/>
          <p:cNvSpPr/>
          <p:nvPr/>
        </p:nvSpPr>
        <p:spPr>
          <a:xfrm>
            <a:off x="6720840" y="1188720"/>
            <a:ext cx="54864" cy="54864"/>
          </a:xfrm>
          <a:prstGeom prst="ellipse">
            <a:avLst/>
          </a:prstGeom>
          <a:solidFill>
            <a:srgbClr val="0D9488">
              <a:alpha val="40000"/>
            </a:srgbClr>
          </a:solidFill>
          <a:ln w="12700">
            <a:solidFill>
              <a:srgbClr val="0D9488">
                <a:alpha val="40000"/>
              </a:srgbClr>
            </a:solidFill>
            <a:prstDash val="solid"/>
          </a:ln>
        </p:spPr>
      </p:sp>
      <p:sp>
        <p:nvSpPr>
          <p:cNvPr id="21" name="Shape 19"/>
          <p:cNvSpPr/>
          <p:nvPr/>
        </p:nvSpPr>
        <p:spPr>
          <a:xfrm>
            <a:off x="7040880" y="1188720"/>
            <a:ext cx="54864" cy="54864"/>
          </a:xfrm>
          <a:prstGeom prst="ellipse">
            <a:avLst/>
          </a:prstGeom>
          <a:solidFill>
            <a:srgbClr val="0D9488">
              <a:alpha val="40000"/>
            </a:srgbClr>
          </a:solidFill>
          <a:ln w="12700">
            <a:solidFill>
              <a:srgbClr val="0D9488">
                <a:alpha val="40000"/>
              </a:srgbClr>
            </a:solidFill>
            <a:prstDash val="solid"/>
          </a:ln>
        </p:spPr>
      </p:sp>
      <p:sp>
        <p:nvSpPr>
          <p:cNvPr id="22" name="Shape 20"/>
          <p:cNvSpPr/>
          <p:nvPr/>
        </p:nvSpPr>
        <p:spPr>
          <a:xfrm>
            <a:off x="7360920" y="1188720"/>
            <a:ext cx="54864" cy="54864"/>
          </a:xfrm>
          <a:prstGeom prst="ellipse">
            <a:avLst/>
          </a:prstGeom>
          <a:solidFill>
            <a:srgbClr val="0D9488">
              <a:alpha val="40000"/>
            </a:srgbClr>
          </a:solidFill>
          <a:ln w="12700">
            <a:solidFill>
              <a:srgbClr val="0D9488">
                <a:alpha val="40000"/>
              </a:srgbClr>
            </a:solidFill>
            <a:prstDash val="solid"/>
          </a:ln>
        </p:spPr>
      </p:sp>
      <p:sp>
        <p:nvSpPr>
          <p:cNvPr id="23" name="Shape 21"/>
          <p:cNvSpPr/>
          <p:nvPr/>
        </p:nvSpPr>
        <p:spPr>
          <a:xfrm>
            <a:off x="7680960" y="1188720"/>
            <a:ext cx="54864" cy="54864"/>
          </a:xfrm>
          <a:prstGeom prst="ellipse">
            <a:avLst/>
          </a:prstGeom>
          <a:solidFill>
            <a:srgbClr val="0D9488">
              <a:alpha val="40000"/>
            </a:srgbClr>
          </a:solidFill>
          <a:ln w="12700">
            <a:solidFill>
              <a:srgbClr val="0D9488">
                <a:alpha val="40000"/>
              </a:srgbClr>
            </a:solidFill>
            <a:prstDash val="solid"/>
          </a:ln>
        </p:spPr>
      </p:sp>
      <p:sp>
        <p:nvSpPr>
          <p:cNvPr id="24" name="Shape 22"/>
          <p:cNvSpPr/>
          <p:nvPr/>
        </p:nvSpPr>
        <p:spPr>
          <a:xfrm>
            <a:off x="8001000" y="1188720"/>
            <a:ext cx="54864" cy="54864"/>
          </a:xfrm>
          <a:prstGeom prst="ellipse">
            <a:avLst/>
          </a:prstGeom>
          <a:solidFill>
            <a:srgbClr val="0D9488">
              <a:alpha val="40000"/>
            </a:srgbClr>
          </a:solidFill>
          <a:ln w="12700">
            <a:solidFill>
              <a:srgbClr val="0D9488">
                <a:alpha val="40000"/>
              </a:srgbClr>
            </a:solidFill>
            <a:prstDash val="solid"/>
          </a:ln>
        </p:spPr>
      </p:sp>
      <p:sp>
        <p:nvSpPr>
          <p:cNvPr id="25" name="Shape 23"/>
          <p:cNvSpPr/>
          <p:nvPr/>
        </p:nvSpPr>
        <p:spPr>
          <a:xfrm>
            <a:off x="8321040" y="1188720"/>
            <a:ext cx="54864" cy="54864"/>
          </a:xfrm>
          <a:prstGeom prst="ellipse">
            <a:avLst/>
          </a:prstGeom>
          <a:solidFill>
            <a:srgbClr val="0D9488">
              <a:alpha val="40000"/>
            </a:srgbClr>
          </a:solidFill>
          <a:ln w="12700">
            <a:solidFill>
              <a:srgbClr val="0D9488">
                <a:alpha val="40000"/>
              </a:srgbClr>
            </a:solidFill>
            <a:prstDash val="solid"/>
          </a:ln>
        </p:spPr>
      </p:sp>
      <p:sp>
        <p:nvSpPr>
          <p:cNvPr id="26" name="Shape 24"/>
          <p:cNvSpPr/>
          <p:nvPr/>
        </p:nvSpPr>
        <p:spPr>
          <a:xfrm>
            <a:off x="6400800" y="1508760"/>
            <a:ext cx="54864" cy="54864"/>
          </a:xfrm>
          <a:prstGeom prst="ellipse">
            <a:avLst/>
          </a:prstGeom>
          <a:solidFill>
            <a:srgbClr val="0D9488">
              <a:alpha val="40000"/>
            </a:srgbClr>
          </a:solidFill>
          <a:ln w="12700">
            <a:solidFill>
              <a:srgbClr val="0D9488">
                <a:alpha val="40000"/>
              </a:srgbClr>
            </a:solidFill>
            <a:prstDash val="solid"/>
          </a:ln>
        </p:spPr>
      </p:sp>
      <p:sp>
        <p:nvSpPr>
          <p:cNvPr id="27" name="Shape 25"/>
          <p:cNvSpPr/>
          <p:nvPr/>
        </p:nvSpPr>
        <p:spPr>
          <a:xfrm>
            <a:off x="6720840" y="1508760"/>
            <a:ext cx="54864" cy="54864"/>
          </a:xfrm>
          <a:prstGeom prst="ellipse">
            <a:avLst/>
          </a:prstGeom>
          <a:solidFill>
            <a:srgbClr val="0D9488">
              <a:alpha val="40000"/>
            </a:srgbClr>
          </a:solidFill>
          <a:ln w="12700">
            <a:solidFill>
              <a:srgbClr val="0D9488">
                <a:alpha val="40000"/>
              </a:srgbClr>
            </a:solidFill>
            <a:prstDash val="solid"/>
          </a:ln>
        </p:spPr>
      </p:sp>
      <p:sp>
        <p:nvSpPr>
          <p:cNvPr id="28" name="Shape 26"/>
          <p:cNvSpPr/>
          <p:nvPr/>
        </p:nvSpPr>
        <p:spPr>
          <a:xfrm>
            <a:off x="7040880" y="1508760"/>
            <a:ext cx="54864" cy="54864"/>
          </a:xfrm>
          <a:prstGeom prst="ellipse">
            <a:avLst/>
          </a:prstGeom>
          <a:solidFill>
            <a:srgbClr val="0D9488">
              <a:alpha val="40000"/>
            </a:srgbClr>
          </a:solidFill>
          <a:ln w="12700">
            <a:solidFill>
              <a:srgbClr val="0D9488">
                <a:alpha val="40000"/>
              </a:srgbClr>
            </a:solidFill>
            <a:prstDash val="solid"/>
          </a:ln>
        </p:spPr>
      </p:sp>
      <p:sp>
        <p:nvSpPr>
          <p:cNvPr id="29" name="Shape 27"/>
          <p:cNvSpPr/>
          <p:nvPr/>
        </p:nvSpPr>
        <p:spPr>
          <a:xfrm>
            <a:off x="7360920" y="1508760"/>
            <a:ext cx="54864" cy="54864"/>
          </a:xfrm>
          <a:prstGeom prst="ellipse">
            <a:avLst/>
          </a:prstGeom>
          <a:solidFill>
            <a:srgbClr val="0D9488">
              <a:alpha val="40000"/>
            </a:srgbClr>
          </a:solidFill>
          <a:ln w="12700">
            <a:solidFill>
              <a:srgbClr val="0D9488">
                <a:alpha val="40000"/>
              </a:srgbClr>
            </a:solidFill>
            <a:prstDash val="solid"/>
          </a:ln>
        </p:spPr>
      </p:sp>
      <p:sp>
        <p:nvSpPr>
          <p:cNvPr id="30" name="Shape 28"/>
          <p:cNvSpPr/>
          <p:nvPr/>
        </p:nvSpPr>
        <p:spPr>
          <a:xfrm>
            <a:off x="7680960" y="1508760"/>
            <a:ext cx="54864" cy="54864"/>
          </a:xfrm>
          <a:prstGeom prst="ellipse">
            <a:avLst/>
          </a:prstGeom>
          <a:solidFill>
            <a:srgbClr val="0D9488">
              <a:alpha val="40000"/>
            </a:srgbClr>
          </a:solidFill>
          <a:ln w="12700">
            <a:solidFill>
              <a:srgbClr val="0D9488">
                <a:alpha val="40000"/>
              </a:srgbClr>
            </a:solidFill>
            <a:prstDash val="solid"/>
          </a:ln>
        </p:spPr>
      </p:sp>
      <p:sp>
        <p:nvSpPr>
          <p:cNvPr id="31" name="Shape 29"/>
          <p:cNvSpPr/>
          <p:nvPr/>
        </p:nvSpPr>
        <p:spPr>
          <a:xfrm>
            <a:off x="8001000" y="1508760"/>
            <a:ext cx="54864" cy="54864"/>
          </a:xfrm>
          <a:prstGeom prst="ellipse">
            <a:avLst/>
          </a:prstGeom>
          <a:solidFill>
            <a:srgbClr val="0D9488">
              <a:alpha val="40000"/>
            </a:srgbClr>
          </a:solidFill>
          <a:ln w="12700">
            <a:solidFill>
              <a:srgbClr val="0D9488">
                <a:alpha val="40000"/>
              </a:srgbClr>
            </a:solidFill>
            <a:prstDash val="solid"/>
          </a:ln>
        </p:spPr>
      </p:sp>
      <p:sp>
        <p:nvSpPr>
          <p:cNvPr id="32" name="Shape 30"/>
          <p:cNvSpPr/>
          <p:nvPr/>
        </p:nvSpPr>
        <p:spPr>
          <a:xfrm>
            <a:off x="8321040" y="1508760"/>
            <a:ext cx="54864" cy="54864"/>
          </a:xfrm>
          <a:prstGeom prst="ellipse">
            <a:avLst/>
          </a:prstGeom>
          <a:solidFill>
            <a:srgbClr val="0D9488">
              <a:alpha val="40000"/>
            </a:srgbClr>
          </a:solidFill>
          <a:ln w="12700">
            <a:solidFill>
              <a:srgbClr val="0D9488">
                <a:alpha val="40000"/>
              </a:srgbClr>
            </a:solidFill>
            <a:prstDash val="solid"/>
          </a:ln>
        </p:spPr>
      </p:sp>
      <p:sp>
        <p:nvSpPr>
          <p:cNvPr id="33" name="Text 31"/>
          <p:cNvSpPr/>
          <p:nvPr/>
        </p:nvSpPr>
        <p:spPr>
          <a:xfrm>
            <a:off x="228600" y="274320"/>
            <a:ext cx="8686800" cy="320040"/>
          </a:xfrm>
          <a:prstGeom prst="rect">
            <a:avLst/>
          </a:prstGeom>
          <a:noFill/>
          <a:ln/>
        </p:spPr>
        <p:txBody>
          <a:bodyPr wrap="square" lIns="0" tIns="0" rIns="0" bIns="0" rtlCol="0" anchor="ctr"/>
          <a:lstStyle/>
          <a:p>
            <a:pPr algn="ctr" indent="0" marL="0">
              <a:buNone/>
            </a:pPr>
            <a:r>
              <a:rPr lang="en-US" sz="900" spc="300" kern="0" dirty="0">
                <a:solidFill>
                  <a:srgbClr val="14B8A6"/>
                </a:solidFill>
              </a:rPr>
              <a:t>INFORMATION RETRIEVAL   ·   VECTOR SPACE MODELS   ·   NEURAL SEARCH</a:t>
            </a:r>
            <a:endParaRPr lang="en-US" sz="900" dirty="0"/>
          </a:p>
        </p:txBody>
      </p:sp>
      <p:sp>
        <p:nvSpPr>
          <p:cNvPr id="34" name="Text 32"/>
          <p:cNvSpPr/>
          <p:nvPr/>
        </p:nvSpPr>
        <p:spPr>
          <a:xfrm>
            <a:off x="228600" y="1005840"/>
            <a:ext cx="8686800" cy="1005840"/>
          </a:xfrm>
          <a:prstGeom prst="rect">
            <a:avLst/>
          </a:prstGeom>
          <a:noFill/>
          <a:ln/>
        </p:spPr>
        <p:txBody>
          <a:bodyPr wrap="square" lIns="0" tIns="0" rIns="0" bIns="0" rtlCol="0" anchor="ctr"/>
          <a:lstStyle/>
          <a:p>
            <a:pPr algn="ctr" indent="0" marL="0">
              <a:buNone/>
            </a:pPr>
            <a:r>
              <a:rPr lang="en-US" sz="5200" b="1" dirty="0">
                <a:solidFill>
                  <a:srgbClr val="F8FAFC"/>
                </a:solidFill>
                <a:latin typeface="Georgia" pitchFamily="34" charset="0"/>
                <a:ea typeface="Georgia" pitchFamily="34" charset="-122"/>
                <a:cs typeface="Georgia" pitchFamily="34" charset="-120"/>
              </a:rPr>
              <a:t>Vector Space Model</a:t>
            </a:r>
            <a:endParaRPr lang="en-US" sz="5200" dirty="0"/>
          </a:p>
        </p:txBody>
      </p:sp>
      <p:sp>
        <p:nvSpPr>
          <p:cNvPr id="35" name="Text 33"/>
          <p:cNvSpPr/>
          <p:nvPr/>
        </p:nvSpPr>
        <p:spPr>
          <a:xfrm>
            <a:off x="228600" y="2011680"/>
            <a:ext cx="8686800" cy="548640"/>
          </a:xfrm>
          <a:prstGeom prst="rect">
            <a:avLst/>
          </a:prstGeom>
          <a:noFill/>
          <a:ln/>
        </p:spPr>
        <p:txBody>
          <a:bodyPr wrap="square" lIns="0" tIns="0" rIns="0" bIns="0" rtlCol="0" anchor="ctr"/>
          <a:lstStyle/>
          <a:p>
            <a:pPr algn="ctr" indent="0" marL="0">
              <a:buNone/>
            </a:pPr>
            <a:r>
              <a:rPr lang="en-US" sz="2200" i="1" dirty="0">
                <a:solidFill>
                  <a:srgbClr val="FCD34D"/>
                </a:solidFill>
                <a:latin typeface="Georgia" pitchFamily="34" charset="0"/>
                <a:ea typeface="Georgia" pitchFamily="34" charset="-122"/>
                <a:cs typeface="Georgia" pitchFamily="34" charset="-120"/>
              </a:rPr>
              <a:t>Theory, Architecture &amp; The Explorer Search Engine</a:t>
            </a:r>
            <a:endParaRPr lang="en-US" sz="2200" dirty="0"/>
          </a:p>
        </p:txBody>
      </p:sp>
      <p:sp>
        <p:nvSpPr>
          <p:cNvPr id="36" name="Shape 34"/>
          <p:cNvSpPr/>
          <p:nvPr/>
        </p:nvSpPr>
        <p:spPr>
          <a:xfrm>
            <a:off x="3200400" y="2697480"/>
            <a:ext cx="2743200" cy="36576"/>
          </a:xfrm>
          <a:prstGeom prst="rect">
            <a:avLst/>
          </a:prstGeom>
          <a:solidFill>
            <a:srgbClr val="14B8A6"/>
          </a:solidFill>
          <a:ln w="12700">
            <a:solidFill>
              <a:srgbClr val="14B8A6"/>
            </a:solidFill>
            <a:prstDash val="solid"/>
          </a:ln>
        </p:spPr>
      </p:sp>
      <p:sp>
        <p:nvSpPr>
          <p:cNvPr id="37" name="Shape 35"/>
          <p:cNvSpPr/>
          <p:nvPr/>
        </p:nvSpPr>
        <p:spPr>
          <a:xfrm>
            <a:off x="731520" y="2926080"/>
            <a:ext cx="1371600" cy="347472"/>
          </a:xfrm>
          <a:prstGeom prst="roundRect">
            <a:avLst>
              <a:gd name="adj" fmla="val 13158"/>
            </a:avLst>
          </a:prstGeom>
          <a:solidFill>
            <a:srgbClr val="1F2937"/>
          </a:solidFill>
          <a:ln w="12700">
            <a:solidFill>
              <a:srgbClr val="0D9488"/>
            </a:solidFill>
            <a:prstDash val="solid"/>
          </a:ln>
        </p:spPr>
      </p:sp>
      <p:sp>
        <p:nvSpPr>
          <p:cNvPr id="38" name="Text 36"/>
          <p:cNvSpPr/>
          <p:nvPr/>
        </p:nvSpPr>
        <p:spPr>
          <a:xfrm>
            <a:off x="731520" y="2926080"/>
            <a:ext cx="1371600" cy="347472"/>
          </a:xfrm>
          <a:prstGeom prst="rect">
            <a:avLst/>
          </a:prstGeom>
          <a:noFill/>
          <a:ln/>
        </p:spPr>
        <p:txBody>
          <a:bodyPr wrap="square" lIns="0" tIns="0" rIns="0" bIns="0" rtlCol="0" anchor="ctr"/>
          <a:lstStyle/>
          <a:p>
            <a:pPr algn="ctr" indent="0" marL="0">
              <a:buNone/>
            </a:pPr>
            <a:r>
              <a:rPr lang="en-US" sz="1100" dirty="0">
                <a:solidFill>
                  <a:srgbClr val="14B8A6"/>
                </a:solidFill>
              </a:rPr>
              <a:t>BM25</a:t>
            </a:r>
            <a:endParaRPr lang="en-US" sz="1100" dirty="0"/>
          </a:p>
        </p:txBody>
      </p:sp>
      <p:sp>
        <p:nvSpPr>
          <p:cNvPr id="39" name="Shape 37"/>
          <p:cNvSpPr/>
          <p:nvPr/>
        </p:nvSpPr>
        <p:spPr>
          <a:xfrm>
            <a:off x="2304288" y="2926080"/>
            <a:ext cx="1371600" cy="347472"/>
          </a:xfrm>
          <a:prstGeom prst="roundRect">
            <a:avLst>
              <a:gd name="adj" fmla="val 13158"/>
            </a:avLst>
          </a:prstGeom>
          <a:solidFill>
            <a:srgbClr val="1F2937"/>
          </a:solidFill>
          <a:ln w="12700">
            <a:solidFill>
              <a:srgbClr val="0D9488"/>
            </a:solidFill>
            <a:prstDash val="solid"/>
          </a:ln>
        </p:spPr>
      </p:sp>
      <p:sp>
        <p:nvSpPr>
          <p:cNvPr id="40" name="Text 38"/>
          <p:cNvSpPr/>
          <p:nvPr/>
        </p:nvSpPr>
        <p:spPr>
          <a:xfrm>
            <a:off x="2304288" y="2926080"/>
            <a:ext cx="1371600" cy="347472"/>
          </a:xfrm>
          <a:prstGeom prst="rect">
            <a:avLst/>
          </a:prstGeom>
          <a:noFill/>
          <a:ln/>
        </p:spPr>
        <p:txBody>
          <a:bodyPr wrap="square" lIns="0" tIns="0" rIns="0" bIns="0" rtlCol="0" anchor="ctr"/>
          <a:lstStyle/>
          <a:p>
            <a:pPr algn="ctr" indent="0" marL="0">
              <a:buNone/>
            </a:pPr>
            <a:r>
              <a:rPr lang="en-US" sz="1100" dirty="0">
                <a:solidFill>
                  <a:srgbClr val="14B8A6"/>
                </a:solidFill>
              </a:rPr>
              <a:t>Neural Embeddings</a:t>
            </a:r>
            <a:endParaRPr lang="en-US" sz="1100" dirty="0"/>
          </a:p>
        </p:txBody>
      </p:sp>
      <p:sp>
        <p:nvSpPr>
          <p:cNvPr id="41" name="Shape 39"/>
          <p:cNvSpPr/>
          <p:nvPr/>
        </p:nvSpPr>
        <p:spPr>
          <a:xfrm>
            <a:off x="3877056" y="2926080"/>
            <a:ext cx="1371600" cy="347472"/>
          </a:xfrm>
          <a:prstGeom prst="roundRect">
            <a:avLst>
              <a:gd name="adj" fmla="val 13158"/>
            </a:avLst>
          </a:prstGeom>
          <a:solidFill>
            <a:srgbClr val="1F2937"/>
          </a:solidFill>
          <a:ln w="12700">
            <a:solidFill>
              <a:srgbClr val="0D9488"/>
            </a:solidFill>
            <a:prstDash val="solid"/>
          </a:ln>
        </p:spPr>
      </p:sp>
      <p:sp>
        <p:nvSpPr>
          <p:cNvPr id="42" name="Text 40"/>
          <p:cNvSpPr/>
          <p:nvPr/>
        </p:nvSpPr>
        <p:spPr>
          <a:xfrm>
            <a:off x="3877056" y="2926080"/>
            <a:ext cx="1371600" cy="347472"/>
          </a:xfrm>
          <a:prstGeom prst="rect">
            <a:avLst/>
          </a:prstGeom>
          <a:noFill/>
          <a:ln/>
        </p:spPr>
        <p:txBody>
          <a:bodyPr wrap="square" lIns="0" tIns="0" rIns="0" bIns="0" rtlCol="0" anchor="ctr"/>
          <a:lstStyle/>
          <a:p>
            <a:pPr algn="ctr" indent="0" marL="0">
              <a:buNone/>
            </a:pPr>
            <a:r>
              <a:rPr lang="en-US" sz="1100" dirty="0">
                <a:solidFill>
                  <a:srgbClr val="14B8A6"/>
                </a:solidFill>
              </a:rPr>
              <a:t>FAISS</a:t>
            </a:r>
            <a:endParaRPr lang="en-US" sz="1100" dirty="0"/>
          </a:p>
        </p:txBody>
      </p:sp>
      <p:sp>
        <p:nvSpPr>
          <p:cNvPr id="43" name="Shape 41"/>
          <p:cNvSpPr/>
          <p:nvPr/>
        </p:nvSpPr>
        <p:spPr>
          <a:xfrm>
            <a:off x="5449824" y="2926080"/>
            <a:ext cx="1371600" cy="347472"/>
          </a:xfrm>
          <a:prstGeom prst="roundRect">
            <a:avLst>
              <a:gd name="adj" fmla="val 13158"/>
            </a:avLst>
          </a:prstGeom>
          <a:solidFill>
            <a:srgbClr val="1F2937"/>
          </a:solidFill>
          <a:ln w="12700">
            <a:solidFill>
              <a:srgbClr val="0D9488"/>
            </a:solidFill>
            <a:prstDash val="solid"/>
          </a:ln>
        </p:spPr>
      </p:sp>
      <p:sp>
        <p:nvSpPr>
          <p:cNvPr id="44" name="Text 42"/>
          <p:cNvSpPr/>
          <p:nvPr/>
        </p:nvSpPr>
        <p:spPr>
          <a:xfrm>
            <a:off x="5449824" y="2926080"/>
            <a:ext cx="1371600" cy="347472"/>
          </a:xfrm>
          <a:prstGeom prst="rect">
            <a:avLst/>
          </a:prstGeom>
          <a:noFill/>
          <a:ln/>
        </p:spPr>
        <p:txBody>
          <a:bodyPr wrap="square" lIns="0" tIns="0" rIns="0" bIns="0" rtlCol="0" anchor="ctr"/>
          <a:lstStyle/>
          <a:p>
            <a:pPr algn="ctr" indent="0" marL="0">
              <a:buNone/>
            </a:pPr>
            <a:r>
              <a:rPr lang="en-US" sz="1100" dirty="0">
                <a:solidFill>
                  <a:srgbClr val="14B8A6"/>
                </a:solidFill>
              </a:rPr>
              <a:t>Hybrid Search</a:t>
            </a:r>
            <a:endParaRPr lang="en-US" sz="1100" dirty="0"/>
          </a:p>
        </p:txBody>
      </p:sp>
      <p:sp>
        <p:nvSpPr>
          <p:cNvPr id="45" name="Shape 43"/>
          <p:cNvSpPr/>
          <p:nvPr/>
        </p:nvSpPr>
        <p:spPr>
          <a:xfrm>
            <a:off x="7022592" y="2926080"/>
            <a:ext cx="1371600" cy="347472"/>
          </a:xfrm>
          <a:prstGeom prst="roundRect">
            <a:avLst>
              <a:gd name="adj" fmla="val 13158"/>
            </a:avLst>
          </a:prstGeom>
          <a:solidFill>
            <a:srgbClr val="1F2937"/>
          </a:solidFill>
          <a:ln w="12700">
            <a:solidFill>
              <a:srgbClr val="0D9488"/>
            </a:solidFill>
            <a:prstDash val="solid"/>
          </a:ln>
        </p:spPr>
      </p:sp>
      <p:sp>
        <p:nvSpPr>
          <p:cNvPr id="46" name="Text 44"/>
          <p:cNvSpPr/>
          <p:nvPr/>
        </p:nvSpPr>
        <p:spPr>
          <a:xfrm>
            <a:off x="7022592" y="2926080"/>
            <a:ext cx="1371600" cy="347472"/>
          </a:xfrm>
          <a:prstGeom prst="rect">
            <a:avLst/>
          </a:prstGeom>
          <a:noFill/>
          <a:ln/>
        </p:spPr>
        <p:txBody>
          <a:bodyPr wrap="square" lIns="0" tIns="0" rIns="0" bIns="0" rtlCol="0" anchor="ctr"/>
          <a:lstStyle/>
          <a:p>
            <a:pPr algn="ctr" indent="0" marL="0">
              <a:buNone/>
            </a:pPr>
            <a:r>
              <a:rPr lang="en-US" sz="1100" dirty="0">
                <a:solidFill>
                  <a:srgbClr val="14B8A6"/>
                </a:solidFill>
              </a:rPr>
              <a:t>RRF</a:t>
            </a:r>
            <a:endParaRPr lang="en-US" sz="1100" dirty="0"/>
          </a:p>
        </p:txBody>
      </p:sp>
      <p:sp>
        <p:nvSpPr>
          <p:cNvPr id="47" name="Text 45"/>
          <p:cNvSpPr/>
          <p:nvPr/>
        </p:nvSpPr>
        <p:spPr>
          <a:xfrm>
            <a:off x="228600" y="4663440"/>
            <a:ext cx="8686800" cy="320040"/>
          </a:xfrm>
          <a:prstGeom prst="rect">
            <a:avLst/>
          </a:prstGeom>
          <a:noFill/>
          <a:ln/>
        </p:spPr>
        <p:txBody>
          <a:bodyPr wrap="square" lIns="0" tIns="0" rIns="0" bIns="0" rtlCol="0" anchor="ctr"/>
          <a:lstStyle/>
          <a:p>
            <a:pPr algn="ctr" indent="0" marL="0">
              <a:buNone/>
            </a:pPr>
            <a:r>
              <a:rPr lang="en-US" sz="1000" dirty="0">
                <a:solidFill>
                  <a:srgbClr val="94A3B8"/>
                </a:solidFill>
              </a:rPr>
              <a:t>The Explorer  ·  FastAPI + Sentence-Transformers + BM25 + FAISS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9488"/>
          </a:solidFill>
          <a:ln w="12700">
            <a:solidFill>
              <a:srgbClr val="0D9488"/>
            </a:solidFill>
            <a:prstDash val="solid"/>
          </a:ln>
        </p:spPr>
      </p:sp>
      <p:sp>
        <p:nvSpPr>
          <p:cNvPr id="3" name="Shape 1"/>
          <p:cNvSpPr/>
          <p:nvPr/>
        </p:nvSpPr>
        <p:spPr>
          <a:xfrm>
            <a:off x="73152" y="0"/>
            <a:ext cx="9070848" cy="822960"/>
          </a:xfrm>
          <a:prstGeom prst="rect">
            <a:avLst/>
          </a:prstGeom>
          <a:solidFill>
            <a:srgbClr val="161B22"/>
          </a:solidFill>
          <a:ln w="12700">
            <a:solidFill>
              <a:srgbClr val="161B22"/>
            </a:solidFill>
            <a:prstDash val="solid"/>
          </a:ln>
        </p:spPr>
      </p:sp>
      <p:sp>
        <p:nvSpPr>
          <p:cNvPr id="4" name="Text 2"/>
          <p:cNvSpPr/>
          <p:nvPr/>
        </p:nvSpPr>
        <p:spPr>
          <a:xfrm>
            <a:off x="228600" y="109728"/>
            <a:ext cx="548640" cy="594360"/>
          </a:xfrm>
          <a:prstGeom prst="rect">
            <a:avLst/>
          </a:prstGeom>
          <a:noFill/>
          <a:ln/>
        </p:spPr>
        <p:txBody>
          <a:bodyPr wrap="square" lIns="0" tIns="0" rIns="0" bIns="0" rtlCol="0" anchor="ctr"/>
          <a:lstStyle/>
          <a:p>
            <a:pPr indent="0" marL="0">
              <a:buNone/>
            </a:pPr>
            <a:r>
              <a:rPr lang="en-US" sz="2800" b="1" dirty="0">
                <a:solidFill>
                  <a:srgbClr val="0D9488"/>
                </a:solidFill>
              </a:rPr>
              <a:t>01</a:t>
            </a:r>
            <a:endParaRPr lang="en-US" sz="2800" dirty="0"/>
          </a:p>
        </p:txBody>
      </p:sp>
      <p:sp>
        <p:nvSpPr>
          <p:cNvPr id="5" name="Text 3"/>
          <p:cNvSpPr/>
          <p:nvPr/>
        </p:nvSpPr>
        <p:spPr>
          <a:xfrm>
            <a:off x="822960" y="137160"/>
            <a:ext cx="7772400" cy="548640"/>
          </a:xfrm>
          <a:prstGeom prst="rect">
            <a:avLst/>
          </a:prstGeom>
          <a:noFill/>
          <a:ln/>
        </p:spPr>
        <p:txBody>
          <a:bodyPr wrap="square" lIns="0" tIns="0" rIns="0" bIns="0" rtlCol="0" anchor="ctr"/>
          <a:lstStyle/>
          <a:p>
            <a:pPr indent="0" marL="0">
              <a:buNone/>
            </a:pPr>
            <a:r>
              <a:rPr lang="en-US" sz="2600" b="1" dirty="0">
                <a:solidFill>
                  <a:srgbClr val="F8FAFC"/>
                </a:solidFill>
                <a:latin typeface="Georgia" pitchFamily="34" charset="0"/>
                <a:ea typeface="Georgia" pitchFamily="34" charset="-122"/>
                <a:cs typeface="Georgia" pitchFamily="34" charset="-120"/>
              </a:rPr>
              <a:t>What is the Vector Space Model?</a:t>
            </a:r>
            <a:endParaRPr lang="en-US" sz="2600" dirty="0"/>
          </a:p>
        </p:txBody>
      </p:sp>
      <p:sp>
        <p:nvSpPr>
          <p:cNvPr id="6" name="Shape 4"/>
          <p:cNvSpPr/>
          <p:nvPr/>
        </p:nvSpPr>
        <p:spPr>
          <a:xfrm>
            <a:off x="228600" y="1005840"/>
            <a:ext cx="4572000" cy="2468880"/>
          </a:xfrm>
          <a:prstGeom prst="rect">
            <a:avLst/>
          </a:prstGeom>
          <a:solidFill>
            <a:srgbClr val="1F2937"/>
          </a:solidFill>
          <a:ln w="19050">
            <a:solidFill>
              <a:srgbClr val="0D9488"/>
            </a:solidFill>
            <a:prstDash val="solid"/>
          </a:ln>
          <a:effectLst>
            <a:outerShdw sx="100000" sy="100000" kx="0" ky="0" algn="bl" rotWithShape="0" blurRad="127000" dist="38100" dir="8100000">
              <a:srgbClr val="000000">
                <a:alpha val="25000"/>
              </a:srgbClr>
            </a:outerShdw>
          </a:effectLst>
        </p:spPr>
      </p:sp>
      <p:sp>
        <p:nvSpPr>
          <p:cNvPr id="7" name="Text 5"/>
          <p:cNvSpPr/>
          <p:nvPr/>
        </p:nvSpPr>
        <p:spPr>
          <a:xfrm>
            <a:off x="320040" y="1078992"/>
            <a:ext cx="4389120" cy="256032"/>
          </a:xfrm>
          <a:prstGeom prst="rect">
            <a:avLst/>
          </a:prstGeom>
          <a:noFill/>
          <a:ln/>
        </p:spPr>
        <p:txBody>
          <a:bodyPr wrap="square" lIns="0" tIns="0" rIns="0" bIns="0" rtlCol="0" anchor="ctr"/>
          <a:lstStyle/>
          <a:p>
            <a:pPr indent="0" marL="0">
              <a:buNone/>
            </a:pPr>
            <a:r>
              <a:rPr lang="en-US" sz="950" b="1" spc="200" kern="0" dirty="0">
                <a:solidFill>
                  <a:srgbClr val="14B8A6"/>
                </a:solidFill>
              </a:rPr>
              <a:t>CORE CONCEPT</a:t>
            </a:r>
            <a:endParaRPr lang="en-US" sz="950" dirty="0"/>
          </a:p>
        </p:txBody>
      </p:sp>
      <p:sp>
        <p:nvSpPr>
          <p:cNvPr id="8" name="Text 6"/>
          <p:cNvSpPr/>
          <p:nvPr/>
        </p:nvSpPr>
        <p:spPr>
          <a:xfrm>
            <a:off x="320040" y="1389888"/>
            <a:ext cx="4389120" cy="2011680"/>
          </a:xfrm>
          <a:prstGeom prst="rect">
            <a:avLst/>
          </a:prstGeom>
          <a:noFill/>
          <a:ln/>
        </p:spPr>
        <p:txBody>
          <a:bodyPr wrap="square" lIns="0" tIns="0" rIns="0" bIns="0" rtlCol="0" anchor="ctr"/>
          <a:lstStyle/>
          <a:p>
            <a:pPr indent="0" marL="0">
              <a:lnSpc>
                <a:spcPct val="135000"/>
              </a:lnSpc>
              <a:buNone/>
            </a:pPr>
            <a:r>
              <a:rPr lang="en-US" sz="1300" dirty="0">
                <a:solidFill>
                  <a:srgbClr val="CBD5E1"/>
                </a:solidFill>
              </a:rPr>
              <a:t>The Vector Space Model (VSM) is a mathematical framework for representing text documents and queries as vectors in a high-dimensional space.</a:t>
            </a:r>
            <a:endParaRPr lang="en-US" sz="1300" dirty="0"/>
          </a:p>
          <a:p>
            <a:pPr indent="0" marL="0">
              <a:lnSpc>
                <a:spcPct val="135000"/>
              </a:lnSpc>
              <a:buNone/>
            </a:pPr>
            <a:endParaRPr lang="en-US" sz="1300" dirty="0"/>
          </a:p>
          <a:p>
            <a:pPr indent="0" marL="0">
              <a:lnSpc>
                <a:spcPct val="135000"/>
              </a:lnSpc>
              <a:buNone/>
            </a:pPr>
            <a:r>
              <a:rPr lang="en-US" sz="1300" dirty="0">
                <a:solidFill>
                  <a:srgbClr val="CBD5E1"/>
                </a:solidFill>
              </a:rPr>
              <a:t>Each unique term in the corpus becomes one dimension. Documents sharing vocabulary cluster together.</a:t>
            </a:r>
            <a:endParaRPr lang="en-US" sz="1300" dirty="0"/>
          </a:p>
          <a:p>
            <a:pPr indent="0" marL="0">
              <a:lnSpc>
                <a:spcPct val="135000"/>
              </a:lnSpc>
              <a:buNone/>
            </a:pPr>
            <a:endParaRPr lang="en-US" sz="1300" dirty="0"/>
          </a:p>
          <a:p>
            <a:pPr indent="0" marL="0">
              <a:lnSpc>
                <a:spcPct val="135000"/>
              </a:lnSpc>
              <a:buNone/>
            </a:pPr>
            <a:r>
              <a:rPr lang="en-US" sz="1300" dirty="0">
                <a:solidFill>
                  <a:srgbClr val="CBD5E1"/>
                </a:solidFill>
              </a:rPr>
              <a:t>Relevance = cosine of the angle between two vectors.</a:t>
            </a:r>
            <a:endParaRPr lang="en-US" sz="1300" dirty="0"/>
          </a:p>
        </p:txBody>
      </p:sp>
      <p:sp>
        <p:nvSpPr>
          <p:cNvPr id="9" name="Shape 7"/>
          <p:cNvSpPr/>
          <p:nvPr/>
        </p:nvSpPr>
        <p:spPr>
          <a:xfrm>
            <a:off x="5029200" y="1005840"/>
            <a:ext cx="3886200" cy="749808"/>
          </a:xfrm>
          <a:prstGeom prst="rect">
            <a:avLst/>
          </a:prstGeom>
          <a:solidFill>
            <a:srgbClr val="1F2937"/>
          </a:solidFill>
          <a:ln w="19050">
            <a:solidFill>
              <a:srgbClr val="0D9488"/>
            </a:solidFill>
            <a:prstDash val="solid"/>
          </a:ln>
          <a:effectLst>
            <a:outerShdw sx="100000" sy="100000" kx="0" ky="0" algn="bl" rotWithShape="0" blurRad="127000" dist="38100" dir="8100000">
              <a:srgbClr val="000000">
                <a:alpha val="25000"/>
              </a:srgbClr>
            </a:outerShdw>
          </a:effectLst>
        </p:spPr>
      </p:sp>
      <p:sp>
        <p:nvSpPr>
          <p:cNvPr id="10" name="Shape 8"/>
          <p:cNvSpPr/>
          <p:nvPr/>
        </p:nvSpPr>
        <p:spPr>
          <a:xfrm>
            <a:off x="5029200" y="1005840"/>
            <a:ext cx="64008" cy="749808"/>
          </a:xfrm>
          <a:prstGeom prst="rect">
            <a:avLst/>
          </a:prstGeom>
          <a:solidFill>
            <a:srgbClr val="0D9488"/>
          </a:solidFill>
          <a:ln w="12700">
            <a:solidFill>
              <a:srgbClr val="0D9488"/>
            </a:solidFill>
            <a:prstDash val="solid"/>
          </a:ln>
        </p:spPr>
      </p:sp>
      <p:sp>
        <p:nvSpPr>
          <p:cNvPr id="11" name="Text 9"/>
          <p:cNvSpPr/>
          <p:nvPr/>
        </p:nvSpPr>
        <p:spPr>
          <a:xfrm>
            <a:off x="5212080" y="1078992"/>
            <a:ext cx="3566160" cy="228600"/>
          </a:xfrm>
          <a:prstGeom prst="rect">
            <a:avLst/>
          </a:prstGeom>
          <a:noFill/>
          <a:ln/>
        </p:spPr>
        <p:txBody>
          <a:bodyPr wrap="square" lIns="0" tIns="0" rIns="0" bIns="0" rtlCol="0" anchor="ctr"/>
          <a:lstStyle/>
          <a:p>
            <a:pPr indent="0" marL="0">
              <a:buNone/>
            </a:pPr>
            <a:r>
              <a:rPr lang="en-US" sz="1400" b="1" dirty="0">
                <a:solidFill>
                  <a:srgbClr val="0D9488"/>
                </a:solidFill>
              </a:rPr>
              <a:t>Geometric</a:t>
            </a:r>
            <a:endParaRPr lang="en-US" sz="1400" dirty="0"/>
          </a:p>
        </p:txBody>
      </p:sp>
      <p:sp>
        <p:nvSpPr>
          <p:cNvPr id="12" name="Text 10"/>
          <p:cNvSpPr/>
          <p:nvPr/>
        </p:nvSpPr>
        <p:spPr>
          <a:xfrm>
            <a:off x="5212080" y="1325880"/>
            <a:ext cx="3566160" cy="347472"/>
          </a:xfrm>
          <a:prstGeom prst="rect">
            <a:avLst/>
          </a:prstGeom>
          <a:noFill/>
          <a:ln/>
        </p:spPr>
        <p:txBody>
          <a:bodyPr wrap="square" lIns="0" tIns="0" rIns="0" bIns="0" rtlCol="0" anchor="ctr"/>
          <a:lstStyle/>
          <a:p>
            <a:pPr indent="0" marL="0">
              <a:buNone/>
            </a:pPr>
            <a:r>
              <a:rPr lang="en-US" sz="1150" dirty="0">
                <a:solidFill>
                  <a:srgbClr val="CBD5E1"/>
                </a:solidFill>
              </a:rPr>
              <a:t>Documents become points in n-dimensional term-space</a:t>
            </a:r>
            <a:endParaRPr lang="en-US" sz="1150" dirty="0"/>
          </a:p>
        </p:txBody>
      </p:sp>
      <p:sp>
        <p:nvSpPr>
          <p:cNvPr id="13" name="Shape 11"/>
          <p:cNvSpPr/>
          <p:nvPr/>
        </p:nvSpPr>
        <p:spPr>
          <a:xfrm>
            <a:off x="5029200" y="1874520"/>
            <a:ext cx="3886200" cy="749808"/>
          </a:xfrm>
          <a:prstGeom prst="rect">
            <a:avLst/>
          </a:prstGeom>
          <a:solidFill>
            <a:srgbClr val="1F2937"/>
          </a:solidFill>
          <a:ln w="19050">
            <a:solidFill>
              <a:srgbClr val="F59E0B"/>
            </a:solidFill>
            <a:prstDash val="solid"/>
          </a:ln>
          <a:effectLst>
            <a:outerShdw sx="100000" sy="100000" kx="0" ky="0" algn="bl" rotWithShape="0" blurRad="127000" dist="38100" dir="8100000">
              <a:srgbClr val="000000">
                <a:alpha val="25000"/>
              </a:srgbClr>
            </a:outerShdw>
          </a:effectLst>
        </p:spPr>
      </p:sp>
      <p:sp>
        <p:nvSpPr>
          <p:cNvPr id="14" name="Shape 12"/>
          <p:cNvSpPr/>
          <p:nvPr/>
        </p:nvSpPr>
        <p:spPr>
          <a:xfrm>
            <a:off x="5029200" y="1874520"/>
            <a:ext cx="64008" cy="749808"/>
          </a:xfrm>
          <a:prstGeom prst="rect">
            <a:avLst/>
          </a:prstGeom>
          <a:solidFill>
            <a:srgbClr val="F59E0B"/>
          </a:solidFill>
          <a:ln w="12700">
            <a:solidFill>
              <a:srgbClr val="F59E0B"/>
            </a:solidFill>
            <a:prstDash val="solid"/>
          </a:ln>
        </p:spPr>
      </p:sp>
      <p:sp>
        <p:nvSpPr>
          <p:cNvPr id="15" name="Text 13"/>
          <p:cNvSpPr/>
          <p:nvPr/>
        </p:nvSpPr>
        <p:spPr>
          <a:xfrm>
            <a:off x="5212080" y="1947672"/>
            <a:ext cx="3566160" cy="228600"/>
          </a:xfrm>
          <a:prstGeom prst="rect">
            <a:avLst/>
          </a:prstGeom>
          <a:noFill/>
          <a:ln/>
        </p:spPr>
        <p:txBody>
          <a:bodyPr wrap="square" lIns="0" tIns="0" rIns="0" bIns="0" rtlCol="0" anchor="ctr"/>
          <a:lstStyle/>
          <a:p>
            <a:pPr indent="0" marL="0">
              <a:buNone/>
            </a:pPr>
            <a:r>
              <a:rPr lang="en-US" sz="1400" b="1" dirty="0">
                <a:solidFill>
                  <a:srgbClr val="F59E0B"/>
                </a:solidFill>
              </a:rPr>
              <a:t>Comparable</a:t>
            </a:r>
            <a:endParaRPr lang="en-US" sz="1400" dirty="0"/>
          </a:p>
        </p:txBody>
      </p:sp>
      <p:sp>
        <p:nvSpPr>
          <p:cNvPr id="16" name="Text 14"/>
          <p:cNvSpPr/>
          <p:nvPr/>
        </p:nvSpPr>
        <p:spPr>
          <a:xfrm>
            <a:off x="5212080" y="2194560"/>
            <a:ext cx="3566160" cy="347472"/>
          </a:xfrm>
          <a:prstGeom prst="rect">
            <a:avLst/>
          </a:prstGeom>
          <a:noFill/>
          <a:ln/>
        </p:spPr>
        <p:txBody>
          <a:bodyPr wrap="square" lIns="0" tIns="0" rIns="0" bIns="0" rtlCol="0" anchor="ctr"/>
          <a:lstStyle/>
          <a:p>
            <a:pPr indent="0" marL="0">
              <a:buNone/>
            </a:pPr>
            <a:r>
              <a:rPr lang="en-US" sz="1150" dirty="0">
                <a:solidFill>
                  <a:srgbClr val="CBD5E1"/>
                </a:solidFill>
              </a:rPr>
              <a:t>Cosine similarity measures relevance between any two vectors</a:t>
            </a:r>
            <a:endParaRPr lang="en-US" sz="1150" dirty="0"/>
          </a:p>
        </p:txBody>
      </p:sp>
      <p:sp>
        <p:nvSpPr>
          <p:cNvPr id="17" name="Shape 15"/>
          <p:cNvSpPr/>
          <p:nvPr/>
        </p:nvSpPr>
        <p:spPr>
          <a:xfrm>
            <a:off x="5029200" y="2743200"/>
            <a:ext cx="3886200" cy="749808"/>
          </a:xfrm>
          <a:prstGeom prst="rect">
            <a:avLst/>
          </a:prstGeom>
          <a:solidFill>
            <a:srgbClr val="1F2937"/>
          </a:solidFill>
          <a:ln w="19050">
            <a:solidFill>
              <a:srgbClr val="10B981"/>
            </a:solidFill>
            <a:prstDash val="solid"/>
          </a:ln>
          <a:effectLst>
            <a:outerShdw sx="100000" sy="100000" kx="0" ky="0" algn="bl" rotWithShape="0" blurRad="127000" dist="38100" dir="8100000">
              <a:srgbClr val="000000">
                <a:alpha val="25000"/>
              </a:srgbClr>
            </a:outerShdw>
          </a:effectLst>
        </p:spPr>
      </p:sp>
      <p:sp>
        <p:nvSpPr>
          <p:cNvPr id="18" name="Shape 16"/>
          <p:cNvSpPr/>
          <p:nvPr/>
        </p:nvSpPr>
        <p:spPr>
          <a:xfrm>
            <a:off x="5029200" y="2743200"/>
            <a:ext cx="64008" cy="749808"/>
          </a:xfrm>
          <a:prstGeom prst="rect">
            <a:avLst/>
          </a:prstGeom>
          <a:solidFill>
            <a:srgbClr val="10B981"/>
          </a:solidFill>
          <a:ln w="12700">
            <a:solidFill>
              <a:srgbClr val="10B981"/>
            </a:solidFill>
            <a:prstDash val="solid"/>
          </a:ln>
        </p:spPr>
      </p:sp>
      <p:sp>
        <p:nvSpPr>
          <p:cNvPr id="19" name="Text 17"/>
          <p:cNvSpPr/>
          <p:nvPr/>
        </p:nvSpPr>
        <p:spPr>
          <a:xfrm>
            <a:off x="5212080" y="2816352"/>
            <a:ext cx="3566160" cy="228600"/>
          </a:xfrm>
          <a:prstGeom prst="rect">
            <a:avLst/>
          </a:prstGeom>
          <a:noFill/>
          <a:ln/>
        </p:spPr>
        <p:txBody>
          <a:bodyPr wrap="square" lIns="0" tIns="0" rIns="0" bIns="0" rtlCol="0" anchor="ctr"/>
          <a:lstStyle/>
          <a:p>
            <a:pPr indent="0" marL="0">
              <a:buNone/>
            </a:pPr>
            <a:r>
              <a:rPr lang="en-US" sz="1400" b="1" dirty="0">
                <a:solidFill>
                  <a:srgbClr val="10B981"/>
                </a:solidFill>
              </a:rPr>
              <a:t>Rankable</a:t>
            </a:r>
            <a:endParaRPr lang="en-US" sz="1400" dirty="0"/>
          </a:p>
        </p:txBody>
      </p:sp>
      <p:sp>
        <p:nvSpPr>
          <p:cNvPr id="20" name="Text 18"/>
          <p:cNvSpPr/>
          <p:nvPr/>
        </p:nvSpPr>
        <p:spPr>
          <a:xfrm>
            <a:off x="5212080" y="3063240"/>
            <a:ext cx="3566160" cy="347472"/>
          </a:xfrm>
          <a:prstGeom prst="rect">
            <a:avLst/>
          </a:prstGeom>
          <a:noFill/>
          <a:ln/>
        </p:spPr>
        <p:txBody>
          <a:bodyPr wrap="square" lIns="0" tIns="0" rIns="0" bIns="0" rtlCol="0" anchor="ctr"/>
          <a:lstStyle/>
          <a:p>
            <a:pPr indent="0" marL="0">
              <a:buNone/>
            </a:pPr>
            <a:r>
              <a:rPr lang="en-US" sz="1150" dirty="0">
                <a:solidFill>
                  <a:srgbClr val="CBD5E1"/>
                </a:solidFill>
              </a:rPr>
              <a:t>Results are ranked by decreasing similarity to the query vector</a:t>
            </a:r>
            <a:endParaRPr lang="en-US" sz="1150" dirty="0"/>
          </a:p>
        </p:txBody>
      </p:sp>
      <p:sp>
        <p:nvSpPr>
          <p:cNvPr id="21" name="Shape 19"/>
          <p:cNvSpPr/>
          <p:nvPr/>
        </p:nvSpPr>
        <p:spPr>
          <a:xfrm>
            <a:off x="228600" y="3703320"/>
            <a:ext cx="8686800" cy="566928"/>
          </a:xfrm>
          <a:prstGeom prst="rect">
            <a:avLst/>
          </a:prstGeom>
          <a:solidFill>
            <a:srgbClr val="161B22"/>
          </a:solidFill>
          <a:ln w="12700">
            <a:solidFill>
              <a:srgbClr val="F59E0B"/>
            </a:solidFill>
            <a:prstDash val="solid"/>
          </a:ln>
        </p:spPr>
      </p:sp>
      <p:sp>
        <p:nvSpPr>
          <p:cNvPr id="22" name="Text 20"/>
          <p:cNvSpPr/>
          <p:nvPr/>
        </p:nvSpPr>
        <p:spPr>
          <a:xfrm>
            <a:off x="411480" y="3767328"/>
            <a:ext cx="1645920" cy="411480"/>
          </a:xfrm>
          <a:prstGeom prst="rect">
            <a:avLst/>
          </a:prstGeom>
          <a:noFill/>
          <a:ln/>
        </p:spPr>
        <p:txBody>
          <a:bodyPr wrap="square" lIns="0" tIns="0" rIns="0" bIns="0" rtlCol="0" anchor="ctr"/>
          <a:lstStyle/>
          <a:p>
            <a:pPr indent="0" marL="0">
              <a:buNone/>
            </a:pPr>
            <a:r>
              <a:rPr lang="en-US" sz="1200" b="1" dirty="0">
                <a:solidFill>
                  <a:srgbClr val="F59E0B"/>
                </a:solidFill>
              </a:rPr>
              <a:t>Core Formula:   </a:t>
            </a:r>
            <a:endParaRPr lang="en-US" sz="1200" dirty="0"/>
          </a:p>
        </p:txBody>
      </p:sp>
      <p:sp>
        <p:nvSpPr>
          <p:cNvPr id="23" name="Text 21"/>
          <p:cNvSpPr/>
          <p:nvPr/>
        </p:nvSpPr>
        <p:spPr>
          <a:xfrm>
            <a:off x="2011680" y="3767328"/>
            <a:ext cx="6675120" cy="411480"/>
          </a:xfrm>
          <a:prstGeom prst="rect">
            <a:avLst/>
          </a:prstGeom>
          <a:noFill/>
          <a:ln/>
        </p:spPr>
        <p:txBody>
          <a:bodyPr wrap="square" lIns="0" tIns="0" rIns="0" bIns="0" rtlCol="0" anchor="ctr"/>
          <a:lstStyle/>
          <a:p>
            <a:pPr indent="0" marL="0">
              <a:buNone/>
            </a:pPr>
            <a:r>
              <a:rPr lang="en-US" sz="1250" dirty="0">
                <a:solidFill>
                  <a:srgbClr val="5EEAD4"/>
                </a:solidFill>
                <a:latin typeface="Consolas" pitchFamily="34" charset="0"/>
                <a:ea typeface="Consolas" pitchFamily="34" charset="-122"/>
                <a:cs typeface="Consolas" pitchFamily="34" charset="-120"/>
              </a:rPr>
              <a:t>cos(θ) = (D · Q) / (|D| × |Q|)   →   similarity between document D and query Q</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9488"/>
          </a:solidFill>
          <a:ln w="12700">
            <a:solidFill>
              <a:srgbClr val="0D9488"/>
            </a:solidFill>
            <a:prstDash val="solid"/>
          </a:ln>
        </p:spPr>
      </p:sp>
      <p:sp>
        <p:nvSpPr>
          <p:cNvPr id="3" name="Shape 1"/>
          <p:cNvSpPr/>
          <p:nvPr/>
        </p:nvSpPr>
        <p:spPr>
          <a:xfrm>
            <a:off x="73152" y="0"/>
            <a:ext cx="9070848" cy="822960"/>
          </a:xfrm>
          <a:prstGeom prst="rect">
            <a:avLst/>
          </a:prstGeom>
          <a:solidFill>
            <a:srgbClr val="161B22"/>
          </a:solidFill>
          <a:ln w="12700">
            <a:solidFill>
              <a:srgbClr val="161B22"/>
            </a:solidFill>
            <a:prstDash val="solid"/>
          </a:ln>
        </p:spPr>
      </p:sp>
      <p:sp>
        <p:nvSpPr>
          <p:cNvPr id="4" name="Text 2"/>
          <p:cNvSpPr/>
          <p:nvPr/>
        </p:nvSpPr>
        <p:spPr>
          <a:xfrm>
            <a:off x="228600" y="109728"/>
            <a:ext cx="548640" cy="594360"/>
          </a:xfrm>
          <a:prstGeom prst="rect">
            <a:avLst/>
          </a:prstGeom>
          <a:noFill/>
          <a:ln/>
        </p:spPr>
        <p:txBody>
          <a:bodyPr wrap="square" lIns="0" tIns="0" rIns="0" bIns="0" rtlCol="0" anchor="ctr"/>
          <a:lstStyle/>
          <a:p>
            <a:pPr indent="0" marL="0">
              <a:buNone/>
            </a:pPr>
            <a:r>
              <a:rPr lang="en-US" sz="2800" b="1" dirty="0">
                <a:solidFill>
                  <a:srgbClr val="0D9488"/>
                </a:solidFill>
              </a:rPr>
              <a:t>02</a:t>
            </a:r>
            <a:endParaRPr lang="en-US" sz="2800" dirty="0"/>
          </a:p>
        </p:txBody>
      </p:sp>
      <p:sp>
        <p:nvSpPr>
          <p:cNvPr id="5" name="Text 3"/>
          <p:cNvSpPr/>
          <p:nvPr/>
        </p:nvSpPr>
        <p:spPr>
          <a:xfrm>
            <a:off x="822960" y="137160"/>
            <a:ext cx="7772400" cy="548640"/>
          </a:xfrm>
          <a:prstGeom prst="rect">
            <a:avLst/>
          </a:prstGeom>
          <a:noFill/>
          <a:ln/>
        </p:spPr>
        <p:txBody>
          <a:bodyPr wrap="square" lIns="0" tIns="0" rIns="0" bIns="0" rtlCol="0" anchor="ctr"/>
          <a:lstStyle/>
          <a:p>
            <a:pPr indent="0" marL="0">
              <a:buNone/>
            </a:pPr>
            <a:r>
              <a:rPr lang="en-US" sz="2600" b="1" dirty="0">
                <a:solidFill>
                  <a:srgbClr val="F8FAFC"/>
                </a:solidFill>
                <a:latin typeface="Georgia" pitchFamily="34" charset="0"/>
                <a:ea typeface="Georgia" pitchFamily="34" charset="-122"/>
                <a:cs typeface="Georgia" pitchFamily="34" charset="-120"/>
              </a:rPr>
              <a:t>How VSM Works — Step by Step</a:t>
            </a:r>
            <a:endParaRPr lang="en-US" sz="2600" dirty="0"/>
          </a:p>
        </p:txBody>
      </p:sp>
      <p:sp>
        <p:nvSpPr>
          <p:cNvPr id="6" name="Shape 4"/>
          <p:cNvSpPr/>
          <p:nvPr/>
        </p:nvSpPr>
        <p:spPr>
          <a:xfrm>
            <a:off x="182880" y="960120"/>
            <a:ext cx="1600200" cy="3291840"/>
          </a:xfrm>
          <a:prstGeom prst="rect">
            <a:avLst/>
          </a:prstGeom>
          <a:solidFill>
            <a:srgbClr val="1F2937"/>
          </a:solidFill>
          <a:ln w="19050">
            <a:solidFill>
              <a:srgbClr val="0D9488"/>
            </a:solidFill>
            <a:prstDash val="solid"/>
          </a:ln>
          <a:effectLst>
            <a:outerShdw sx="100000" sy="100000" kx="0" ky="0" algn="bl" rotWithShape="0" blurRad="127000" dist="38100" dir="8100000">
              <a:srgbClr val="000000">
                <a:alpha val="25000"/>
              </a:srgbClr>
            </a:outerShdw>
          </a:effectLst>
        </p:spPr>
      </p:sp>
      <p:sp>
        <p:nvSpPr>
          <p:cNvPr id="7" name="Shape 5"/>
          <p:cNvSpPr/>
          <p:nvPr/>
        </p:nvSpPr>
        <p:spPr>
          <a:xfrm>
            <a:off x="182880" y="960120"/>
            <a:ext cx="1600200" cy="73152"/>
          </a:xfrm>
          <a:prstGeom prst="rect">
            <a:avLst/>
          </a:prstGeom>
          <a:solidFill>
            <a:srgbClr val="0D9488"/>
          </a:solidFill>
          <a:ln w="12700">
            <a:solidFill>
              <a:srgbClr val="0D9488"/>
            </a:solidFill>
            <a:prstDash val="solid"/>
          </a:ln>
        </p:spPr>
      </p:sp>
      <p:sp>
        <p:nvSpPr>
          <p:cNvPr id="8" name="Shape 6"/>
          <p:cNvSpPr/>
          <p:nvPr/>
        </p:nvSpPr>
        <p:spPr>
          <a:xfrm>
            <a:off x="731520" y="1124712"/>
            <a:ext cx="502920" cy="502920"/>
          </a:xfrm>
          <a:prstGeom prst="ellipse">
            <a:avLst/>
          </a:prstGeom>
          <a:solidFill>
            <a:srgbClr val="0D9488"/>
          </a:solidFill>
          <a:ln w="12700">
            <a:solidFill>
              <a:srgbClr val="0D9488"/>
            </a:solidFill>
            <a:prstDash val="solid"/>
          </a:ln>
        </p:spPr>
      </p:sp>
      <p:sp>
        <p:nvSpPr>
          <p:cNvPr id="9" name="Text 7"/>
          <p:cNvSpPr/>
          <p:nvPr/>
        </p:nvSpPr>
        <p:spPr>
          <a:xfrm>
            <a:off x="731520" y="1124712"/>
            <a:ext cx="502920" cy="502920"/>
          </a:xfrm>
          <a:prstGeom prst="rect">
            <a:avLst/>
          </a:prstGeom>
          <a:noFill/>
          <a:ln/>
        </p:spPr>
        <p:txBody>
          <a:bodyPr wrap="square" lIns="0" tIns="0" rIns="0" bIns="0" rtlCol="0" anchor="ctr"/>
          <a:lstStyle/>
          <a:p>
            <a:pPr algn="ctr" indent="0" marL="0">
              <a:buNone/>
            </a:pPr>
            <a:r>
              <a:rPr lang="en-US" sz="1800" b="1" dirty="0">
                <a:solidFill>
                  <a:srgbClr val="0D1117"/>
                </a:solidFill>
              </a:rPr>
              <a:t>1</a:t>
            </a:r>
            <a:endParaRPr lang="en-US" sz="1800" dirty="0"/>
          </a:p>
        </p:txBody>
      </p:sp>
      <p:sp>
        <p:nvSpPr>
          <p:cNvPr id="10" name="Text 8"/>
          <p:cNvSpPr/>
          <p:nvPr/>
        </p:nvSpPr>
        <p:spPr>
          <a:xfrm>
            <a:off x="274320" y="1737360"/>
            <a:ext cx="1417320" cy="457200"/>
          </a:xfrm>
          <a:prstGeom prst="rect">
            <a:avLst/>
          </a:prstGeom>
          <a:noFill/>
          <a:ln/>
        </p:spPr>
        <p:txBody>
          <a:bodyPr wrap="square" lIns="0" tIns="0" rIns="0" bIns="0" rtlCol="0" anchor="ctr"/>
          <a:lstStyle/>
          <a:p>
            <a:pPr algn="ctr" indent="0" marL="0">
              <a:buNone/>
            </a:pPr>
            <a:r>
              <a:rPr lang="en-US" sz="1200" b="1" dirty="0">
                <a:solidFill>
                  <a:srgbClr val="0D9488"/>
                </a:solidFill>
              </a:rPr>
              <a:t>Build the Vocabulary</a:t>
            </a:r>
            <a:endParaRPr lang="en-US" sz="1200" dirty="0"/>
          </a:p>
        </p:txBody>
      </p:sp>
      <p:sp>
        <p:nvSpPr>
          <p:cNvPr id="11" name="Text 9"/>
          <p:cNvSpPr/>
          <p:nvPr/>
        </p:nvSpPr>
        <p:spPr>
          <a:xfrm>
            <a:off x="274320" y="2286000"/>
            <a:ext cx="1417320" cy="1737360"/>
          </a:xfrm>
          <a:prstGeom prst="rect">
            <a:avLst/>
          </a:prstGeom>
          <a:noFill/>
          <a:ln/>
        </p:spPr>
        <p:txBody>
          <a:bodyPr wrap="square" lIns="0" tIns="0" rIns="0" bIns="0" rtlCol="0" anchor="ctr"/>
          <a:lstStyle/>
          <a:p>
            <a:pPr indent="0" marL="0">
              <a:lnSpc>
                <a:spcPct val="135000"/>
              </a:lnSpc>
              <a:buNone/>
            </a:pPr>
            <a:r>
              <a:rPr lang="en-US" sz="1050" dirty="0">
                <a:solidFill>
                  <a:srgbClr val="CBD5E1"/>
                </a:solidFill>
              </a:rPr>
              <a:t>Collect all unique terms across all documents. Each term = one dimension in the vector space. A corpus of 10,000 docs may yield 50,000+ unique terms.</a:t>
            </a:r>
            <a:endParaRPr lang="en-US" sz="1050" dirty="0"/>
          </a:p>
        </p:txBody>
      </p:sp>
      <p:sp>
        <p:nvSpPr>
          <p:cNvPr id="12" name="Shape 10"/>
          <p:cNvSpPr/>
          <p:nvPr/>
        </p:nvSpPr>
        <p:spPr>
          <a:xfrm>
            <a:off x="1783080" y="2606040"/>
            <a:ext cx="155448" cy="0"/>
          </a:xfrm>
          <a:prstGeom prst="line">
            <a:avLst/>
          </a:prstGeom>
          <a:noFill/>
          <a:ln w="19050">
            <a:solidFill>
              <a:srgbClr val="94A3B8"/>
            </a:solidFill>
            <a:prstDash val="dash"/>
          </a:ln>
        </p:spPr>
      </p:sp>
      <p:sp>
        <p:nvSpPr>
          <p:cNvPr id="13" name="Shape 11"/>
          <p:cNvSpPr/>
          <p:nvPr/>
        </p:nvSpPr>
        <p:spPr>
          <a:xfrm>
            <a:off x="1938528" y="960120"/>
            <a:ext cx="1600200" cy="3291840"/>
          </a:xfrm>
          <a:prstGeom prst="rect">
            <a:avLst/>
          </a:prstGeom>
          <a:solidFill>
            <a:srgbClr val="1F2937"/>
          </a:solidFill>
          <a:ln w="19050">
            <a:solidFill>
              <a:srgbClr val="F59E0B"/>
            </a:solidFill>
            <a:prstDash val="solid"/>
          </a:ln>
          <a:effectLst>
            <a:outerShdw sx="100000" sy="100000" kx="0" ky="0" algn="bl" rotWithShape="0" blurRad="127000" dist="38100" dir="8100000">
              <a:srgbClr val="000000">
                <a:alpha val="25000"/>
              </a:srgbClr>
            </a:outerShdw>
          </a:effectLst>
        </p:spPr>
      </p:sp>
      <p:sp>
        <p:nvSpPr>
          <p:cNvPr id="14" name="Shape 12"/>
          <p:cNvSpPr/>
          <p:nvPr/>
        </p:nvSpPr>
        <p:spPr>
          <a:xfrm>
            <a:off x="1938528" y="960120"/>
            <a:ext cx="1600200" cy="73152"/>
          </a:xfrm>
          <a:prstGeom prst="rect">
            <a:avLst/>
          </a:prstGeom>
          <a:solidFill>
            <a:srgbClr val="F59E0B"/>
          </a:solidFill>
          <a:ln w="12700">
            <a:solidFill>
              <a:srgbClr val="F59E0B"/>
            </a:solidFill>
            <a:prstDash val="solid"/>
          </a:ln>
        </p:spPr>
      </p:sp>
      <p:sp>
        <p:nvSpPr>
          <p:cNvPr id="15" name="Shape 13"/>
          <p:cNvSpPr/>
          <p:nvPr/>
        </p:nvSpPr>
        <p:spPr>
          <a:xfrm>
            <a:off x="2487168" y="1124712"/>
            <a:ext cx="502920" cy="502920"/>
          </a:xfrm>
          <a:prstGeom prst="ellipse">
            <a:avLst/>
          </a:prstGeom>
          <a:solidFill>
            <a:srgbClr val="F59E0B"/>
          </a:solidFill>
          <a:ln w="12700">
            <a:solidFill>
              <a:srgbClr val="F59E0B"/>
            </a:solidFill>
            <a:prstDash val="solid"/>
          </a:ln>
        </p:spPr>
      </p:sp>
      <p:sp>
        <p:nvSpPr>
          <p:cNvPr id="16" name="Text 14"/>
          <p:cNvSpPr/>
          <p:nvPr/>
        </p:nvSpPr>
        <p:spPr>
          <a:xfrm>
            <a:off x="2487168" y="1124712"/>
            <a:ext cx="502920" cy="502920"/>
          </a:xfrm>
          <a:prstGeom prst="rect">
            <a:avLst/>
          </a:prstGeom>
          <a:noFill/>
          <a:ln/>
        </p:spPr>
        <p:txBody>
          <a:bodyPr wrap="square" lIns="0" tIns="0" rIns="0" bIns="0" rtlCol="0" anchor="ctr"/>
          <a:lstStyle/>
          <a:p>
            <a:pPr algn="ctr" indent="0" marL="0">
              <a:buNone/>
            </a:pPr>
            <a:r>
              <a:rPr lang="en-US" sz="1800" b="1" dirty="0">
                <a:solidFill>
                  <a:srgbClr val="0D1117"/>
                </a:solidFill>
              </a:rPr>
              <a:t>2</a:t>
            </a:r>
            <a:endParaRPr lang="en-US" sz="1800" dirty="0"/>
          </a:p>
        </p:txBody>
      </p:sp>
      <p:sp>
        <p:nvSpPr>
          <p:cNvPr id="17" name="Text 15"/>
          <p:cNvSpPr/>
          <p:nvPr/>
        </p:nvSpPr>
        <p:spPr>
          <a:xfrm>
            <a:off x="2029968" y="1737360"/>
            <a:ext cx="1417320" cy="457200"/>
          </a:xfrm>
          <a:prstGeom prst="rect">
            <a:avLst/>
          </a:prstGeom>
          <a:noFill/>
          <a:ln/>
        </p:spPr>
        <p:txBody>
          <a:bodyPr wrap="square" lIns="0" tIns="0" rIns="0" bIns="0" rtlCol="0" anchor="ctr"/>
          <a:lstStyle/>
          <a:p>
            <a:pPr algn="ctr" indent="0" marL="0">
              <a:buNone/>
            </a:pPr>
            <a:r>
              <a:rPr lang="en-US" sz="1200" b="1" dirty="0">
                <a:solidFill>
                  <a:srgbClr val="F59E0B"/>
                </a:solidFill>
              </a:rPr>
              <a:t>Vectorise Documents</a:t>
            </a:r>
            <a:endParaRPr lang="en-US" sz="1200" dirty="0"/>
          </a:p>
        </p:txBody>
      </p:sp>
      <p:sp>
        <p:nvSpPr>
          <p:cNvPr id="18" name="Text 16"/>
          <p:cNvSpPr/>
          <p:nvPr/>
        </p:nvSpPr>
        <p:spPr>
          <a:xfrm>
            <a:off x="2029968" y="2286000"/>
            <a:ext cx="1417320" cy="1737360"/>
          </a:xfrm>
          <a:prstGeom prst="rect">
            <a:avLst/>
          </a:prstGeom>
          <a:noFill/>
          <a:ln/>
        </p:spPr>
        <p:txBody>
          <a:bodyPr wrap="square" lIns="0" tIns="0" rIns="0" bIns="0" rtlCol="0" anchor="ctr"/>
          <a:lstStyle/>
          <a:p>
            <a:pPr indent="0" marL="0">
              <a:lnSpc>
                <a:spcPct val="135000"/>
              </a:lnSpc>
              <a:buNone/>
            </a:pPr>
            <a:r>
              <a:rPr lang="en-US" sz="1050" dirty="0">
                <a:solidFill>
                  <a:srgbClr val="CBD5E1"/>
                </a:solidFill>
              </a:rPr>
              <a:t>Represent each document as a vector. The value at each dimension is the TF-IDF weight of that term in that document. Absent terms = 0.</a:t>
            </a:r>
            <a:endParaRPr lang="en-US" sz="1050" dirty="0"/>
          </a:p>
        </p:txBody>
      </p:sp>
      <p:sp>
        <p:nvSpPr>
          <p:cNvPr id="19" name="Shape 17"/>
          <p:cNvSpPr/>
          <p:nvPr/>
        </p:nvSpPr>
        <p:spPr>
          <a:xfrm>
            <a:off x="3538728" y="2606040"/>
            <a:ext cx="155448" cy="0"/>
          </a:xfrm>
          <a:prstGeom prst="line">
            <a:avLst/>
          </a:prstGeom>
          <a:noFill/>
          <a:ln w="19050">
            <a:solidFill>
              <a:srgbClr val="94A3B8"/>
            </a:solidFill>
            <a:prstDash val="dash"/>
          </a:ln>
        </p:spPr>
      </p:sp>
      <p:sp>
        <p:nvSpPr>
          <p:cNvPr id="20" name="Shape 18"/>
          <p:cNvSpPr/>
          <p:nvPr/>
        </p:nvSpPr>
        <p:spPr>
          <a:xfrm>
            <a:off x="3694176" y="960120"/>
            <a:ext cx="1600200" cy="3291840"/>
          </a:xfrm>
          <a:prstGeom prst="rect">
            <a:avLst/>
          </a:prstGeom>
          <a:solidFill>
            <a:srgbClr val="1F2937"/>
          </a:solidFill>
          <a:ln w="19050">
            <a:solidFill>
              <a:srgbClr val="10B981"/>
            </a:solidFill>
            <a:prstDash val="solid"/>
          </a:ln>
          <a:effectLst>
            <a:outerShdw sx="100000" sy="100000" kx="0" ky="0" algn="bl" rotWithShape="0" blurRad="127000" dist="38100" dir="8100000">
              <a:srgbClr val="000000">
                <a:alpha val="25000"/>
              </a:srgbClr>
            </a:outerShdw>
          </a:effectLst>
        </p:spPr>
      </p:sp>
      <p:sp>
        <p:nvSpPr>
          <p:cNvPr id="21" name="Shape 19"/>
          <p:cNvSpPr/>
          <p:nvPr/>
        </p:nvSpPr>
        <p:spPr>
          <a:xfrm>
            <a:off x="3694176" y="960120"/>
            <a:ext cx="1600200" cy="73152"/>
          </a:xfrm>
          <a:prstGeom prst="rect">
            <a:avLst/>
          </a:prstGeom>
          <a:solidFill>
            <a:srgbClr val="10B981"/>
          </a:solidFill>
          <a:ln w="12700">
            <a:solidFill>
              <a:srgbClr val="10B981"/>
            </a:solidFill>
            <a:prstDash val="solid"/>
          </a:ln>
        </p:spPr>
      </p:sp>
      <p:sp>
        <p:nvSpPr>
          <p:cNvPr id="22" name="Shape 20"/>
          <p:cNvSpPr/>
          <p:nvPr/>
        </p:nvSpPr>
        <p:spPr>
          <a:xfrm>
            <a:off x="4242816" y="1124712"/>
            <a:ext cx="502920" cy="502920"/>
          </a:xfrm>
          <a:prstGeom prst="ellipse">
            <a:avLst/>
          </a:prstGeom>
          <a:solidFill>
            <a:srgbClr val="10B981"/>
          </a:solidFill>
          <a:ln w="12700">
            <a:solidFill>
              <a:srgbClr val="10B981"/>
            </a:solidFill>
            <a:prstDash val="solid"/>
          </a:ln>
        </p:spPr>
      </p:sp>
      <p:sp>
        <p:nvSpPr>
          <p:cNvPr id="23" name="Text 21"/>
          <p:cNvSpPr/>
          <p:nvPr/>
        </p:nvSpPr>
        <p:spPr>
          <a:xfrm>
            <a:off x="4242816" y="1124712"/>
            <a:ext cx="502920" cy="502920"/>
          </a:xfrm>
          <a:prstGeom prst="rect">
            <a:avLst/>
          </a:prstGeom>
          <a:noFill/>
          <a:ln/>
        </p:spPr>
        <p:txBody>
          <a:bodyPr wrap="square" lIns="0" tIns="0" rIns="0" bIns="0" rtlCol="0" anchor="ctr"/>
          <a:lstStyle/>
          <a:p>
            <a:pPr algn="ctr" indent="0" marL="0">
              <a:buNone/>
            </a:pPr>
            <a:r>
              <a:rPr lang="en-US" sz="1800" b="1" dirty="0">
                <a:solidFill>
                  <a:srgbClr val="0D1117"/>
                </a:solidFill>
              </a:rPr>
              <a:t>3</a:t>
            </a:r>
            <a:endParaRPr lang="en-US" sz="1800" dirty="0"/>
          </a:p>
        </p:txBody>
      </p:sp>
      <p:sp>
        <p:nvSpPr>
          <p:cNvPr id="24" name="Text 22"/>
          <p:cNvSpPr/>
          <p:nvPr/>
        </p:nvSpPr>
        <p:spPr>
          <a:xfrm>
            <a:off x="3785616" y="1737360"/>
            <a:ext cx="1417320" cy="457200"/>
          </a:xfrm>
          <a:prstGeom prst="rect">
            <a:avLst/>
          </a:prstGeom>
          <a:noFill/>
          <a:ln/>
        </p:spPr>
        <p:txBody>
          <a:bodyPr wrap="square" lIns="0" tIns="0" rIns="0" bIns="0" rtlCol="0" anchor="ctr"/>
          <a:lstStyle/>
          <a:p>
            <a:pPr algn="ctr" indent="0" marL="0">
              <a:buNone/>
            </a:pPr>
            <a:r>
              <a:rPr lang="en-US" sz="1200" b="1" dirty="0">
                <a:solidFill>
                  <a:srgbClr val="10B981"/>
                </a:solidFill>
              </a:rPr>
              <a:t>Vectorise the Query</a:t>
            </a:r>
            <a:endParaRPr lang="en-US" sz="1200" dirty="0"/>
          </a:p>
        </p:txBody>
      </p:sp>
      <p:sp>
        <p:nvSpPr>
          <p:cNvPr id="25" name="Text 23"/>
          <p:cNvSpPr/>
          <p:nvPr/>
        </p:nvSpPr>
        <p:spPr>
          <a:xfrm>
            <a:off x="3785616" y="2286000"/>
            <a:ext cx="1417320" cy="1737360"/>
          </a:xfrm>
          <a:prstGeom prst="rect">
            <a:avLst/>
          </a:prstGeom>
          <a:noFill/>
          <a:ln/>
        </p:spPr>
        <p:txBody>
          <a:bodyPr wrap="square" lIns="0" tIns="0" rIns="0" bIns="0" rtlCol="0" anchor="ctr"/>
          <a:lstStyle/>
          <a:p>
            <a:pPr indent="0" marL="0">
              <a:lnSpc>
                <a:spcPct val="135000"/>
              </a:lnSpc>
              <a:buNone/>
            </a:pPr>
            <a:r>
              <a:rPr lang="en-US" sz="1050" dirty="0">
                <a:solidFill>
                  <a:srgbClr val="CBD5E1"/>
                </a:solidFill>
              </a:rPr>
              <a:t>Apply the same transformation to the user's query. The query becomes a vector in the exact same space as all documents.</a:t>
            </a:r>
            <a:endParaRPr lang="en-US" sz="1050" dirty="0"/>
          </a:p>
        </p:txBody>
      </p:sp>
      <p:sp>
        <p:nvSpPr>
          <p:cNvPr id="26" name="Shape 24"/>
          <p:cNvSpPr/>
          <p:nvPr/>
        </p:nvSpPr>
        <p:spPr>
          <a:xfrm>
            <a:off x="5294376" y="2606040"/>
            <a:ext cx="155448" cy="0"/>
          </a:xfrm>
          <a:prstGeom prst="line">
            <a:avLst/>
          </a:prstGeom>
          <a:noFill/>
          <a:ln w="19050">
            <a:solidFill>
              <a:srgbClr val="94A3B8"/>
            </a:solidFill>
            <a:prstDash val="dash"/>
          </a:ln>
        </p:spPr>
      </p:sp>
      <p:sp>
        <p:nvSpPr>
          <p:cNvPr id="27" name="Shape 25"/>
          <p:cNvSpPr/>
          <p:nvPr/>
        </p:nvSpPr>
        <p:spPr>
          <a:xfrm>
            <a:off x="5449824" y="960120"/>
            <a:ext cx="1600200" cy="3291840"/>
          </a:xfrm>
          <a:prstGeom prst="rect">
            <a:avLst/>
          </a:prstGeom>
          <a:solidFill>
            <a:srgbClr val="1F2937"/>
          </a:solidFill>
          <a:ln w="19050">
            <a:solidFill>
              <a:srgbClr val="F43F5E"/>
            </a:solidFill>
            <a:prstDash val="solid"/>
          </a:ln>
          <a:effectLst>
            <a:outerShdw sx="100000" sy="100000" kx="0" ky="0" algn="bl" rotWithShape="0" blurRad="127000" dist="38100" dir="8100000">
              <a:srgbClr val="000000">
                <a:alpha val="25000"/>
              </a:srgbClr>
            </a:outerShdw>
          </a:effectLst>
        </p:spPr>
      </p:sp>
      <p:sp>
        <p:nvSpPr>
          <p:cNvPr id="28" name="Shape 26"/>
          <p:cNvSpPr/>
          <p:nvPr/>
        </p:nvSpPr>
        <p:spPr>
          <a:xfrm>
            <a:off x="5449824" y="960120"/>
            <a:ext cx="1600200" cy="73152"/>
          </a:xfrm>
          <a:prstGeom prst="rect">
            <a:avLst/>
          </a:prstGeom>
          <a:solidFill>
            <a:srgbClr val="F43F5E"/>
          </a:solidFill>
          <a:ln w="12700">
            <a:solidFill>
              <a:srgbClr val="F43F5E"/>
            </a:solidFill>
            <a:prstDash val="solid"/>
          </a:ln>
        </p:spPr>
      </p:sp>
      <p:sp>
        <p:nvSpPr>
          <p:cNvPr id="29" name="Shape 27"/>
          <p:cNvSpPr/>
          <p:nvPr/>
        </p:nvSpPr>
        <p:spPr>
          <a:xfrm>
            <a:off x="5998464" y="1124712"/>
            <a:ext cx="502920" cy="502920"/>
          </a:xfrm>
          <a:prstGeom prst="ellipse">
            <a:avLst/>
          </a:prstGeom>
          <a:solidFill>
            <a:srgbClr val="F43F5E"/>
          </a:solidFill>
          <a:ln w="12700">
            <a:solidFill>
              <a:srgbClr val="F43F5E"/>
            </a:solidFill>
            <a:prstDash val="solid"/>
          </a:ln>
        </p:spPr>
      </p:sp>
      <p:sp>
        <p:nvSpPr>
          <p:cNvPr id="30" name="Text 28"/>
          <p:cNvSpPr/>
          <p:nvPr/>
        </p:nvSpPr>
        <p:spPr>
          <a:xfrm>
            <a:off x="5998464" y="1124712"/>
            <a:ext cx="502920" cy="502920"/>
          </a:xfrm>
          <a:prstGeom prst="rect">
            <a:avLst/>
          </a:prstGeom>
          <a:noFill/>
          <a:ln/>
        </p:spPr>
        <p:txBody>
          <a:bodyPr wrap="square" lIns="0" tIns="0" rIns="0" bIns="0" rtlCol="0" anchor="ctr"/>
          <a:lstStyle/>
          <a:p>
            <a:pPr algn="ctr" indent="0" marL="0">
              <a:buNone/>
            </a:pPr>
            <a:r>
              <a:rPr lang="en-US" sz="1800" b="1" dirty="0">
                <a:solidFill>
                  <a:srgbClr val="0D1117"/>
                </a:solidFill>
              </a:rPr>
              <a:t>4</a:t>
            </a:r>
            <a:endParaRPr lang="en-US" sz="1800" dirty="0"/>
          </a:p>
        </p:txBody>
      </p:sp>
      <p:sp>
        <p:nvSpPr>
          <p:cNvPr id="31" name="Text 29"/>
          <p:cNvSpPr/>
          <p:nvPr/>
        </p:nvSpPr>
        <p:spPr>
          <a:xfrm>
            <a:off x="5541264" y="1737360"/>
            <a:ext cx="1417320" cy="457200"/>
          </a:xfrm>
          <a:prstGeom prst="rect">
            <a:avLst/>
          </a:prstGeom>
          <a:noFill/>
          <a:ln/>
        </p:spPr>
        <p:txBody>
          <a:bodyPr wrap="square" lIns="0" tIns="0" rIns="0" bIns="0" rtlCol="0" anchor="ctr"/>
          <a:lstStyle/>
          <a:p>
            <a:pPr algn="ctr" indent="0" marL="0">
              <a:buNone/>
            </a:pPr>
            <a:r>
              <a:rPr lang="en-US" sz="1200" b="1" dirty="0">
                <a:solidFill>
                  <a:srgbClr val="F43F5E"/>
                </a:solidFill>
              </a:rPr>
              <a:t>Compute Cosine Similarity</a:t>
            </a:r>
            <a:endParaRPr lang="en-US" sz="1200" dirty="0"/>
          </a:p>
        </p:txBody>
      </p:sp>
      <p:sp>
        <p:nvSpPr>
          <p:cNvPr id="32" name="Text 30"/>
          <p:cNvSpPr/>
          <p:nvPr/>
        </p:nvSpPr>
        <p:spPr>
          <a:xfrm>
            <a:off x="5541264" y="2286000"/>
            <a:ext cx="1417320" cy="1737360"/>
          </a:xfrm>
          <a:prstGeom prst="rect">
            <a:avLst/>
          </a:prstGeom>
          <a:noFill/>
          <a:ln/>
        </p:spPr>
        <p:txBody>
          <a:bodyPr wrap="square" lIns="0" tIns="0" rIns="0" bIns="0" rtlCol="0" anchor="ctr"/>
          <a:lstStyle/>
          <a:p>
            <a:pPr indent="0" marL="0">
              <a:lnSpc>
                <a:spcPct val="135000"/>
              </a:lnSpc>
              <a:buNone/>
            </a:pPr>
            <a:r>
              <a:rPr lang="en-US" sz="1050" dirty="0">
                <a:solidFill>
                  <a:srgbClr val="CBD5E1"/>
                </a:solidFill>
              </a:rPr>
              <a:t>Calculate the angle between the query vector and every document vector. A smaller angle = higher similarity = more relevant.</a:t>
            </a:r>
            <a:endParaRPr lang="en-US" sz="1050" dirty="0"/>
          </a:p>
        </p:txBody>
      </p:sp>
      <p:sp>
        <p:nvSpPr>
          <p:cNvPr id="33" name="Shape 31"/>
          <p:cNvSpPr/>
          <p:nvPr/>
        </p:nvSpPr>
        <p:spPr>
          <a:xfrm>
            <a:off x="7050024" y="2606040"/>
            <a:ext cx="155448" cy="0"/>
          </a:xfrm>
          <a:prstGeom prst="line">
            <a:avLst/>
          </a:prstGeom>
          <a:noFill/>
          <a:ln w="19050">
            <a:solidFill>
              <a:srgbClr val="94A3B8"/>
            </a:solidFill>
            <a:prstDash val="dash"/>
          </a:ln>
        </p:spPr>
      </p:sp>
      <p:sp>
        <p:nvSpPr>
          <p:cNvPr id="34" name="Shape 32"/>
          <p:cNvSpPr/>
          <p:nvPr/>
        </p:nvSpPr>
        <p:spPr>
          <a:xfrm>
            <a:off x="7205472" y="960120"/>
            <a:ext cx="1600200" cy="3291840"/>
          </a:xfrm>
          <a:prstGeom prst="rect">
            <a:avLst/>
          </a:prstGeom>
          <a:solidFill>
            <a:srgbClr val="1F2937"/>
          </a:solidFill>
          <a:ln w="19050">
            <a:solidFill>
              <a:srgbClr val="5EEAD4"/>
            </a:solidFill>
            <a:prstDash val="solid"/>
          </a:ln>
          <a:effectLst>
            <a:outerShdw sx="100000" sy="100000" kx="0" ky="0" algn="bl" rotWithShape="0" blurRad="127000" dist="38100" dir="8100000">
              <a:srgbClr val="000000">
                <a:alpha val="25000"/>
              </a:srgbClr>
            </a:outerShdw>
          </a:effectLst>
        </p:spPr>
      </p:sp>
      <p:sp>
        <p:nvSpPr>
          <p:cNvPr id="35" name="Shape 33"/>
          <p:cNvSpPr/>
          <p:nvPr/>
        </p:nvSpPr>
        <p:spPr>
          <a:xfrm>
            <a:off x="7205472" y="960120"/>
            <a:ext cx="1600200" cy="73152"/>
          </a:xfrm>
          <a:prstGeom prst="rect">
            <a:avLst/>
          </a:prstGeom>
          <a:solidFill>
            <a:srgbClr val="5EEAD4"/>
          </a:solidFill>
          <a:ln w="12700">
            <a:solidFill>
              <a:srgbClr val="5EEAD4"/>
            </a:solidFill>
            <a:prstDash val="solid"/>
          </a:ln>
        </p:spPr>
      </p:sp>
      <p:sp>
        <p:nvSpPr>
          <p:cNvPr id="36" name="Shape 34"/>
          <p:cNvSpPr/>
          <p:nvPr/>
        </p:nvSpPr>
        <p:spPr>
          <a:xfrm>
            <a:off x="7754112" y="1124712"/>
            <a:ext cx="502920" cy="502920"/>
          </a:xfrm>
          <a:prstGeom prst="ellipse">
            <a:avLst/>
          </a:prstGeom>
          <a:solidFill>
            <a:srgbClr val="5EEAD4"/>
          </a:solidFill>
          <a:ln w="12700">
            <a:solidFill>
              <a:srgbClr val="5EEAD4"/>
            </a:solidFill>
            <a:prstDash val="solid"/>
          </a:ln>
        </p:spPr>
      </p:sp>
      <p:sp>
        <p:nvSpPr>
          <p:cNvPr id="37" name="Text 35"/>
          <p:cNvSpPr/>
          <p:nvPr/>
        </p:nvSpPr>
        <p:spPr>
          <a:xfrm>
            <a:off x="7754112" y="1124712"/>
            <a:ext cx="502920" cy="502920"/>
          </a:xfrm>
          <a:prstGeom prst="rect">
            <a:avLst/>
          </a:prstGeom>
          <a:noFill/>
          <a:ln/>
        </p:spPr>
        <p:txBody>
          <a:bodyPr wrap="square" lIns="0" tIns="0" rIns="0" bIns="0" rtlCol="0" anchor="ctr"/>
          <a:lstStyle/>
          <a:p>
            <a:pPr algn="ctr" indent="0" marL="0">
              <a:buNone/>
            </a:pPr>
            <a:r>
              <a:rPr lang="en-US" sz="1800" b="1" dirty="0">
                <a:solidFill>
                  <a:srgbClr val="0D1117"/>
                </a:solidFill>
              </a:rPr>
              <a:t>5</a:t>
            </a:r>
            <a:endParaRPr lang="en-US" sz="1800" dirty="0"/>
          </a:p>
        </p:txBody>
      </p:sp>
      <p:sp>
        <p:nvSpPr>
          <p:cNvPr id="38" name="Text 36"/>
          <p:cNvSpPr/>
          <p:nvPr/>
        </p:nvSpPr>
        <p:spPr>
          <a:xfrm>
            <a:off x="7296912" y="1737360"/>
            <a:ext cx="1417320" cy="457200"/>
          </a:xfrm>
          <a:prstGeom prst="rect">
            <a:avLst/>
          </a:prstGeom>
          <a:noFill/>
          <a:ln/>
        </p:spPr>
        <p:txBody>
          <a:bodyPr wrap="square" lIns="0" tIns="0" rIns="0" bIns="0" rtlCol="0" anchor="ctr"/>
          <a:lstStyle/>
          <a:p>
            <a:pPr algn="ctr" indent="0" marL="0">
              <a:buNone/>
            </a:pPr>
            <a:r>
              <a:rPr lang="en-US" sz="1200" b="1" dirty="0">
                <a:solidFill>
                  <a:srgbClr val="5EEAD4"/>
                </a:solidFill>
              </a:rPr>
              <a:t>Rank &amp; Return Results</a:t>
            </a:r>
            <a:endParaRPr lang="en-US" sz="1200" dirty="0"/>
          </a:p>
        </p:txBody>
      </p:sp>
      <p:sp>
        <p:nvSpPr>
          <p:cNvPr id="39" name="Text 37"/>
          <p:cNvSpPr/>
          <p:nvPr/>
        </p:nvSpPr>
        <p:spPr>
          <a:xfrm>
            <a:off x="7296912" y="2286000"/>
            <a:ext cx="1417320" cy="1737360"/>
          </a:xfrm>
          <a:prstGeom prst="rect">
            <a:avLst/>
          </a:prstGeom>
          <a:noFill/>
          <a:ln/>
        </p:spPr>
        <p:txBody>
          <a:bodyPr wrap="square" lIns="0" tIns="0" rIns="0" bIns="0" rtlCol="0" anchor="ctr"/>
          <a:lstStyle/>
          <a:p>
            <a:pPr indent="0" marL="0">
              <a:lnSpc>
                <a:spcPct val="135000"/>
              </a:lnSpc>
              <a:buNone/>
            </a:pPr>
            <a:r>
              <a:rPr lang="en-US" sz="1050" dirty="0">
                <a:solidFill>
                  <a:srgbClr val="CBD5E1"/>
                </a:solidFill>
              </a:rPr>
              <a:t>Sort documents by descending cosine similarity score. Present the top-K results to the user, optionally with snippets.</a:t>
            </a:r>
            <a:endParaRPr lang="en-US" sz="1050" dirty="0"/>
          </a:p>
        </p:txBody>
      </p:sp>
      <p:sp>
        <p:nvSpPr>
          <p:cNvPr id="40" name="Shape 38"/>
          <p:cNvSpPr/>
          <p:nvPr/>
        </p:nvSpPr>
        <p:spPr>
          <a:xfrm>
            <a:off x="228600" y="4389120"/>
            <a:ext cx="8686800" cy="502920"/>
          </a:xfrm>
          <a:prstGeom prst="rect">
            <a:avLst/>
          </a:prstGeom>
          <a:solidFill>
            <a:srgbClr val="161B22"/>
          </a:solidFill>
          <a:ln w="12700">
            <a:solidFill>
              <a:srgbClr val="161B22"/>
            </a:solidFill>
            <a:prstDash val="solid"/>
          </a:ln>
        </p:spPr>
      </p:sp>
      <p:sp>
        <p:nvSpPr>
          <p:cNvPr id="41" name="Text 39"/>
          <p:cNvSpPr/>
          <p:nvPr/>
        </p:nvSpPr>
        <p:spPr>
          <a:xfrm>
            <a:off x="320040" y="4434840"/>
            <a:ext cx="8503920" cy="365760"/>
          </a:xfrm>
          <a:prstGeom prst="rect">
            <a:avLst/>
          </a:prstGeom>
          <a:noFill/>
          <a:ln/>
        </p:spPr>
        <p:txBody>
          <a:bodyPr wrap="square" lIns="0" tIns="0" rIns="0" bIns="0" rtlCol="0" anchor="ctr"/>
          <a:lstStyle/>
          <a:p>
            <a:pPr algn="ctr" indent="0" marL="0">
              <a:buNone/>
            </a:pPr>
            <a:r>
              <a:rPr lang="en-US" sz="1150" i="1" dirty="0">
                <a:solidFill>
                  <a:srgbClr val="FCD34D"/>
                </a:solidFill>
              </a:rPr>
              <a:t>Key Insight:  VSM treats language as geometry — semantically related words create spatially proximate document vectors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9488"/>
          </a:solidFill>
          <a:ln w="12700">
            <a:solidFill>
              <a:srgbClr val="0D9488"/>
            </a:solidFill>
            <a:prstDash val="solid"/>
          </a:ln>
        </p:spPr>
      </p:sp>
      <p:sp>
        <p:nvSpPr>
          <p:cNvPr id="3" name="Shape 1"/>
          <p:cNvSpPr/>
          <p:nvPr/>
        </p:nvSpPr>
        <p:spPr>
          <a:xfrm>
            <a:off x="73152" y="0"/>
            <a:ext cx="9070848" cy="822960"/>
          </a:xfrm>
          <a:prstGeom prst="rect">
            <a:avLst/>
          </a:prstGeom>
          <a:solidFill>
            <a:srgbClr val="161B22"/>
          </a:solidFill>
          <a:ln w="12700">
            <a:solidFill>
              <a:srgbClr val="161B22"/>
            </a:solidFill>
            <a:prstDash val="solid"/>
          </a:ln>
        </p:spPr>
      </p:sp>
      <p:sp>
        <p:nvSpPr>
          <p:cNvPr id="4" name="Text 2"/>
          <p:cNvSpPr/>
          <p:nvPr/>
        </p:nvSpPr>
        <p:spPr>
          <a:xfrm>
            <a:off x="228600" y="109728"/>
            <a:ext cx="548640" cy="594360"/>
          </a:xfrm>
          <a:prstGeom prst="rect">
            <a:avLst/>
          </a:prstGeom>
          <a:noFill/>
          <a:ln/>
        </p:spPr>
        <p:txBody>
          <a:bodyPr wrap="square" lIns="0" tIns="0" rIns="0" bIns="0" rtlCol="0" anchor="ctr"/>
          <a:lstStyle/>
          <a:p>
            <a:pPr indent="0" marL="0">
              <a:buNone/>
            </a:pPr>
            <a:r>
              <a:rPr lang="en-US" sz="2800" b="1" dirty="0">
                <a:solidFill>
                  <a:srgbClr val="0D9488"/>
                </a:solidFill>
              </a:rPr>
              <a:t>03</a:t>
            </a:r>
            <a:endParaRPr lang="en-US" sz="2800" dirty="0"/>
          </a:p>
        </p:txBody>
      </p:sp>
      <p:sp>
        <p:nvSpPr>
          <p:cNvPr id="5" name="Text 3"/>
          <p:cNvSpPr/>
          <p:nvPr/>
        </p:nvSpPr>
        <p:spPr>
          <a:xfrm>
            <a:off x="822960" y="137160"/>
            <a:ext cx="7772400" cy="548640"/>
          </a:xfrm>
          <a:prstGeom prst="rect">
            <a:avLst/>
          </a:prstGeom>
          <a:noFill/>
          <a:ln/>
        </p:spPr>
        <p:txBody>
          <a:bodyPr wrap="square" lIns="0" tIns="0" rIns="0" bIns="0" rtlCol="0" anchor="ctr"/>
          <a:lstStyle/>
          <a:p>
            <a:pPr indent="0" marL="0">
              <a:buNone/>
            </a:pPr>
            <a:r>
              <a:rPr lang="en-US" sz="2600" b="1" dirty="0">
                <a:solidFill>
                  <a:srgbClr val="F8FAFC"/>
                </a:solidFill>
                <a:latin typeface="Georgia" pitchFamily="34" charset="0"/>
                <a:ea typeface="Georgia" pitchFamily="34" charset="-122"/>
                <a:cs typeface="Georgia" pitchFamily="34" charset="-120"/>
              </a:rPr>
              <a:t>TF-IDF Weighting — Making Vectors Meaningful</a:t>
            </a:r>
            <a:endParaRPr lang="en-US" sz="2600" dirty="0"/>
          </a:p>
        </p:txBody>
      </p:sp>
      <p:sp>
        <p:nvSpPr>
          <p:cNvPr id="6" name="Shape 4"/>
          <p:cNvSpPr/>
          <p:nvPr/>
        </p:nvSpPr>
        <p:spPr>
          <a:xfrm>
            <a:off x="228600" y="960120"/>
            <a:ext cx="4114800" cy="2103120"/>
          </a:xfrm>
          <a:prstGeom prst="rect">
            <a:avLst/>
          </a:prstGeom>
          <a:solidFill>
            <a:srgbClr val="1F2937"/>
          </a:solidFill>
          <a:ln w="19050">
            <a:solidFill>
              <a:srgbClr val="0D9488"/>
            </a:solidFill>
            <a:prstDash val="solid"/>
          </a:ln>
          <a:effectLst>
            <a:outerShdw sx="100000" sy="100000" kx="0" ky="0" algn="bl" rotWithShape="0" blurRad="127000" dist="38100" dir="8100000">
              <a:srgbClr val="000000">
                <a:alpha val="25000"/>
              </a:srgbClr>
            </a:outerShdw>
          </a:effectLst>
        </p:spPr>
      </p:sp>
      <p:sp>
        <p:nvSpPr>
          <p:cNvPr id="7" name="Text 5"/>
          <p:cNvSpPr/>
          <p:nvPr/>
        </p:nvSpPr>
        <p:spPr>
          <a:xfrm>
            <a:off x="365760" y="1051560"/>
            <a:ext cx="3840480" cy="347472"/>
          </a:xfrm>
          <a:prstGeom prst="rect">
            <a:avLst/>
          </a:prstGeom>
          <a:noFill/>
          <a:ln/>
        </p:spPr>
        <p:txBody>
          <a:bodyPr wrap="square" lIns="0" tIns="0" rIns="0" bIns="0" rtlCol="0" anchor="ctr"/>
          <a:lstStyle/>
          <a:p>
            <a:pPr indent="0" marL="0">
              <a:buNone/>
            </a:pPr>
            <a:r>
              <a:rPr lang="en-US" sz="1600" b="1" dirty="0">
                <a:solidFill>
                  <a:srgbClr val="0D9488"/>
                </a:solidFill>
              </a:rPr>
              <a:t>Term Frequency (TF)</a:t>
            </a:r>
            <a:endParaRPr lang="en-US" sz="1600" dirty="0"/>
          </a:p>
        </p:txBody>
      </p:sp>
      <p:sp>
        <p:nvSpPr>
          <p:cNvPr id="8" name="Text 6"/>
          <p:cNvSpPr/>
          <p:nvPr/>
        </p:nvSpPr>
        <p:spPr>
          <a:xfrm>
            <a:off x="365760" y="1417320"/>
            <a:ext cx="3840480" cy="274320"/>
          </a:xfrm>
          <a:prstGeom prst="rect">
            <a:avLst/>
          </a:prstGeom>
          <a:noFill/>
          <a:ln/>
        </p:spPr>
        <p:txBody>
          <a:bodyPr wrap="square" lIns="0" tIns="0" rIns="0" bIns="0" rtlCol="0" anchor="ctr"/>
          <a:lstStyle/>
          <a:p>
            <a:pPr indent="0" marL="0">
              <a:buNone/>
            </a:pPr>
            <a:r>
              <a:rPr lang="en-US" sz="1100" dirty="0">
                <a:solidFill>
                  <a:srgbClr val="94A3B8"/>
                </a:solidFill>
              </a:rPr>
              <a:t>How often does the term appear in this document?</a:t>
            </a:r>
            <a:endParaRPr lang="en-US" sz="1100" dirty="0"/>
          </a:p>
        </p:txBody>
      </p:sp>
      <p:sp>
        <p:nvSpPr>
          <p:cNvPr id="9" name="Shape 7"/>
          <p:cNvSpPr/>
          <p:nvPr/>
        </p:nvSpPr>
        <p:spPr>
          <a:xfrm>
            <a:off x="365760" y="1737360"/>
            <a:ext cx="3749040" cy="502920"/>
          </a:xfrm>
          <a:prstGeom prst="rect">
            <a:avLst/>
          </a:prstGeom>
          <a:solidFill>
            <a:srgbClr val="0D1117"/>
          </a:solidFill>
          <a:ln w="12700">
            <a:solidFill>
              <a:srgbClr val="0D9488"/>
            </a:solidFill>
            <a:prstDash val="solid"/>
          </a:ln>
        </p:spPr>
      </p:sp>
      <p:sp>
        <p:nvSpPr>
          <p:cNvPr id="10" name="Text 8"/>
          <p:cNvSpPr/>
          <p:nvPr/>
        </p:nvSpPr>
        <p:spPr>
          <a:xfrm>
            <a:off x="365760" y="1737360"/>
            <a:ext cx="3749040" cy="502920"/>
          </a:xfrm>
          <a:prstGeom prst="rect">
            <a:avLst/>
          </a:prstGeom>
          <a:noFill/>
          <a:ln/>
        </p:spPr>
        <p:txBody>
          <a:bodyPr wrap="square" lIns="0" tIns="0" rIns="0" bIns="0" rtlCol="0" anchor="ctr"/>
          <a:lstStyle/>
          <a:p>
            <a:pPr algn="ctr" indent="0" marL="0">
              <a:buNone/>
            </a:pPr>
            <a:r>
              <a:rPr lang="en-US" sz="1200" dirty="0">
                <a:solidFill>
                  <a:srgbClr val="5EEAD4"/>
                </a:solidFill>
                <a:latin typeface="Consolas" pitchFamily="34" charset="0"/>
                <a:ea typeface="Consolas" pitchFamily="34" charset="-122"/>
                <a:cs typeface="Consolas" pitchFamily="34" charset="-120"/>
              </a:rPr>
              <a:t>TF(t,d) = count(t in d) / total_terms(d)</a:t>
            </a:r>
            <a:endParaRPr lang="en-US" sz="1200" dirty="0"/>
          </a:p>
        </p:txBody>
      </p:sp>
      <p:sp>
        <p:nvSpPr>
          <p:cNvPr id="11" name="Text 9"/>
          <p:cNvSpPr/>
          <p:nvPr/>
        </p:nvSpPr>
        <p:spPr>
          <a:xfrm>
            <a:off x="365760" y="2331720"/>
            <a:ext cx="3840480" cy="594360"/>
          </a:xfrm>
          <a:prstGeom prst="rect">
            <a:avLst/>
          </a:prstGeom>
          <a:noFill/>
          <a:ln/>
        </p:spPr>
        <p:txBody>
          <a:bodyPr wrap="square" lIns="0" tIns="0" rIns="0" bIns="0" rtlCol="0" anchor="ctr"/>
          <a:lstStyle/>
          <a:p>
            <a:pPr indent="0" marL="0">
              <a:lnSpc>
                <a:spcPct val="130000"/>
              </a:lnSpc>
              <a:buNone/>
            </a:pPr>
            <a:r>
              <a:rPr lang="en-US" sz="1100" dirty="0">
                <a:solidFill>
                  <a:srgbClr val="CBD5E1"/>
                </a:solidFill>
              </a:rPr>
              <a:t>Higher TF = term is important to this specific document. Common stop-words like "the" are filtered out before indexing.</a:t>
            </a:r>
            <a:endParaRPr lang="en-US" sz="1100" dirty="0"/>
          </a:p>
        </p:txBody>
      </p:sp>
      <p:sp>
        <p:nvSpPr>
          <p:cNvPr id="12" name="Shape 10"/>
          <p:cNvSpPr/>
          <p:nvPr/>
        </p:nvSpPr>
        <p:spPr>
          <a:xfrm>
            <a:off x="4572000" y="960120"/>
            <a:ext cx="4343400" cy="2103120"/>
          </a:xfrm>
          <a:prstGeom prst="rect">
            <a:avLst/>
          </a:prstGeom>
          <a:solidFill>
            <a:srgbClr val="1F2937"/>
          </a:solidFill>
          <a:ln w="19050">
            <a:solidFill>
              <a:srgbClr val="F59E0B"/>
            </a:solidFill>
            <a:prstDash val="solid"/>
          </a:ln>
          <a:effectLst>
            <a:outerShdw sx="100000" sy="100000" kx="0" ky="0" algn="bl" rotWithShape="0" blurRad="127000" dist="38100" dir="8100000">
              <a:srgbClr val="000000">
                <a:alpha val="25000"/>
              </a:srgbClr>
            </a:outerShdw>
          </a:effectLst>
        </p:spPr>
      </p:sp>
      <p:sp>
        <p:nvSpPr>
          <p:cNvPr id="13" name="Text 11"/>
          <p:cNvSpPr/>
          <p:nvPr/>
        </p:nvSpPr>
        <p:spPr>
          <a:xfrm>
            <a:off x="4709160" y="1051560"/>
            <a:ext cx="4069080" cy="347472"/>
          </a:xfrm>
          <a:prstGeom prst="rect">
            <a:avLst/>
          </a:prstGeom>
          <a:noFill/>
          <a:ln/>
        </p:spPr>
        <p:txBody>
          <a:bodyPr wrap="square" lIns="0" tIns="0" rIns="0" bIns="0" rtlCol="0" anchor="ctr"/>
          <a:lstStyle/>
          <a:p>
            <a:pPr indent="0" marL="0">
              <a:buNone/>
            </a:pPr>
            <a:r>
              <a:rPr lang="en-US" sz="1600" b="1" dirty="0">
                <a:solidFill>
                  <a:srgbClr val="F59E0B"/>
                </a:solidFill>
              </a:rPr>
              <a:t>Inverse Document Frequency (IDF)</a:t>
            </a:r>
            <a:endParaRPr lang="en-US" sz="1600" dirty="0"/>
          </a:p>
        </p:txBody>
      </p:sp>
      <p:sp>
        <p:nvSpPr>
          <p:cNvPr id="14" name="Text 12"/>
          <p:cNvSpPr/>
          <p:nvPr/>
        </p:nvSpPr>
        <p:spPr>
          <a:xfrm>
            <a:off x="4709160" y="1417320"/>
            <a:ext cx="4069080" cy="274320"/>
          </a:xfrm>
          <a:prstGeom prst="rect">
            <a:avLst/>
          </a:prstGeom>
          <a:noFill/>
          <a:ln/>
        </p:spPr>
        <p:txBody>
          <a:bodyPr wrap="square" lIns="0" tIns="0" rIns="0" bIns="0" rtlCol="0" anchor="ctr"/>
          <a:lstStyle/>
          <a:p>
            <a:pPr indent="0" marL="0">
              <a:buNone/>
            </a:pPr>
            <a:r>
              <a:rPr lang="en-US" sz="1100" dirty="0">
                <a:solidFill>
                  <a:srgbClr val="94A3B8"/>
                </a:solidFill>
              </a:rPr>
              <a:t>How rare is this term across the entire corpus?</a:t>
            </a:r>
            <a:endParaRPr lang="en-US" sz="1100" dirty="0"/>
          </a:p>
        </p:txBody>
      </p:sp>
      <p:sp>
        <p:nvSpPr>
          <p:cNvPr id="15" name="Shape 13"/>
          <p:cNvSpPr/>
          <p:nvPr/>
        </p:nvSpPr>
        <p:spPr>
          <a:xfrm>
            <a:off x="4709160" y="1737360"/>
            <a:ext cx="4023360" cy="502920"/>
          </a:xfrm>
          <a:prstGeom prst="rect">
            <a:avLst/>
          </a:prstGeom>
          <a:solidFill>
            <a:srgbClr val="0D1117"/>
          </a:solidFill>
          <a:ln w="12700">
            <a:solidFill>
              <a:srgbClr val="F59E0B"/>
            </a:solidFill>
            <a:prstDash val="solid"/>
          </a:ln>
        </p:spPr>
      </p:sp>
      <p:sp>
        <p:nvSpPr>
          <p:cNvPr id="16" name="Text 14"/>
          <p:cNvSpPr/>
          <p:nvPr/>
        </p:nvSpPr>
        <p:spPr>
          <a:xfrm>
            <a:off x="4709160" y="1737360"/>
            <a:ext cx="4023360" cy="502920"/>
          </a:xfrm>
          <a:prstGeom prst="rect">
            <a:avLst/>
          </a:prstGeom>
          <a:noFill/>
          <a:ln/>
        </p:spPr>
        <p:txBody>
          <a:bodyPr wrap="square" lIns="0" tIns="0" rIns="0" bIns="0" rtlCol="0" anchor="ctr"/>
          <a:lstStyle/>
          <a:p>
            <a:pPr algn="ctr" indent="0" marL="0">
              <a:buNone/>
            </a:pPr>
            <a:r>
              <a:rPr lang="en-US" sz="1200" dirty="0">
                <a:solidFill>
                  <a:srgbClr val="FCD34D"/>
                </a:solidFill>
                <a:latin typeface="Consolas" pitchFamily="34" charset="0"/>
                <a:ea typeface="Consolas" pitchFamily="34" charset="-122"/>
                <a:cs typeface="Consolas" pitchFamily="34" charset="-120"/>
              </a:rPr>
              <a:t>IDF(t) = log( N / df(t) )</a:t>
            </a:r>
            <a:endParaRPr lang="en-US" sz="1200" dirty="0"/>
          </a:p>
        </p:txBody>
      </p:sp>
      <p:sp>
        <p:nvSpPr>
          <p:cNvPr id="17" name="Text 15"/>
          <p:cNvSpPr/>
          <p:nvPr/>
        </p:nvSpPr>
        <p:spPr>
          <a:xfrm>
            <a:off x="4709160" y="2331720"/>
            <a:ext cx="4069080" cy="594360"/>
          </a:xfrm>
          <a:prstGeom prst="rect">
            <a:avLst/>
          </a:prstGeom>
          <a:noFill/>
          <a:ln/>
        </p:spPr>
        <p:txBody>
          <a:bodyPr wrap="square" lIns="0" tIns="0" rIns="0" bIns="0" rtlCol="0" anchor="ctr"/>
          <a:lstStyle/>
          <a:p>
            <a:pPr indent="0" marL="0">
              <a:lnSpc>
                <a:spcPct val="130000"/>
              </a:lnSpc>
              <a:buNone/>
            </a:pPr>
            <a:r>
              <a:rPr lang="en-US" sz="1100" dirty="0">
                <a:solidFill>
                  <a:srgbClr val="CBD5E1"/>
                </a:solidFill>
              </a:rPr>
              <a:t>Higher IDF = rarer term = more discriminative. Common words have low IDF; specialised vocabulary has high IDF.</a:t>
            </a:r>
            <a:endParaRPr lang="en-US" sz="1100" dirty="0"/>
          </a:p>
        </p:txBody>
      </p:sp>
      <p:sp>
        <p:nvSpPr>
          <p:cNvPr id="18" name="Shape 16"/>
          <p:cNvSpPr/>
          <p:nvPr/>
        </p:nvSpPr>
        <p:spPr>
          <a:xfrm>
            <a:off x="228600" y="3200400"/>
            <a:ext cx="8686800" cy="685800"/>
          </a:xfrm>
          <a:prstGeom prst="rect">
            <a:avLst/>
          </a:prstGeom>
          <a:solidFill>
            <a:srgbClr val="1F2937"/>
          </a:solidFill>
          <a:ln w="19050">
            <a:solidFill>
              <a:srgbClr val="10B981"/>
            </a:solidFill>
            <a:prstDash val="solid"/>
          </a:ln>
          <a:effectLst>
            <a:outerShdw sx="100000" sy="100000" kx="0" ky="0" algn="bl" rotWithShape="0" blurRad="127000" dist="38100" dir="8100000">
              <a:srgbClr val="000000">
                <a:alpha val="25000"/>
              </a:srgbClr>
            </a:outerShdw>
          </a:effectLst>
        </p:spPr>
      </p:sp>
      <p:sp>
        <p:nvSpPr>
          <p:cNvPr id="19" name="Text 17"/>
          <p:cNvSpPr/>
          <p:nvPr/>
        </p:nvSpPr>
        <p:spPr>
          <a:xfrm>
            <a:off x="411480" y="3310128"/>
            <a:ext cx="2194560" cy="457200"/>
          </a:xfrm>
          <a:prstGeom prst="rect">
            <a:avLst/>
          </a:prstGeom>
          <a:noFill/>
          <a:ln/>
        </p:spPr>
        <p:txBody>
          <a:bodyPr wrap="square" lIns="0" tIns="0" rIns="0" bIns="0" rtlCol="0" anchor="ctr"/>
          <a:lstStyle/>
          <a:p>
            <a:pPr indent="0" marL="0">
              <a:buNone/>
            </a:pPr>
            <a:r>
              <a:rPr lang="en-US" sz="1300" b="1" dirty="0">
                <a:solidFill>
                  <a:srgbClr val="10B981"/>
                </a:solidFill>
              </a:rPr>
              <a:t>Final Vector Weight:</a:t>
            </a:r>
            <a:endParaRPr lang="en-US" sz="1300" dirty="0"/>
          </a:p>
        </p:txBody>
      </p:sp>
      <p:sp>
        <p:nvSpPr>
          <p:cNvPr id="20" name="Text 18"/>
          <p:cNvSpPr/>
          <p:nvPr/>
        </p:nvSpPr>
        <p:spPr>
          <a:xfrm>
            <a:off x="2606040" y="3310128"/>
            <a:ext cx="6126480" cy="457200"/>
          </a:xfrm>
          <a:prstGeom prst="rect">
            <a:avLst/>
          </a:prstGeom>
          <a:noFill/>
          <a:ln/>
        </p:spPr>
        <p:txBody>
          <a:bodyPr wrap="square" lIns="0" tIns="0" rIns="0" bIns="0" rtlCol="0" anchor="ctr"/>
          <a:lstStyle/>
          <a:p>
            <a:pPr indent="0" marL="0">
              <a:buNone/>
            </a:pPr>
            <a:r>
              <a:rPr lang="en-US" sz="1300" dirty="0">
                <a:solidFill>
                  <a:srgbClr val="5EEAD4"/>
                </a:solidFill>
                <a:latin typeface="Consolas" pitchFamily="34" charset="0"/>
                <a:ea typeface="Consolas" pitchFamily="34" charset="-122"/>
                <a:cs typeface="Consolas" pitchFamily="34" charset="-120"/>
              </a:rPr>
              <a:t>weight(t, d) = TF(t, d)  ×  IDF(t)     →     High weight = this term is frequent here but rare elsewhere</a:t>
            </a:r>
            <a:endParaRPr lang="en-US" sz="1300" dirty="0"/>
          </a:p>
        </p:txBody>
      </p:sp>
      <p:sp>
        <p:nvSpPr>
          <p:cNvPr id="21" name="Shape 19"/>
          <p:cNvSpPr/>
          <p:nvPr/>
        </p:nvSpPr>
        <p:spPr>
          <a:xfrm>
            <a:off x="228600" y="4023360"/>
            <a:ext cx="8686800" cy="822960"/>
          </a:xfrm>
          <a:prstGeom prst="rect">
            <a:avLst/>
          </a:prstGeom>
          <a:solidFill>
            <a:srgbClr val="161B22"/>
          </a:solidFill>
          <a:ln w="12700">
            <a:solidFill>
              <a:srgbClr val="161B22"/>
            </a:solidFill>
            <a:prstDash val="solid"/>
          </a:ln>
        </p:spPr>
      </p:sp>
      <p:sp>
        <p:nvSpPr>
          <p:cNvPr id="22" name="Shape 20"/>
          <p:cNvSpPr/>
          <p:nvPr/>
        </p:nvSpPr>
        <p:spPr>
          <a:xfrm>
            <a:off x="228600" y="4023360"/>
            <a:ext cx="64008" cy="822960"/>
          </a:xfrm>
          <a:prstGeom prst="rect">
            <a:avLst/>
          </a:prstGeom>
          <a:solidFill>
            <a:srgbClr val="F59E0B"/>
          </a:solidFill>
          <a:ln w="12700">
            <a:solidFill>
              <a:srgbClr val="F59E0B"/>
            </a:solidFill>
            <a:prstDash val="solid"/>
          </a:ln>
        </p:spPr>
      </p:sp>
      <p:sp>
        <p:nvSpPr>
          <p:cNvPr id="23" name="Text 21"/>
          <p:cNvSpPr/>
          <p:nvPr/>
        </p:nvSpPr>
        <p:spPr>
          <a:xfrm>
            <a:off x="411480" y="4096512"/>
            <a:ext cx="4572000" cy="274320"/>
          </a:xfrm>
          <a:prstGeom prst="rect">
            <a:avLst/>
          </a:prstGeom>
          <a:noFill/>
          <a:ln/>
        </p:spPr>
        <p:txBody>
          <a:bodyPr wrap="square" lIns="0" tIns="0" rIns="0" bIns="0" rtlCol="0" anchor="ctr"/>
          <a:lstStyle/>
          <a:p>
            <a:pPr indent="0" marL="0">
              <a:buNone/>
            </a:pPr>
            <a:r>
              <a:rPr lang="en-US" sz="1200" b="1" dirty="0">
                <a:solidFill>
                  <a:srgbClr val="F59E0B"/>
                </a:solidFill>
              </a:rPr>
              <a:t>BM25 — Modern Evolution of TF-IDF</a:t>
            </a:r>
            <a:endParaRPr lang="en-US" sz="1200" dirty="0"/>
          </a:p>
        </p:txBody>
      </p:sp>
      <p:sp>
        <p:nvSpPr>
          <p:cNvPr id="24" name="Text 22"/>
          <p:cNvSpPr/>
          <p:nvPr/>
        </p:nvSpPr>
        <p:spPr>
          <a:xfrm>
            <a:off x="411480" y="4370832"/>
            <a:ext cx="8412480" cy="411480"/>
          </a:xfrm>
          <a:prstGeom prst="rect">
            <a:avLst/>
          </a:prstGeom>
          <a:noFill/>
          <a:ln/>
        </p:spPr>
        <p:txBody>
          <a:bodyPr wrap="square" lIns="0" tIns="0" rIns="0" bIns="0" rtlCol="0" anchor="ctr"/>
          <a:lstStyle/>
          <a:p>
            <a:pPr indent="0" marL="0">
              <a:lnSpc>
                <a:spcPct val="125000"/>
              </a:lnSpc>
              <a:buNone/>
            </a:pPr>
            <a:r>
              <a:rPr lang="en-US" sz="1100" dirty="0">
                <a:solidFill>
                  <a:srgbClr val="CBD5E1"/>
                </a:solidFill>
              </a:rPr>
              <a:t>BM25 (Best Match 25) is a probabilistic improvement: it saturates TF (very frequent terms don't grow unboundedly) and applies document-length normalisation. The Explorer uses BM25Okapi for its first-pass retrieval stage.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9488"/>
          </a:solidFill>
          <a:ln w="12700">
            <a:solidFill>
              <a:srgbClr val="0D9488"/>
            </a:solidFill>
            <a:prstDash val="solid"/>
          </a:ln>
        </p:spPr>
      </p:sp>
      <p:sp>
        <p:nvSpPr>
          <p:cNvPr id="3" name="Shape 1"/>
          <p:cNvSpPr/>
          <p:nvPr/>
        </p:nvSpPr>
        <p:spPr>
          <a:xfrm>
            <a:off x="73152" y="0"/>
            <a:ext cx="9070848" cy="822960"/>
          </a:xfrm>
          <a:prstGeom prst="rect">
            <a:avLst/>
          </a:prstGeom>
          <a:solidFill>
            <a:srgbClr val="161B22"/>
          </a:solidFill>
          <a:ln w="12700">
            <a:solidFill>
              <a:srgbClr val="161B22"/>
            </a:solidFill>
            <a:prstDash val="solid"/>
          </a:ln>
        </p:spPr>
      </p:sp>
      <p:sp>
        <p:nvSpPr>
          <p:cNvPr id="4" name="Text 2"/>
          <p:cNvSpPr/>
          <p:nvPr/>
        </p:nvSpPr>
        <p:spPr>
          <a:xfrm>
            <a:off x="228600" y="109728"/>
            <a:ext cx="548640" cy="594360"/>
          </a:xfrm>
          <a:prstGeom prst="rect">
            <a:avLst/>
          </a:prstGeom>
          <a:noFill/>
          <a:ln/>
        </p:spPr>
        <p:txBody>
          <a:bodyPr wrap="square" lIns="0" tIns="0" rIns="0" bIns="0" rtlCol="0" anchor="ctr"/>
          <a:lstStyle/>
          <a:p>
            <a:pPr indent="0" marL="0">
              <a:buNone/>
            </a:pPr>
            <a:r>
              <a:rPr lang="en-US" sz="2800" b="1" dirty="0">
                <a:solidFill>
                  <a:srgbClr val="0D9488"/>
                </a:solidFill>
              </a:rPr>
              <a:t>04</a:t>
            </a:r>
            <a:endParaRPr lang="en-US" sz="2800" dirty="0"/>
          </a:p>
        </p:txBody>
      </p:sp>
      <p:sp>
        <p:nvSpPr>
          <p:cNvPr id="5" name="Text 3"/>
          <p:cNvSpPr/>
          <p:nvPr/>
        </p:nvSpPr>
        <p:spPr>
          <a:xfrm>
            <a:off x="822960" y="137160"/>
            <a:ext cx="7772400" cy="548640"/>
          </a:xfrm>
          <a:prstGeom prst="rect">
            <a:avLst/>
          </a:prstGeom>
          <a:noFill/>
          <a:ln/>
        </p:spPr>
        <p:txBody>
          <a:bodyPr wrap="square" lIns="0" tIns="0" rIns="0" bIns="0" rtlCol="0" anchor="ctr"/>
          <a:lstStyle/>
          <a:p>
            <a:pPr indent="0" marL="0">
              <a:buNone/>
            </a:pPr>
            <a:r>
              <a:rPr lang="en-US" sz="2600" b="1" dirty="0">
                <a:solidFill>
                  <a:srgbClr val="F8FAFC"/>
                </a:solidFill>
                <a:latin typeface="Georgia" pitchFamily="34" charset="0"/>
                <a:ea typeface="Georgia" pitchFamily="34" charset="-122"/>
                <a:cs typeface="Georgia" pitchFamily="34" charset="-120"/>
              </a:rPr>
              <a:t>The Explorer — System Architecture</a:t>
            </a:r>
            <a:endParaRPr lang="en-US" sz="2600" dirty="0"/>
          </a:p>
        </p:txBody>
      </p:sp>
      <p:sp>
        <p:nvSpPr>
          <p:cNvPr id="6" name="Shape 4"/>
          <p:cNvSpPr/>
          <p:nvPr/>
        </p:nvSpPr>
        <p:spPr>
          <a:xfrm>
            <a:off x="228600" y="1005840"/>
            <a:ext cx="4023360" cy="868680"/>
          </a:xfrm>
          <a:prstGeom prst="rect">
            <a:avLst/>
          </a:prstGeom>
          <a:solidFill>
            <a:srgbClr val="1F2937"/>
          </a:solidFill>
          <a:ln w="19050">
            <a:solidFill>
              <a:srgbClr val="D97706"/>
            </a:solidFill>
            <a:prstDash val="solid"/>
          </a:ln>
          <a:effectLst>
            <a:outerShdw sx="100000" sy="100000" kx="0" ky="0" algn="bl" rotWithShape="0" blurRad="127000" dist="38100" dir="8100000">
              <a:srgbClr val="000000">
                <a:alpha val="25000"/>
              </a:srgbClr>
            </a:outerShdw>
          </a:effectLst>
        </p:spPr>
      </p:sp>
      <p:sp>
        <p:nvSpPr>
          <p:cNvPr id="7" name="Shape 5"/>
          <p:cNvSpPr/>
          <p:nvPr/>
        </p:nvSpPr>
        <p:spPr>
          <a:xfrm>
            <a:off x="228600" y="1005840"/>
            <a:ext cx="64008" cy="868680"/>
          </a:xfrm>
          <a:prstGeom prst="rect">
            <a:avLst/>
          </a:prstGeom>
          <a:solidFill>
            <a:srgbClr val="D97706"/>
          </a:solidFill>
          <a:ln w="12700">
            <a:solidFill>
              <a:srgbClr val="D97706"/>
            </a:solidFill>
            <a:prstDash val="solid"/>
          </a:ln>
        </p:spPr>
      </p:sp>
      <p:sp>
        <p:nvSpPr>
          <p:cNvPr id="8" name="Text 6"/>
          <p:cNvSpPr/>
          <p:nvPr/>
        </p:nvSpPr>
        <p:spPr>
          <a:xfrm>
            <a:off x="411480" y="1097280"/>
            <a:ext cx="3657600" cy="274320"/>
          </a:xfrm>
          <a:prstGeom prst="rect">
            <a:avLst/>
          </a:prstGeom>
          <a:noFill/>
          <a:ln/>
        </p:spPr>
        <p:txBody>
          <a:bodyPr wrap="square" lIns="0" tIns="0" rIns="0" bIns="0" rtlCol="0" anchor="ctr"/>
          <a:lstStyle/>
          <a:p>
            <a:pPr indent="0" marL="0">
              <a:buNone/>
            </a:pPr>
            <a:r>
              <a:rPr lang="en-US" sz="1400" b="1" dirty="0">
                <a:solidFill>
                  <a:srgbClr val="D97706"/>
                </a:solidFill>
              </a:rPr>
              <a:t>SQLite</a:t>
            </a:r>
            <a:endParaRPr lang="en-US" sz="1400" dirty="0"/>
          </a:p>
        </p:txBody>
      </p:sp>
      <p:sp>
        <p:nvSpPr>
          <p:cNvPr id="9" name="Text 7"/>
          <p:cNvSpPr/>
          <p:nvPr/>
        </p:nvSpPr>
        <p:spPr>
          <a:xfrm>
            <a:off x="411480" y="1426464"/>
            <a:ext cx="3657600" cy="320040"/>
          </a:xfrm>
          <a:prstGeom prst="rect">
            <a:avLst/>
          </a:prstGeom>
          <a:noFill/>
          <a:ln/>
        </p:spPr>
        <p:txBody>
          <a:bodyPr wrap="square" lIns="0" tIns="0" rIns="0" bIns="0" rtlCol="0" anchor="ctr"/>
          <a:lstStyle/>
          <a:p>
            <a:pPr indent="0" marL="0">
              <a:buNone/>
            </a:pPr>
            <a:r>
              <a:rPr lang="en-US" sz="1100" dirty="0">
                <a:solidFill>
                  <a:srgbClr val="CBD5E1"/>
                </a:solidFill>
              </a:rPr>
              <a:t>Document Store + Metadata + FTS5 index</a:t>
            </a:r>
            <a:endParaRPr lang="en-US" sz="1100" dirty="0"/>
          </a:p>
        </p:txBody>
      </p:sp>
      <p:sp>
        <p:nvSpPr>
          <p:cNvPr id="10" name="Shape 8"/>
          <p:cNvSpPr/>
          <p:nvPr/>
        </p:nvSpPr>
        <p:spPr>
          <a:xfrm>
            <a:off x="228600" y="2057400"/>
            <a:ext cx="4023360" cy="868680"/>
          </a:xfrm>
          <a:prstGeom prst="rect">
            <a:avLst/>
          </a:prstGeom>
          <a:solidFill>
            <a:srgbClr val="1F2937"/>
          </a:solidFill>
          <a:ln w="19050">
            <a:solidFill>
              <a:srgbClr val="0D9488"/>
            </a:solidFill>
            <a:prstDash val="solid"/>
          </a:ln>
          <a:effectLst>
            <a:outerShdw sx="100000" sy="100000" kx="0" ky="0" algn="bl" rotWithShape="0" blurRad="127000" dist="38100" dir="8100000">
              <a:srgbClr val="000000">
                <a:alpha val="25000"/>
              </a:srgbClr>
            </a:outerShdw>
          </a:effectLst>
        </p:spPr>
      </p:sp>
      <p:sp>
        <p:nvSpPr>
          <p:cNvPr id="11" name="Shape 9"/>
          <p:cNvSpPr/>
          <p:nvPr/>
        </p:nvSpPr>
        <p:spPr>
          <a:xfrm>
            <a:off x="228600" y="2057400"/>
            <a:ext cx="64008" cy="868680"/>
          </a:xfrm>
          <a:prstGeom prst="rect">
            <a:avLst/>
          </a:prstGeom>
          <a:solidFill>
            <a:srgbClr val="0D9488"/>
          </a:solidFill>
          <a:ln w="12700">
            <a:solidFill>
              <a:srgbClr val="0D9488"/>
            </a:solidFill>
            <a:prstDash val="solid"/>
          </a:ln>
        </p:spPr>
      </p:sp>
      <p:sp>
        <p:nvSpPr>
          <p:cNvPr id="12" name="Text 10"/>
          <p:cNvSpPr/>
          <p:nvPr/>
        </p:nvSpPr>
        <p:spPr>
          <a:xfrm>
            <a:off x="411480" y="2148840"/>
            <a:ext cx="3657600" cy="274320"/>
          </a:xfrm>
          <a:prstGeom prst="rect">
            <a:avLst/>
          </a:prstGeom>
          <a:noFill/>
          <a:ln/>
        </p:spPr>
        <p:txBody>
          <a:bodyPr wrap="square" lIns="0" tIns="0" rIns="0" bIns="0" rtlCol="0" anchor="ctr"/>
          <a:lstStyle/>
          <a:p>
            <a:pPr indent="0" marL="0">
              <a:buNone/>
            </a:pPr>
            <a:r>
              <a:rPr lang="en-US" sz="1400" b="1" dirty="0">
                <a:solidFill>
                  <a:srgbClr val="0D9488"/>
                </a:solidFill>
              </a:rPr>
              <a:t>BM25Okapi</a:t>
            </a:r>
            <a:endParaRPr lang="en-US" sz="1400" dirty="0"/>
          </a:p>
        </p:txBody>
      </p:sp>
      <p:sp>
        <p:nvSpPr>
          <p:cNvPr id="13" name="Text 11"/>
          <p:cNvSpPr/>
          <p:nvPr/>
        </p:nvSpPr>
        <p:spPr>
          <a:xfrm>
            <a:off x="411480" y="2478024"/>
            <a:ext cx="3657600" cy="320040"/>
          </a:xfrm>
          <a:prstGeom prst="rect">
            <a:avLst/>
          </a:prstGeom>
          <a:noFill/>
          <a:ln/>
        </p:spPr>
        <p:txBody>
          <a:bodyPr wrap="square" lIns="0" tIns="0" rIns="0" bIns="0" rtlCol="0" anchor="ctr"/>
          <a:lstStyle/>
          <a:p>
            <a:pPr indent="0" marL="0">
              <a:buNone/>
            </a:pPr>
            <a:r>
              <a:rPr lang="en-US" sz="1100" dirty="0">
                <a:solidFill>
                  <a:srgbClr val="CBD5E1"/>
                </a:solidFill>
              </a:rPr>
              <a:t>Lexical retrieval — rank_bm25 library</a:t>
            </a:r>
            <a:endParaRPr lang="en-US" sz="1100" dirty="0"/>
          </a:p>
        </p:txBody>
      </p:sp>
      <p:sp>
        <p:nvSpPr>
          <p:cNvPr id="14" name="Shape 12"/>
          <p:cNvSpPr/>
          <p:nvPr/>
        </p:nvSpPr>
        <p:spPr>
          <a:xfrm>
            <a:off x="228600" y="3108960"/>
            <a:ext cx="4023360" cy="868680"/>
          </a:xfrm>
          <a:prstGeom prst="rect">
            <a:avLst/>
          </a:prstGeom>
          <a:solidFill>
            <a:srgbClr val="1F2937"/>
          </a:solidFill>
          <a:ln w="19050">
            <a:solidFill>
              <a:srgbClr val="10B981"/>
            </a:solidFill>
            <a:prstDash val="solid"/>
          </a:ln>
          <a:effectLst>
            <a:outerShdw sx="100000" sy="100000" kx="0" ky="0" algn="bl" rotWithShape="0" blurRad="127000" dist="38100" dir="8100000">
              <a:srgbClr val="000000">
                <a:alpha val="25000"/>
              </a:srgbClr>
            </a:outerShdw>
          </a:effectLst>
        </p:spPr>
      </p:sp>
      <p:sp>
        <p:nvSpPr>
          <p:cNvPr id="15" name="Shape 13"/>
          <p:cNvSpPr/>
          <p:nvPr/>
        </p:nvSpPr>
        <p:spPr>
          <a:xfrm>
            <a:off x="228600" y="3108960"/>
            <a:ext cx="64008" cy="868680"/>
          </a:xfrm>
          <a:prstGeom prst="rect">
            <a:avLst/>
          </a:prstGeom>
          <a:solidFill>
            <a:srgbClr val="10B981"/>
          </a:solidFill>
          <a:ln w="12700">
            <a:solidFill>
              <a:srgbClr val="10B981"/>
            </a:solidFill>
            <a:prstDash val="solid"/>
          </a:ln>
        </p:spPr>
      </p:sp>
      <p:sp>
        <p:nvSpPr>
          <p:cNvPr id="16" name="Text 14"/>
          <p:cNvSpPr/>
          <p:nvPr/>
        </p:nvSpPr>
        <p:spPr>
          <a:xfrm>
            <a:off x="411480" y="3200400"/>
            <a:ext cx="3657600" cy="274320"/>
          </a:xfrm>
          <a:prstGeom prst="rect">
            <a:avLst/>
          </a:prstGeom>
          <a:noFill/>
          <a:ln/>
        </p:spPr>
        <p:txBody>
          <a:bodyPr wrap="square" lIns="0" tIns="0" rIns="0" bIns="0" rtlCol="0" anchor="ctr"/>
          <a:lstStyle/>
          <a:p>
            <a:pPr indent="0" marL="0">
              <a:buNone/>
            </a:pPr>
            <a:r>
              <a:rPr lang="en-US" sz="1400" b="1" dirty="0">
                <a:solidFill>
                  <a:srgbClr val="10B981"/>
                </a:solidFill>
              </a:rPr>
              <a:t>SentenceTransformer</a:t>
            </a:r>
            <a:endParaRPr lang="en-US" sz="1400" dirty="0"/>
          </a:p>
        </p:txBody>
      </p:sp>
      <p:sp>
        <p:nvSpPr>
          <p:cNvPr id="17" name="Text 15"/>
          <p:cNvSpPr/>
          <p:nvPr/>
        </p:nvSpPr>
        <p:spPr>
          <a:xfrm>
            <a:off x="411480" y="3529584"/>
            <a:ext cx="3657600" cy="320040"/>
          </a:xfrm>
          <a:prstGeom prst="rect">
            <a:avLst/>
          </a:prstGeom>
          <a:noFill/>
          <a:ln/>
        </p:spPr>
        <p:txBody>
          <a:bodyPr wrap="square" lIns="0" tIns="0" rIns="0" bIns="0" rtlCol="0" anchor="ctr"/>
          <a:lstStyle/>
          <a:p>
            <a:pPr indent="0" marL="0">
              <a:buNone/>
            </a:pPr>
            <a:r>
              <a:rPr lang="en-US" sz="1100" dirty="0">
                <a:solidFill>
                  <a:srgbClr val="CBD5E1"/>
                </a:solidFill>
              </a:rPr>
              <a:t>all-MiniLM-L6-v2  ·  384-dim embeddings</a:t>
            </a:r>
            <a:endParaRPr lang="en-US" sz="1100" dirty="0"/>
          </a:p>
        </p:txBody>
      </p:sp>
      <p:sp>
        <p:nvSpPr>
          <p:cNvPr id="18" name="Shape 16"/>
          <p:cNvSpPr/>
          <p:nvPr/>
        </p:nvSpPr>
        <p:spPr>
          <a:xfrm>
            <a:off x="4663440" y="1005840"/>
            <a:ext cx="4251960" cy="868680"/>
          </a:xfrm>
          <a:prstGeom prst="rect">
            <a:avLst/>
          </a:prstGeom>
          <a:solidFill>
            <a:srgbClr val="1F2937"/>
          </a:solidFill>
          <a:ln w="19050">
            <a:solidFill>
              <a:srgbClr val="F43F5E"/>
            </a:solidFill>
            <a:prstDash val="solid"/>
          </a:ln>
          <a:effectLst>
            <a:outerShdw sx="100000" sy="100000" kx="0" ky="0" algn="bl" rotWithShape="0" blurRad="127000" dist="38100" dir="8100000">
              <a:srgbClr val="000000">
                <a:alpha val="25000"/>
              </a:srgbClr>
            </a:outerShdw>
          </a:effectLst>
        </p:spPr>
      </p:sp>
      <p:sp>
        <p:nvSpPr>
          <p:cNvPr id="19" name="Shape 17"/>
          <p:cNvSpPr/>
          <p:nvPr/>
        </p:nvSpPr>
        <p:spPr>
          <a:xfrm>
            <a:off x="4663440" y="1005840"/>
            <a:ext cx="64008" cy="868680"/>
          </a:xfrm>
          <a:prstGeom prst="rect">
            <a:avLst/>
          </a:prstGeom>
          <a:solidFill>
            <a:srgbClr val="F43F5E"/>
          </a:solidFill>
          <a:ln w="12700">
            <a:solidFill>
              <a:srgbClr val="F43F5E"/>
            </a:solidFill>
            <a:prstDash val="solid"/>
          </a:ln>
        </p:spPr>
      </p:sp>
      <p:sp>
        <p:nvSpPr>
          <p:cNvPr id="20" name="Text 18"/>
          <p:cNvSpPr/>
          <p:nvPr/>
        </p:nvSpPr>
        <p:spPr>
          <a:xfrm>
            <a:off x="4846320" y="1097280"/>
            <a:ext cx="3886200" cy="274320"/>
          </a:xfrm>
          <a:prstGeom prst="rect">
            <a:avLst/>
          </a:prstGeom>
          <a:noFill/>
          <a:ln/>
        </p:spPr>
        <p:txBody>
          <a:bodyPr wrap="square" lIns="0" tIns="0" rIns="0" bIns="0" rtlCol="0" anchor="ctr"/>
          <a:lstStyle/>
          <a:p>
            <a:pPr indent="0" marL="0">
              <a:buNone/>
            </a:pPr>
            <a:r>
              <a:rPr lang="en-US" sz="1400" b="1" dirty="0">
                <a:solidFill>
                  <a:srgbClr val="F43F5E"/>
                </a:solidFill>
              </a:rPr>
              <a:t>FAISS IndexFlatIP</a:t>
            </a:r>
            <a:endParaRPr lang="en-US" sz="1400" dirty="0"/>
          </a:p>
        </p:txBody>
      </p:sp>
      <p:sp>
        <p:nvSpPr>
          <p:cNvPr id="21" name="Text 19"/>
          <p:cNvSpPr/>
          <p:nvPr/>
        </p:nvSpPr>
        <p:spPr>
          <a:xfrm>
            <a:off x="4846320" y="1426464"/>
            <a:ext cx="3886200" cy="320040"/>
          </a:xfrm>
          <a:prstGeom prst="rect">
            <a:avLst/>
          </a:prstGeom>
          <a:noFill/>
          <a:ln/>
        </p:spPr>
        <p:txBody>
          <a:bodyPr wrap="square" lIns="0" tIns="0" rIns="0" bIns="0" rtlCol="0" anchor="ctr"/>
          <a:lstStyle/>
          <a:p>
            <a:pPr indent="0" marL="0">
              <a:buNone/>
            </a:pPr>
            <a:r>
              <a:rPr lang="en-US" sz="1100" dirty="0">
                <a:solidFill>
                  <a:srgbClr val="CBD5E1"/>
                </a:solidFill>
              </a:rPr>
              <a:t>Approximate nearest-neighbor vector search</a:t>
            </a:r>
            <a:endParaRPr lang="en-US" sz="1100" dirty="0"/>
          </a:p>
        </p:txBody>
      </p:sp>
      <p:sp>
        <p:nvSpPr>
          <p:cNvPr id="22" name="Shape 20"/>
          <p:cNvSpPr/>
          <p:nvPr/>
        </p:nvSpPr>
        <p:spPr>
          <a:xfrm>
            <a:off x="4663440" y="2057400"/>
            <a:ext cx="4251960" cy="868680"/>
          </a:xfrm>
          <a:prstGeom prst="rect">
            <a:avLst/>
          </a:prstGeom>
          <a:solidFill>
            <a:srgbClr val="1F2937"/>
          </a:solidFill>
          <a:ln w="19050">
            <a:solidFill>
              <a:srgbClr val="F59E0B"/>
            </a:solidFill>
            <a:prstDash val="solid"/>
          </a:ln>
          <a:effectLst>
            <a:outerShdw sx="100000" sy="100000" kx="0" ky="0" algn="bl" rotWithShape="0" blurRad="127000" dist="38100" dir="8100000">
              <a:srgbClr val="000000">
                <a:alpha val="25000"/>
              </a:srgbClr>
            </a:outerShdw>
          </a:effectLst>
        </p:spPr>
      </p:sp>
      <p:sp>
        <p:nvSpPr>
          <p:cNvPr id="23" name="Shape 21"/>
          <p:cNvSpPr/>
          <p:nvPr/>
        </p:nvSpPr>
        <p:spPr>
          <a:xfrm>
            <a:off x="4663440" y="2057400"/>
            <a:ext cx="64008" cy="868680"/>
          </a:xfrm>
          <a:prstGeom prst="rect">
            <a:avLst/>
          </a:prstGeom>
          <a:solidFill>
            <a:srgbClr val="F59E0B"/>
          </a:solidFill>
          <a:ln w="12700">
            <a:solidFill>
              <a:srgbClr val="F59E0B"/>
            </a:solidFill>
            <a:prstDash val="solid"/>
          </a:ln>
        </p:spPr>
      </p:sp>
      <p:sp>
        <p:nvSpPr>
          <p:cNvPr id="24" name="Text 22"/>
          <p:cNvSpPr/>
          <p:nvPr/>
        </p:nvSpPr>
        <p:spPr>
          <a:xfrm>
            <a:off x="4846320" y="2148840"/>
            <a:ext cx="3886200" cy="274320"/>
          </a:xfrm>
          <a:prstGeom prst="rect">
            <a:avLst/>
          </a:prstGeom>
          <a:noFill/>
          <a:ln/>
        </p:spPr>
        <p:txBody>
          <a:bodyPr wrap="square" lIns="0" tIns="0" rIns="0" bIns="0" rtlCol="0" anchor="ctr"/>
          <a:lstStyle/>
          <a:p>
            <a:pPr indent="0" marL="0">
              <a:buNone/>
            </a:pPr>
            <a:r>
              <a:rPr lang="en-US" sz="1400" b="1" dirty="0">
                <a:solidFill>
                  <a:srgbClr val="F59E0B"/>
                </a:solidFill>
              </a:rPr>
              <a:t>WordNet (NLTK)</a:t>
            </a:r>
            <a:endParaRPr lang="en-US" sz="1400" dirty="0"/>
          </a:p>
        </p:txBody>
      </p:sp>
      <p:sp>
        <p:nvSpPr>
          <p:cNvPr id="25" name="Text 23"/>
          <p:cNvSpPr/>
          <p:nvPr/>
        </p:nvSpPr>
        <p:spPr>
          <a:xfrm>
            <a:off x="4846320" y="2478024"/>
            <a:ext cx="3886200" cy="320040"/>
          </a:xfrm>
          <a:prstGeom prst="rect">
            <a:avLst/>
          </a:prstGeom>
          <a:noFill/>
          <a:ln/>
        </p:spPr>
        <p:txBody>
          <a:bodyPr wrap="square" lIns="0" tIns="0" rIns="0" bIns="0" rtlCol="0" anchor="ctr"/>
          <a:lstStyle/>
          <a:p>
            <a:pPr indent="0" marL="0">
              <a:buNone/>
            </a:pPr>
            <a:r>
              <a:rPr lang="en-US" sz="1100" dirty="0">
                <a:solidFill>
                  <a:srgbClr val="CBD5E1"/>
                </a:solidFill>
              </a:rPr>
              <a:t>Query expansion with semantic synonyms</a:t>
            </a:r>
            <a:endParaRPr lang="en-US" sz="1100" dirty="0"/>
          </a:p>
        </p:txBody>
      </p:sp>
      <p:sp>
        <p:nvSpPr>
          <p:cNvPr id="26" name="Shape 24"/>
          <p:cNvSpPr/>
          <p:nvPr/>
        </p:nvSpPr>
        <p:spPr>
          <a:xfrm>
            <a:off x="4663440" y="3108960"/>
            <a:ext cx="4251960" cy="868680"/>
          </a:xfrm>
          <a:prstGeom prst="rect">
            <a:avLst/>
          </a:prstGeom>
          <a:solidFill>
            <a:srgbClr val="1F2937"/>
          </a:solidFill>
          <a:ln w="19050">
            <a:solidFill>
              <a:srgbClr val="5EEAD4"/>
            </a:solidFill>
            <a:prstDash val="solid"/>
          </a:ln>
          <a:effectLst>
            <a:outerShdw sx="100000" sy="100000" kx="0" ky="0" algn="bl" rotWithShape="0" blurRad="127000" dist="38100" dir="8100000">
              <a:srgbClr val="000000">
                <a:alpha val="25000"/>
              </a:srgbClr>
            </a:outerShdw>
          </a:effectLst>
        </p:spPr>
      </p:sp>
      <p:sp>
        <p:nvSpPr>
          <p:cNvPr id="27" name="Shape 25"/>
          <p:cNvSpPr/>
          <p:nvPr/>
        </p:nvSpPr>
        <p:spPr>
          <a:xfrm>
            <a:off x="4663440" y="3108960"/>
            <a:ext cx="64008" cy="868680"/>
          </a:xfrm>
          <a:prstGeom prst="rect">
            <a:avLst/>
          </a:prstGeom>
          <a:solidFill>
            <a:srgbClr val="5EEAD4"/>
          </a:solidFill>
          <a:ln w="12700">
            <a:solidFill>
              <a:srgbClr val="5EEAD4"/>
            </a:solidFill>
            <a:prstDash val="solid"/>
          </a:ln>
        </p:spPr>
      </p:sp>
      <p:sp>
        <p:nvSpPr>
          <p:cNvPr id="28" name="Text 26"/>
          <p:cNvSpPr/>
          <p:nvPr/>
        </p:nvSpPr>
        <p:spPr>
          <a:xfrm>
            <a:off x="4846320" y="3200400"/>
            <a:ext cx="3886200" cy="274320"/>
          </a:xfrm>
          <a:prstGeom prst="rect">
            <a:avLst/>
          </a:prstGeom>
          <a:noFill/>
          <a:ln/>
        </p:spPr>
        <p:txBody>
          <a:bodyPr wrap="square" lIns="0" tIns="0" rIns="0" bIns="0" rtlCol="0" anchor="ctr"/>
          <a:lstStyle/>
          <a:p>
            <a:pPr indent="0" marL="0">
              <a:buNone/>
            </a:pPr>
            <a:r>
              <a:rPr lang="en-US" sz="1400" b="1" dirty="0">
                <a:solidFill>
                  <a:srgbClr val="5EEAD4"/>
                </a:solidFill>
              </a:rPr>
              <a:t>FastAPI</a:t>
            </a:r>
            <a:endParaRPr lang="en-US" sz="1400" dirty="0"/>
          </a:p>
        </p:txBody>
      </p:sp>
      <p:sp>
        <p:nvSpPr>
          <p:cNvPr id="29" name="Text 27"/>
          <p:cNvSpPr/>
          <p:nvPr/>
        </p:nvSpPr>
        <p:spPr>
          <a:xfrm>
            <a:off x="4846320" y="3529584"/>
            <a:ext cx="3886200" cy="320040"/>
          </a:xfrm>
          <a:prstGeom prst="rect">
            <a:avLst/>
          </a:prstGeom>
          <a:noFill/>
          <a:ln/>
        </p:spPr>
        <p:txBody>
          <a:bodyPr wrap="square" lIns="0" tIns="0" rIns="0" bIns="0" rtlCol="0" anchor="ctr"/>
          <a:lstStyle/>
          <a:p>
            <a:pPr indent="0" marL="0">
              <a:buNone/>
            </a:pPr>
            <a:r>
              <a:rPr lang="en-US" sz="1100" dirty="0">
                <a:solidFill>
                  <a:srgbClr val="CBD5E1"/>
                </a:solidFill>
              </a:rPr>
              <a:t>REST API  ·  /search  /index  /stats  /crawl</a:t>
            </a:r>
            <a:endParaRPr lang="en-US" sz="1100" dirty="0"/>
          </a:p>
        </p:txBody>
      </p:sp>
      <p:sp>
        <p:nvSpPr>
          <p:cNvPr id="30" name="Shape 28"/>
          <p:cNvSpPr/>
          <p:nvPr/>
        </p:nvSpPr>
        <p:spPr>
          <a:xfrm>
            <a:off x="4297680" y="1874520"/>
            <a:ext cx="347472" cy="347472"/>
          </a:xfrm>
          <a:prstGeom prst="ellipse">
            <a:avLst/>
          </a:prstGeom>
          <a:solidFill>
            <a:srgbClr val="0D9488"/>
          </a:solidFill>
          <a:ln w="12700">
            <a:solidFill>
              <a:srgbClr val="0D9488"/>
            </a:solidFill>
            <a:prstDash val="solid"/>
          </a:ln>
        </p:spPr>
      </p:sp>
      <p:sp>
        <p:nvSpPr>
          <p:cNvPr id="31" name="Text 29"/>
          <p:cNvSpPr/>
          <p:nvPr/>
        </p:nvSpPr>
        <p:spPr>
          <a:xfrm>
            <a:off x="4297680" y="1874520"/>
            <a:ext cx="347472" cy="347472"/>
          </a:xfrm>
          <a:prstGeom prst="rect">
            <a:avLst/>
          </a:prstGeom>
          <a:noFill/>
          <a:ln/>
        </p:spPr>
        <p:txBody>
          <a:bodyPr wrap="square" lIns="0" tIns="0" rIns="0" bIns="0" rtlCol="0" anchor="ctr"/>
          <a:lstStyle/>
          <a:p>
            <a:pPr algn="ctr" indent="0" marL="0">
              <a:buNone/>
            </a:pPr>
            <a:r>
              <a:rPr lang="en-US" sz="1600" b="1" dirty="0">
                <a:solidFill>
                  <a:srgbClr val="F8FAFC"/>
                </a:solidFill>
              </a:rPr>
              <a:t>+</a:t>
            </a:r>
            <a:endParaRPr lang="en-US" sz="1600" dirty="0"/>
          </a:p>
        </p:txBody>
      </p:sp>
      <p:sp>
        <p:nvSpPr>
          <p:cNvPr id="32" name="Shape 30"/>
          <p:cNvSpPr/>
          <p:nvPr/>
        </p:nvSpPr>
        <p:spPr>
          <a:xfrm>
            <a:off x="228600" y="4160520"/>
            <a:ext cx="8686800" cy="713232"/>
          </a:xfrm>
          <a:prstGeom prst="rect">
            <a:avLst/>
          </a:prstGeom>
          <a:solidFill>
            <a:srgbClr val="161B22"/>
          </a:solidFill>
          <a:ln w="12700">
            <a:solidFill>
              <a:srgbClr val="161B22"/>
            </a:solidFill>
            <a:prstDash val="solid"/>
          </a:ln>
        </p:spPr>
      </p:sp>
      <p:sp>
        <p:nvSpPr>
          <p:cNvPr id="33" name="Text 31"/>
          <p:cNvSpPr/>
          <p:nvPr/>
        </p:nvSpPr>
        <p:spPr>
          <a:xfrm>
            <a:off x="365760" y="4251960"/>
            <a:ext cx="8412480" cy="502920"/>
          </a:xfrm>
          <a:prstGeom prst="rect">
            <a:avLst/>
          </a:prstGeom>
          <a:noFill/>
          <a:ln/>
        </p:spPr>
        <p:txBody>
          <a:bodyPr wrap="square" lIns="0" tIns="0" rIns="0" bIns="0" rtlCol="0" anchor="ctr"/>
          <a:lstStyle/>
          <a:p>
            <a:pPr algn="ctr" indent="0" marL="0">
              <a:lnSpc>
                <a:spcPct val="130000"/>
              </a:lnSpc>
              <a:buNone/>
            </a:pPr>
            <a:r>
              <a:rPr lang="en-US" sz="1100" dirty="0">
                <a:solidFill>
                  <a:srgbClr val="CBD5E1"/>
                </a:solidFill>
              </a:rPr>
              <a:t>Embedding Model:  all-MiniLM-L6-v2  (22M params)   ·   Embedding Dim: 384   ·   Normalised vectors (cosine = dot product)   ·   Batch encoding: 32</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9488"/>
          </a:solidFill>
          <a:ln w="12700">
            <a:solidFill>
              <a:srgbClr val="0D9488"/>
            </a:solidFill>
            <a:prstDash val="solid"/>
          </a:ln>
        </p:spPr>
      </p:sp>
      <p:sp>
        <p:nvSpPr>
          <p:cNvPr id="3" name="Shape 1"/>
          <p:cNvSpPr/>
          <p:nvPr/>
        </p:nvSpPr>
        <p:spPr>
          <a:xfrm>
            <a:off x="73152" y="0"/>
            <a:ext cx="9070848" cy="822960"/>
          </a:xfrm>
          <a:prstGeom prst="rect">
            <a:avLst/>
          </a:prstGeom>
          <a:solidFill>
            <a:srgbClr val="161B22"/>
          </a:solidFill>
          <a:ln w="12700">
            <a:solidFill>
              <a:srgbClr val="161B22"/>
            </a:solidFill>
            <a:prstDash val="solid"/>
          </a:ln>
        </p:spPr>
      </p:sp>
      <p:sp>
        <p:nvSpPr>
          <p:cNvPr id="4" name="Text 2"/>
          <p:cNvSpPr/>
          <p:nvPr/>
        </p:nvSpPr>
        <p:spPr>
          <a:xfrm>
            <a:off x="228600" y="109728"/>
            <a:ext cx="548640" cy="594360"/>
          </a:xfrm>
          <a:prstGeom prst="rect">
            <a:avLst/>
          </a:prstGeom>
          <a:noFill/>
          <a:ln/>
        </p:spPr>
        <p:txBody>
          <a:bodyPr wrap="square" lIns="0" tIns="0" rIns="0" bIns="0" rtlCol="0" anchor="ctr"/>
          <a:lstStyle/>
          <a:p>
            <a:pPr indent="0" marL="0">
              <a:buNone/>
            </a:pPr>
            <a:r>
              <a:rPr lang="en-US" sz="2800" b="1" dirty="0">
                <a:solidFill>
                  <a:srgbClr val="0D9488"/>
                </a:solidFill>
              </a:rPr>
              <a:t>05</a:t>
            </a:r>
            <a:endParaRPr lang="en-US" sz="2800" dirty="0"/>
          </a:p>
        </p:txBody>
      </p:sp>
      <p:sp>
        <p:nvSpPr>
          <p:cNvPr id="5" name="Text 3"/>
          <p:cNvSpPr/>
          <p:nvPr/>
        </p:nvSpPr>
        <p:spPr>
          <a:xfrm>
            <a:off x="822960" y="137160"/>
            <a:ext cx="7772400" cy="548640"/>
          </a:xfrm>
          <a:prstGeom prst="rect">
            <a:avLst/>
          </a:prstGeom>
          <a:noFill/>
          <a:ln/>
        </p:spPr>
        <p:txBody>
          <a:bodyPr wrap="square" lIns="0" tIns="0" rIns="0" bIns="0" rtlCol="0" anchor="ctr"/>
          <a:lstStyle/>
          <a:p>
            <a:pPr indent="0" marL="0">
              <a:buNone/>
            </a:pPr>
            <a:r>
              <a:rPr lang="en-US" sz="2600" b="1" dirty="0">
                <a:solidFill>
                  <a:srgbClr val="F8FAFC"/>
                </a:solidFill>
                <a:latin typeface="Georgia" pitchFamily="34" charset="0"/>
                <a:ea typeface="Georgia" pitchFamily="34" charset="-122"/>
                <a:cs typeface="Georgia" pitchFamily="34" charset="-120"/>
              </a:rPr>
              <a:t>Hybrid Search Pipeline — Three-Stage Retrieval</a:t>
            </a:r>
            <a:endParaRPr lang="en-US" sz="2600" dirty="0"/>
          </a:p>
        </p:txBody>
      </p:sp>
      <p:sp>
        <p:nvSpPr>
          <p:cNvPr id="6" name="Shape 4"/>
          <p:cNvSpPr/>
          <p:nvPr/>
        </p:nvSpPr>
        <p:spPr>
          <a:xfrm>
            <a:off x="228600" y="960120"/>
            <a:ext cx="1965960" cy="3520440"/>
          </a:xfrm>
          <a:prstGeom prst="rect">
            <a:avLst/>
          </a:prstGeom>
          <a:solidFill>
            <a:srgbClr val="1F2937"/>
          </a:solidFill>
          <a:ln w="19050">
            <a:solidFill>
              <a:srgbClr val="F59E0B"/>
            </a:solidFill>
            <a:prstDash val="solid"/>
          </a:ln>
          <a:effectLst>
            <a:outerShdw sx="100000" sy="100000" kx="0" ky="0" algn="bl" rotWithShape="0" blurRad="127000" dist="38100" dir="8100000">
              <a:srgbClr val="000000">
                <a:alpha val="25000"/>
              </a:srgbClr>
            </a:outerShdw>
          </a:effectLst>
        </p:spPr>
      </p:sp>
      <p:sp>
        <p:nvSpPr>
          <p:cNvPr id="7" name="Shape 5"/>
          <p:cNvSpPr/>
          <p:nvPr/>
        </p:nvSpPr>
        <p:spPr>
          <a:xfrm>
            <a:off x="228600" y="960120"/>
            <a:ext cx="1965960" cy="64008"/>
          </a:xfrm>
          <a:prstGeom prst="rect">
            <a:avLst/>
          </a:prstGeom>
          <a:solidFill>
            <a:srgbClr val="F59E0B"/>
          </a:solidFill>
          <a:ln w="12700">
            <a:solidFill>
              <a:srgbClr val="F59E0B"/>
            </a:solidFill>
            <a:prstDash val="solid"/>
          </a:ln>
        </p:spPr>
      </p:sp>
      <p:sp>
        <p:nvSpPr>
          <p:cNvPr id="8" name="Text 6"/>
          <p:cNvSpPr/>
          <p:nvPr/>
        </p:nvSpPr>
        <p:spPr>
          <a:xfrm>
            <a:off x="320040" y="1078992"/>
            <a:ext cx="1783080" cy="256032"/>
          </a:xfrm>
          <a:prstGeom prst="rect">
            <a:avLst/>
          </a:prstGeom>
          <a:noFill/>
          <a:ln/>
        </p:spPr>
        <p:txBody>
          <a:bodyPr wrap="square" lIns="0" tIns="0" rIns="0" bIns="0" rtlCol="0" anchor="ctr"/>
          <a:lstStyle/>
          <a:p>
            <a:pPr indent="0" marL="0">
              <a:buNone/>
            </a:pPr>
            <a:r>
              <a:rPr lang="en-US" sz="1000" b="1" dirty="0">
                <a:solidFill>
                  <a:srgbClr val="F59E0B"/>
                </a:solidFill>
              </a:rPr>
              <a:t>Stage 1</a:t>
            </a:r>
            <a:endParaRPr lang="en-US" sz="1000" dirty="0"/>
          </a:p>
        </p:txBody>
      </p:sp>
      <p:sp>
        <p:nvSpPr>
          <p:cNvPr id="9" name="Text 7"/>
          <p:cNvSpPr/>
          <p:nvPr/>
        </p:nvSpPr>
        <p:spPr>
          <a:xfrm>
            <a:off x="320040" y="1335024"/>
            <a:ext cx="1783080" cy="365760"/>
          </a:xfrm>
          <a:prstGeom prst="rect">
            <a:avLst/>
          </a:prstGeom>
          <a:noFill/>
          <a:ln/>
        </p:spPr>
        <p:txBody>
          <a:bodyPr wrap="square" lIns="0" tIns="0" rIns="0" bIns="0" rtlCol="0" anchor="ctr"/>
          <a:lstStyle/>
          <a:p>
            <a:pPr indent="0" marL="0">
              <a:lnSpc>
                <a:spcPct val="110000"/>
              </a:lnSpc>
              <a:buNone/>
            </a:pPr>
            <a:r>
              <a:rPr lang="en-US" sz="1450" b="1" dirty="0">
                <a:solidFill>
                  <a:srgbClr val="F8FAFC"/>
                </a:solidFill>
              </a:rPr>
              <a:t>Query Expansion</a:t>
            </a:r>
            <a:endParaRPr lang="en-US" sz="1450" dirty="0"/>
          </a:p>
        </p:txBody>
      </p:sp>
      <p:sp>
        <p:nvSpPr>
          <p:cNvPr id="10" name="Text 8"/>
          <p:cNvSpPr/>
          <p:nvPr/>
        </p:nvSpPr>
        <p:spPr>
          <a:xfrm>
            <a:off x="320040" y="1828800"/>
            <a:ext cx="1783080" cy="320040"/>
          </a:xfrm>
          <a:prstGeom prst="rect">
            <a:avLst/>
          </a:prstGeom>
          <a:noFill/>
          <a:ln/>
        </p:spPr>
        <p:txBody>
          <a:bodyPr wrap="square" lIns="0" tIns="0" rIns="0" bIns="0" rtlCol="0" anchor="ctr"/>
          <a:lstStyle/>
          <a:p>
            <a:pPr indent="0" marL="0">
              <a:buNone/>
            </a:pPr>
            <a:r>
              <a:rPr lang="en-US" sz="1100" b="1" dirty="0">
                <a:solidFill>
                  <a:srgbClr val="F59E0B"/>
                </a:solidFill>
              </a:rPr>
              <a:t>›  </a:t>
            </a:r>
            <a:pPr indent="0" marL="0">
              <a:buNone/>
            </a:pPr>
            <a:r>
              <a:rPr lang="en-US" sz="1100" dirty="0">
                <a:solidFill>
                  <a:srgbClr val="CBD5E1"/>
                </a:solidFill>
              </a:rPr>
              <a:t>WordNet synsets</a:t>
            </a:r>
            <a:endParaRPr lang="en-US" sz="1100" dirty="0"/>
          </a:p>
        </p:txBody>
      </p:sp>
      <p:sp>
        <p:nvSpPr>
          <p:cNvPr id="11" name="Text 9"/>
          <p:cNvSpPr/>
          <p:nvPr/>
        </p:nvSpPr>
        <p:spPr>
          <a:xfrm>
            <a:off x="320040" y="2176272"/>
            <a:ext cx="1783080" cy="320040"/>
          </a:xfrm>
          <a:prstGeom prst="rect">
            <a:avLst/>
          </a:prstGeom>
          <a:noFill/>
          <a:ln/>
        </p:spPr>
        <p:txBody>
          <a:bodyPr wrap="square" lIns="0" tIns="0" rIns="0" bIns="0" rtlCol="0" anchor="ctr"/>
          <a:lstStyle/>
          <a:p>
            <a:pPr indent="0" marL="0">
              <a:buNone/>
            </a:pPr>
            <a:r>
              <a:rPr lang="en-US" sz="1100" b="1" dirty="0">
                <a:solidFill>
                  <a:srgbClr val="F59E0B"/>
                </a:solidFill>
              </a:rPr>
              <a:t>›  </a:t>
            </a:r>
            <a:pPr indent="0" marL="0">
              <a:buNone/>
            </a:pPr>
            <a:r>
              <a:rPr lang="en-US" sz="1100" dirty="0">
                <a:solidFill>
                  <a:srgbClr val="CBD5E1"/>
                </a:solidFill>
              </a:rPr>
              <a:t>Top 3 senses per word</a:t>
            </a:r>
            <a:endParaRPr lang="en-US" sz="1100" dirty="0"/>
          </a:p>
        </p:txBody>
      </p:sp>
      <p:sp>
        <p:nvSpPr>
          <p:cNvPr id="12" name="Text 10"/>
          <p:cNvSpPr/>
          <p:nvPr/>
        </p:nvSpPr>
        <p:spPr>
          <a:xfrm>
            <a:off x="320040" y="2523744"/>
            <a:ext cx="1783080" cy="320040"/>
          </a:xfrm>
          <a:prstGeom prst="rect">
            <a:avLst/>
          </a:prstGeom>
          <a:noFill/>
          <a:ln/>
        </p:spPr>
        <p:txBody>
          <a:bodyPr wrap="square" lIns="0" tIns="0" rIns="0" bIns="0" rtlCol="0" anchor="ctr"/>
          <a:lstStyle/>
          <a:p>
            <a:pPr indent="0" marL="0">
              <a:buNone/>
            </a:pPr>
            <a:r>
              <a:rPr lang="en-US" sz="1100" b="1" dirty="0">
                <a:solidFill>
                  <a:srgbClr val="F59E0B"/>
                </a:solidFill>
              </a:rPr>
              <a:t>›  </a:t>
            </a:r>
            <a:pPr indent="0" marL="0">
              <a:buNone/>
            </a:pPr>
            <a:r>
              <a:rPr lang="en-US" sz="1100" dirty="0">
                <a:solidFill>
                  <a:srgbClr val="CBD5E1"/>
                </a:solidFill>
              </a:rPr>
              <a:t>Up to 6 synonyms/token</a:t>
            </a:r>
            <a:endParaRPr lang="en-US" sz="1100" dirty="0"/>
          </a:p>
        </p:txBody>
      </p:sp>
      <p:sp>
        <p:nvSpPr>
          <p:cNvPr id="13" name="Text 11"/>
          <p:cNvSpPr/>
          <p:nvPr/>
        </p:nvSpPr>
        <p:spPr>
          <a:xfrm>
            <a:off x="320040" y="2871216"/>
            <a:ext cx="1783080" cy="320040"/>
          </a:xfrm>
          <a:prstGeom prst="rect">
            <a:avLst/>
          </a:prstGeom>
          <a:noFill/>
          <a:ln/>
        </p:spPr>
        <p:txBody>
          <a:bodyPr wrap="square" lIns="0" tIns="0" rIns="0" bIns="0" rtlCol="0" anchor="ctr"/>
          <a:lstStyle/>
          <a:p>
            <a:pPr indent="0" marL="0">
              <a:buNone/>
            </a:pPr>
            <a:r>
              <a:rPr lang="en-US" sz="1100" b="1" dirty="0">
                <a:solidFill>
                  <a:srgbClr val="F59E0B"/>
                </a:solidFill>
              </a:rPr>
              <a:t>›  </a:t>
            </a:r>
            <a:pPr indent="0" marL="0">
              <a:buNone/>
            </a:pPr>
            <a:r>
              <a:rPr lang="en-US" sz="1100" dirty="0">
                <a:solidFill>
                  <a:srgbClr val="CBD5E1"/>
                </a:solidFill>
              </a:rPr>
              <a:t>Expands recall</a:t>
            </a:r>
            <a:endParaRPr lang="en-US" sz="1100" dirty="0"/>
          </a:p>
        </p:txBody>
      </p:sp>
      <p:sp>
        <p:nvSpPr>
          <p:cNvPr id="14" name="Shape 12"/>
          <p:cNvSpPr/>
          <p:nvPr/>
        </p:nvSpPr>
        <p:spPr>
          <a:xfrm>
            <a:off x="320040" y="3291840"/>
            <a:ext cx="1783080" cy="594360"/>
          </a:xfrm>
          <a:prstGeom prst="rect">
            <a:avLst/>
          </a:prstGeom>
          <a:solidFill>
            <a:srgbClr val="0D1117"/>
          </a:solidFill>
          <a:ln w="12700">
            <a:solidFill>
              <a:srgbClr val="F59E0B"/>
            </a:solidFill>
            <a:prstDash val="solid"/>
          </a:ln>
        </p:spPr>
      </p:sp>
      <p:sp>
        <p:nvSpPr>
          <p:cNvPr id="15" name="Text 13"/>
          <p:cNvSpPr/>
          <p:nvPr/>
        </p:nvSpPr>
        <p:spPr>
          <a:xfrm>
            <a:off x="320040" y="3291840"/>
            <a:ext cx="1783080" cy="594360"/>
          </a:xfrm>
          <a:prstGeom prst="rect">
            <a:avLst/>
          </a:prstGeom>
          <a:noFill/>
          <a:ln/>
        </p:spPr>
        <p:txBody>
          <a:bodyPr wrap="square" lIns="38100" tIns="38100" rIns="38100" bIns="38100" rtlCol="0" anchor="ctr"/>
          <a:lstStyle/>
          <a:p>
            <a:pPr algn="ctr" indent="0" marL="0">
              <a:buNone/>
            </a:pPr>
            <a:r>
              <a:rPr lang="en-US" sz="900" dirty="0">
                <a:solidFill>
                  <a:srgbClr val="F59E0B"/>
                </a:solidFill>
                <a:latin typeface="Consolas" pitchFamily="34" charset="0"/>
                <a:ea typeface="Consolas" pitchFamily="34" charset="-122"/>
                <a:cs typeface="Consolas" pitchFamily="34" charset="-120"/>
              </a:rPr>
              <a:t>"cat" → "cat feline kitty felid"</a:t>
            </a:r>
            <a:endParaRPr lang="en-US" sz="900" dirty="0"/>
          </a:p>
        </p:txBody>
      </p:sp>
      <p:sp>
        <p:nvSpPr>
          <p:cNvPr id="16" name="Shape 14"/>
          <p:cNvSpPr/>
          <p:nvPr/>
        </p:nvSpPr>
        <p:spPr>
          <a:xfrm>
            <a:off x="2194560" y="2743200"/>
            <a:ext cx="210312" cy="0"/>
          </a:xfrm>
          <a:prstGeom prst="line">
            <a:avLst/>
          </a:prstGeom>
          <a:noFill/>
          <a:ln w="19050">
            <a:solidFill>
              <a:srgbClr val="94A3B8"/>
            </a:solidFill>
            <a:prstDash val="sysDash"/>
          </a:ln>
        </p:spPr>
      </p:sp>
      <p:sp>
        <p:nvSpPr>
          <p:cNvPr id="17" name="Shape 15"/>
          <p:cNvSpPr/>
          <p:nvPr/>
        </p:nvSpPr>
        <p:spPr>
          <a:xfrm>
            <a:off x="2404872" y="960120"/>
            <a:ext cx="1965960" cy="3520440"/>
          </a:xfrm>
          <a:prstGeom prst="rect">
            <a:avLst/>
          </a:prstGeom>
          <a:solidFill>
            <a:srgbClr val="1F2937"/>
          </a:solidFill>
          <a:ln w="19050">
            <a:solidFill>
              <a:srgbClr val="0D9488"/>
            </a:solidFill>
            <a:prstDash val="solid"/>
          </a:ln>
          <a:effectLst>
            <a:outerShdw sx="100000" sy="100000" kx="0" ky="0" algn="bl" rotWithShape="0" blurRad="127000" dist="38100" dir="8100000">
              <a:srgbClr val="000000">
                <a:alpha val="25000"/>
              </a:srgbClr>
            </a:outerShdw>
          </a:effectLst>
        </p:spPr>
      </p:sp>
      <p:sp>
        <p:nvSpPr>
          <p:cNvPr id="18" name="Shape 16"/>
          <p:cNvSpPr/>
          <p:nvPr/>
        </p:nvSpPr>
        <p:spPr>
          <a:xfrm>
            <a:off x="2404872" y="960120"/>
            <a:ext cx="1965960" cy="64008"/>
          </a:xfrm>
          <a:prstGeom prst="rect">
            <a:avLst/>
          </a:prstGeom>
          <a:solidFill>
            <a:srgbClr val="0D9488"/>
          </a:solidFill>
          <a:ln w="12700">
            <a:solidFill>
              <a:srgbClr val="0D9488"/>
            </a:solidFill>
            <a:prstDash val="solid"/>
          </a:ln>
        </p:spPr>
      </p:sp>
      <p:sp>
        <p:nvSpPr>
          <p:cNvPr id="19" name="Text 17"/>
          <p:cNvSpPr/>
          <p:nvPr/>
        </p:nvSpPr>
        <p:spPr>
          <a:xfrm>
            <a:off x="2496312" y="1078992"/>
            <a:ext cx="1783080" cy="256032"/>
          </a:xfrm>
          <a:prstGeom prst="rect">
            <a:avLst/>
          </a:prstGeom>
          <a:noFill/>
          <a:ln/>
        </p:spPr>
        <p:txBody>
          <a:bodyPr wrap="square" lIns="0" tIns="0" rIns="0" bIns="0" rtlCol="0" anchor="ctr"/>
          <a:lstStyle/>
          <a:p>
            <a:pPr indent="0" marL="0">
              <a:buNone/>
            </a:pPr>
            <a:r>
              <a:rPr lang="en-US" sz="1000" b="1" dirty="0">
                <a:solidFill>
                  <a:srgbClr val="0D9488"/>
                </a:solidFill>
              </a:rPr>
              <a:t>Stage 2a</a:t>
            </a:r>
            <a:endParaRPr lang="en-US" sz="1000" dirty="0"/>
          </a:p>
        </p:txBody>
      </p:sp>
      <p:sp>
        <p:nvSpPr>
          <p:cNvPr id="20" name="Text 18"/>
          <p:cNvSpPr/>
          <p:nvPr/>
        </p:nvSpPr>
        <p:spPr>
          <a:xfrm>
            <a:off x="2496312" y="1335024"/>
            <a:ext cx="1783080" cy="365760"/>
          </a:xfrm>
          <a:prstGeom prst="rect">
            <a:avLst/>
          </a:prstGeom>
          <a:noFill/>
          <a:ln/>
        </p:spPr>
        <p:txBody>
          <a:bodyPr wrap="square" lIns="0" tIns="0" rIns="0" bIns="0" rtlCol="0" anchor="ctr"/>
          <a:lstStyle/>
          <a:p>
            <a:pPr indent="0" marL="0">
              <a:lnSpc>
                <a:spcPct val="110000"/>
              </a:lnSpc>
              <a:buNone/>
            </a:pPr>
            <a:r>
              <a:rPr lang="en-US" sz="1450" b="1" dirty="0">
                <a:solidFill>
                  <a:srgbClr val="F8FAFC"/>
                </a:solidFill>
              </a:rPr>
              <a:t>BM25 Scoring</a:t>
            </a:r>
            <a:endParaRPr lang="en-US" sz="1450" dirty="0"/>
          </a:p>
        </p:txBody>
      </p:sp>
      <p:sp>
        <p:nvSpPr>
          <p:cNvPr id="21" name="Text 19"/>
          <p:cNvSpPr/>
          <p:nvPr/>
        </p:nvSpPr>
        <p:spPr>
          <a:xfrm>
            <a:off x="2496312" y="1828800"/>
            <a:ext cx="1783080" cy="320040"/>
          </a:xfrm>
          <a:prstGeom prst="rect">
            <a:avLst/>
          </a:prstGeom>
          <a:noFill/>
          <a:ln/>
        </p:spPr>
        <p:txBody>
          <a:bodyPr wrap="square" lIns="0" tIns="0" rIns="0" bIns="0" rtlCol="0" anchor="ctr"/>
          <a:lstStyle/>
          <a:p>
            <a:pPr indent="0" marL="0">
              <a:buNone/>
            </a:pPr>
            <a:r>
              <a:rPr lang="en-US" sz="1100" b="1" dirty="0">
                <a:solidFill>
                  <a:srgbClr val="0D9488"/>
                </a:solidFill>
              </a:rPr>
              <a:t>›  </a:t>
            </a:r>
            <a:pPr indent="0" marL="0">
              <a:buNone/>
            </a:pPr>
            <a:r>
              <a:rPr lang="en-US" sz="1100" dirty="0">
                <a:solidFill>
                  <a:srgbClr val="CBD5E1"/>
                </a:solidFill>
              </a:rPr>
              <a:t>Tokenise expanded query</a:t>
            </a:r>
            <a:endParaRPr lang="en-US" sz="1100" dirty="0"/>
          </a:p>
        </p:txBody>
      </p:sp>
      <p:sp>
        <p:nvSpPr>
          <p:cNvPr id="22" name="Text 20"/>
          <p:cNvSpPr/>
          <p:nvPr/>
        </p:nvSpPr>
        <p:spPr>
          <a:xfrm>
            <a:off x="2496312" y="2176272"/>
            <a:ext cx="1783080" cy="320040"/>
          </a:xfrm>
          <a:prstGeom prst="rect">
            <a:avLst/>
          </a:prstGeom>
          <a:noFill/>
          <a:ln/>
        </p:spPr>
        <p:txBody>
          <a:bodyPr wrap="square" lIns="0" tIns="0" rIns="0" bIns="0" rtlCol="0" anchor="ctr"/>
          <a:lstStyle/>
          <a:p>
            <a:pPr indent="0" marL="0">
              <a:buNone/>
            </a:pPr>
            <a:r>
              <a:rPr lang="en-US" sz="1100" b="1" dirty="0">
                <a:solidFill>
                  <a:srgbClr val="0D9488"/>
                </a:solidFill>
              </a:rPr>
              <a:t>›  </a:t>
            </a:r>
            <a:pPr indent="0" marL="0">
              <a:buNone/>
            </a:pPr>
            <a:r>
              <a:rPr lang="en-US" sz="1100" dirty="0">
                <a:solidFill>
                  <a:srgbClr val="CBD5E1"/>
                </a:solidFill>
              </a:rPr>
              <a:t>Compute BM25 scores</a:t>
            </a:r>
            <a:endParaRPr lang="en-US" sz="1100" dirty="0"/>
          </a:p>
        </p:txBody>
      </p:sp>
      <p:sp>
        <p:nvSpPr>
          <p:cNvPr id="23" name="Text 21"/>
          <p:cNvSpPr/>
          <p:nvPr/>
        </p:nvSpPr>
        <p:spPr>
          <a:xfrm>
            <a:off x="2496312" y="2523744"/>
            <a:ext cx="1783080" cy="320040"/>
          </a:xfrm>
          <a:prstGeom prst="rect">
            <a:avLst/>
          </a:prstGeom>
          <a:noFill/>
          <a:ln/>
        </p:spPr>
        <p:txBody>
          <a:bodyPr wrap="square" lIns="0" tIns="0" rIns="0" bIns="0" rtlCol="0" anchor="ctr"/>
          <a:lstStyle/>
          <a:p>
            <a:pPr indent="0" marL="0">
              <a:buNone/>
            </a:pPr>
            <a:r>
              <a:rPr lang="en-US" sz="1100" b="1" dirty="0">
                <a:solidFill>
                  <a:srgbClr val="0D9488"/>
                </a:solidFill>
              </a:rPr>
              <a:t>›  </a:t>
            </a:r>
            <a:pPr indent="0" marL="0">
              <a:buNone/>
            </a:pPr>
            <a:r>
              <a:rPr lang="en-US" sz="1100" dirty="0">
                <a:solidFill>
                  <a:srgbClr val="CBD5E1"/>
                </a:solidFill>
              </a:rPr>
              <a:t>Normalise to [0,1]</a:t>
            </a:r>
            <a:endParaRPr lang="en-US" sz="1100" dirty="0"/>
          </a:p>
        </p:txBody>
      </p:sp>
      <p:sp>
        <p:nvSpPr>
          <p:cNvPr id="24" name="Text 22"/>
          <p:cNvSpPr/>
          <p:nvPr/>
        </p:nvSpPr>
        <p:spPr>
          <a:xfrm>
            <a:off x="2496312" y="2871216"/>
            <a:ext cx="1783080" cy="320040"/>
          </a:xfrm>
          <a:prstGeom prst="rect">
            <a:avLst/>
          </a:prstGeom>
          <a:noFill/>
          <a:ln/>
        </p:spPr>
        <p:txBody>
          <a:bodyPr wrap="square" lIns="0" tIns="0" rIns="0" bIns="0" rtlCol="0" anchor="ctr"/>
          <a:lstStyle/>
          <a:p>
            <a:pPr indent="0" marL="0">
              <a:buNone/>
            </a:pPr>
            <a:r>
              <a:rPr lang="en-US" sz="1100" b="1" dirty="0">
                <a:solidFill>
                  <a:srgbClr val="0D9488"/>
                </a:solidFill>
              </a:rPr>
              <a:t>›  </a:t>
            </a:r>
            <a:pPr indent="0" marL="0">
              <a:buNone/>
            </a:pPr>
            <a:r>
              <a:rPr lang="en-US" sz="1100" dirty="0">
                <a:solidFill>
                  <a:srgbClr val="CBD5E1"/>
                </a:solidFill>
              </a:rPr>
              <a:t>Lexical ranking</a:t>
            </a:r>
            <a:endParaRPr lang="en-US" sz="1100" dirty="0"/>
          </a:p>
        </p:txBody>
      </p:sp>
      <p:sp>
        <p:nvSpPr>
          <p:cNvPr id="25" name="Shape 23"/>
          <p:cNvSpPr/>
          <p:nvPr/>
        </p:nvSpPr>
        <p:spPr>
          <a:xfrm>
            <a:off x="2496312" y="3291840"/>
            <a:ext cx="1783080" cy="594360"/>
          </a:xfrm>
          <a:prstGeom prst="rect">
            <a:avLst/>
          </a:prstGeom>
          <a:solidFill>
            <a:srgbClr val="0D1117"/>
          </a:solidFill>
          <a:ln w="12700">
            <a:solidFill>
              <a:srgbClr val="0D9488"/>
            </a:solidFill>
            <a:prstDash val="solid"/>
          </a:ln>
        </p:spPr>
      </p:sp>
      <p:sp>
        <p:nvSpPr>
          <p:cNvPr id="26" name="Text 24"/>
          <p:cNvSpPr/>
          <p:nvPr/>
        </p:nvSpPr>
        <p:spPr>
          <a:xfrm>
            <a:off x="2496312" y="3291840"/>
            <a:ext cx="1783080" cy="594360"/>
          </a:xfrm>
          <a:prstGeom prst="rect">
            <a:avLst/>
          </a:prstGeom>
          <a:noFill/>
          <a:ln/>
        </p:spPr>
        <p:txBody>
          <a:bodyPr wrap="square" lIns="38100" tIns="38100" rIns="38100" bIns="38100" rtlCol="0" anchor="ctr"/>
          <a:lstStyle/>
          <a:p>
            <a:pPr algn="ctr" indent="0" marL="0">
              <a:buNone/>
            </a:pPr>
            <a:r>
              <a:rPr lang="en-US" sz="900" dirty="0">
                <a:solidFill>
                  <a:srgbClr val="0D9488"/>
                </a:solidFill>
                <a:latin typeface="Consolas" pitchFamily="34" charset="0"/>
                <a:ea typeface="Consolas" pitchFamily="34" charset="-122"/>
                <a:cs typeface="Consolas" pitchFamily="34" charset="-120"/>
              </a:rPr>
              <a:t>rank_bm25.BM25Okapi(tokenized)</a:t>
            </a:r>
            <a:endParaRPr lang="en-US" sz="900" dirty="0"/>
          </a:p>
        </p:txBody>
      </p:sp>
      <p:sp>
        <p:nvSpPr>
          <p:cNvPr id="27" name="Shape 25"/>
          <p:cNvSpPr/>
          <p:nvPr/>
        </p:nvSpPr>
        <p:spPr>
          <a:xfrm>
            <a:off x="4370832" y="2743200"/>
            <a:ext cx="210312" cy="0"/>
          </a:xfrm>
          <a:prstGeom prst="line">
            <a:avLst/>
          </a:prstGeom>
          <a:noFill/>
          <a:ln w="19050">
            <a:solidFill>
              <a:srgbClr val="94A3B8"/>
            </a:solidFill>
            <a:prstDash val="sysDash"/>
          </a:ln>
        </p:spPr>
      </p:sp>
      <p:sp>
        <p:nvSpPr>
          <p:cNvPr id="28" name="Shape 26"/>
          <p:cNvSpPr/>
          <p:nvPr/>
        </p:nvSpPr>
        <p:spPr>
          <a:xfrm>
            <a:off x="4581144" y="960120"/>
            <a:ext cx="1965960" cy="3520440"/>
          </a:xfrm>
          <a:prstGeom prst="rect">
            <a:avLst/>
          </a:prstGeom>
          <a:solidFill>
            <a:srgbClr val="1F2937"/>
          </a:solidFill>
          <a:ln w="19050">
            <a:solidFill>
              <a:srgbClr val="10B981"/>
            </a:solidFill>
            <a:prstDash val="solid"/>
          </a:ln>
          <a:effectLst>
            <a:outerShdw sx="100000" sy="100000" kx="0" ky="0" algn="bl" rotWithShape="0" blurRad="127000" dist="38100" dir="8100000">
              <a:srgbClr val="000000">
                <a:alpha val="25000"/>
              </a:srgbClr>
            </a:outerShdw>
          </a:effectLst>
        </p:spPr>
      </p:sp>
      <p:sp>
        <p:nvSpPr>
          <p:cNvPr id="29" name="Shape 27"/>
          <p:cNvSpPr/>
          <p:nvPr/>
        </p:nvSpPr>
        <p:spPr>
          <a:xfrm>
            <a:off x="4581144" y="960120"/>
            <a:ext cx="1965960" cy="64008"/>
          </a:xfrm>
          <a:prstGeom prst="rect">
            <a:avLst/>
          </a:prstGeom>
          <a:solidFill>
            <a:srgbClr val="10B981"/>
          </a:solidFill>
          <a:ln w="12700">
            <a:solidFill>
              <a:srgbClr val="10B981"/>
            </a:solidFill>
            <a:prstDash val="solid"/>
          </a:ln>
        </p:spPr>
      </p:sp>
      <p:sp>
        <p:nvSpPr>
          <p:cNvPr id="30" name="Text 28"/>
          <p:cNvSpPr/>
          <p:nvPr/>
        </p:nvSpPr>
        <p:spPr>
          <a:xfrm>
            <a:off x="4672584" y="1078992"/>
            <a:ext cx="1783080" cy="256032"/>
          </a:xfrm>
          <a:prstGeom prst="rect">
            <a:avLst/>
          </a:prstGeom>
          <a:noFill/>
          <a:ln/>
        </p:spPr>
        <p:txBody>
          <a:bodyPr wrap="square" lIns="0" tIns="0" rIns="0" bIns="0" rtlCol="0" anchor="ctr"/>
          <a:lstStyle/>
          <a:p>
            <a:pPr indent="0" marL="0">
              <a:buNone/>
            </a:pPr>
            <a:r>
              <a:rPr lang="en-US" sz="1000" b="1" dirty="0">
                <a:solidFill>
                  <a:srgbClr val="10B981"/>
                </a:solidFill>
              </a:rPr>
              <a:t>Stage 2b</a:t>
            </a:r>
            <a:endParaRPr lang="en-US" sz="1000" dirty="0"/>
          </a:p>
        </p:txBody>
      </p:sp>
      <p:sp>
        <p:nvSpPr>
          <p:cNvPr id="31" name="Text 29"/>
          <p:cNvSpPr/>
          <p:nvPr/>
        </p:nvSpPr>
        <p:spPr>
          <a:xfrm>
            <a:off x="4672584" y="1335024"/>
            <a:ext cx="1783080" cy="365760"/>
          </a:xfrm>
          <a:prstGeom prst="rect">
            <a:avLst/>
          </a:prstGeom>
          <a:noFill/>
          <a:ln/>
        </p:spPr>
        <p:txBody>
          <a:bodyPr wrap="square" lIns="0" tIns="0" rIns="0" bIns="0" rtlCol="0" anchor="ctr"/>
          <a:lstStyle/>
          <a:p>
            <a:pPr indent="0" marL="0">
              <a:lnSpc>
                <a:spcPct val="110000"/>
              </a:lnSpc>
              <a:buNone/>
            </a:pPr>
            <a:r>
              <a:rPr lang="en-US" sz="1450" b="1" dirty="0">
                <a:solidFill>
                  <a:srgbClr val="F8FAFC"/>
                </a:solidFill>
              </a:rPr>
              <a:t>Neural Scoring</a:t>
            </a:r>
            <a:endParaRPr lang="en-US" sz="1450" dirty="0"/>
          </a:p>
        </p:txBody>
      </p:sp>
      <p:sp>
        <p:nvSpPr>
          <p:cNvPr id="32" name="Text 30"/>
          <p:cNvSpPr/>
          <p:nvPr/>
        </p:nvSpPr>
        <p:spPr>
          <a:xfrm>
            <a:off x="4672584" y="1828800"/>
            <a:ext cx="1783080" cy="320040"/>
          </a:xfrm>
          <a:prstGeom prst="rect">
            <a:avLst/>
          </a:prstGeom>
          <a:noFill/>
          <a:ln/>
        </p:spPr>
        <p:txBody>
          <a:bodyPr wrap="square" lIns="0" tIns="0" rIns="0" bIns="0" rtlCol="0" anchor="ctr"/>
          <a:lstStyle/>
          <a:p>
            <a:pPr indent="0" marL="0">
              <a:buNone/>
            </a:pPr>
            <a:r>
              <a:rPr lang="en-US" sz="1100" b="1" dirty="0">
                <a:solidFill>
                  <a:srgbClr val="10B981"/>
                </a:solidFill>
              </a:rPr>
              <a:t>›  </a:t>
            </a:r>
            <a:pPr indent="0" marL="0">
              <a:buNone/>
            </a:pPr>
            <a:r>
              <a:rPr lang="en-US" sz="1100" dirty="0">
                <a:solidFill>
                  <a:srgbClr val="CBD5E1"/>
                </a:solidFill>
              </a:rPr>
              <a:t>Encode query → embedding</a:t>
            </a:r>
            <a:endParaRPr lang="en-US" sz="1100" dirty="0"/>
          </a:p>
        </p:txBody>
      </p:sp>
      <p:sp>
        <p:nvSpPr>
          <p:cNvPr id="33" name="Text 31"/>
          <p:cNvSpPr/>
          <p:nvPr/>
        </p:nvSpPr>
        <p:spPr>
          <a:xfrm>
            <a:off x="4672584" y="2176272"/>
            <a:ext cx="1783080" cy="320040"/>
          </a:xfrm>
          <a:prstGeom prst="rect">
            <a:avLst/>
          </a:prstGeom>
          <a:noFill/>
          <a:ln/>
        </p:spPr>
        <p:txBody>
          <a:bodyPr wrap="square" lIns="0" tIns="0" rIns="0" bIns="0" rtlCol="0" anchor="ctr"/>
          <a:lstStyle/>
          <a:p>
            <a:pPr indent="0" marL="0">
              <a:buNone/>
            </a:pPr>
            <a:r>
              <a:rPr lang="en-US" sz="1100" b="1" dirty="0">
                <a:solidFill>
                  <a:srgbClr val="10B981"/>
                </a:solidFill>
              </a:rPr>
              <a:t>›  </a:t>
            </a:r>
            <a:pPr indent="0" marL="0">
              <a:buNone/>
            </a:pPr>
            <a:r>
              <a:rPr lang="en-US" sz="1100" dirty="0">
                <a:solidFill>
                  <a:srgbClr val="CBD5E1"/>
                </a:solidFill>
              </a:rPr>
              <a:t>FAISS dot product search</a:t>
            </a:r>
            <a:endParaRPr lang="en-US" sz="1100" dirty="0"/>
          </a:p>
        </p:txBody>
      </p:sp>
      <p:sp>
        <p:nvSpPr>
          <p:cNvPr id="34" name="Text 32"/>
          <p:cNvSpPr/>
          <p:nvPr/>
        </p:nvSpPr>
        <p:spPr>
          <a:xfrm>
            <a:off x="4672584" y="2523744"/>
            <a:ext cx="1783080" cy="320040"/>
          </a:xfrm>
          <a:prstGeom prst="rect">
            <a:avLst/>
          </a:prstGeom>
          <a:noFill/>
          <a:ln/>
        </p:spPr>
        <p:txBody>
          <a:bodyPr wrap="square" lIns="0" tIns="0" rIns="0" bIns="0" rtlCol="0" anchor="ctr"/>
          <a:lstStyle/>
          <a:p>
            <a:pPr indent="0" marL="0">
              <a:buNone/>
            </a:pPr>
            <a:r>
              <a:rPr lang="en-US" sz="1100" b="1" dirty="0">
                <a:solidFill>
                  <a:srgbClr val="10B981"/>
                </a:solidFill>
              </a:rPr>
              <a:t>›  </a:t>
            </a:r>
            <a:pPr indent="0" marL="0">
              <a:buNone/>
            </a:pPr>
            <a:r>
              <a:rPr lang="en-US" sz="1100" dirty="0">
                <a:solidFill>
                  <a:srgbClr val="CBD5E1"/>
                </a:solidFill>
              </a:rPr>
              <a:t>Top-100 candidates</a:t>
            </a:r>
            <a:endParaRPr lang="en-US" sz="1100" dirty="0"/>
          </a:p>
        </p:txBody>
      </p:sp>
      <p:sp>
        <p:nvSpPr>
          <p:cNvPr id="35" name="Text 33"/>
          <p:cNvSpPr/>
          <p:nvPr/>
        </p:nvSpPr>
        <p:spPr>
          <a:xfrm>
            <a:off x="4672584" y="2871216"/>
            <a:ext cx="1783080" cy="320040"/>
          </a:xfrm>
          <a:prstGeom prst="rect">
            <a:avLst/>
          </a:prstGeom>
          <a:noFill/>
          <a:ln/>
        </p:spPr>
        <p:txBody>
          <a:bodyPr wrap="square" lIns="0" tIns="0" rIns="0" bIns="0" rtlCol="0" anchor="ctr"/>
          <a:lstStyle/>
          <a:p>
            <a:pPr indent="0" marL="0">
              <a:buNone/>
            </a:pPr>
            <a:r>
              <a:rPr lang="en-US" sz="1100" b="1" dirty="0">
                <a:solidFill>
                  <a:srgbClr val="10B981"/>
                </a:solidFill>
              </a:rPr>
              <a:t>›  </a:t>
            </a:r>
            <a:pPr indent="0" marL="0">
              <a:buNone/>
            </a:pPr>
            <a:r>
              <a:rPr lang="en-US" sz="1100" dirty="0">
                <a:solidFill>
                  <a:srgbClr val="CBD5E1"/>
                </a:solidFill>
              </a:rPr>
              <a:t>Semantic ranking</a:t>
            </a:r>
            <a:endParaRPr lang="en-US" sz="1100" dirty="0"/>
          </a:p>
        </p:txBody>
      </p:sp>
      <p:sp>
        <p:nvSpPr>
          <p:cNvPr id="36" name="Shape 34"/>
          <p:cNvSpPr/>
          <p:nvPr/>
        </p:nvSpPr>
        <p:spPr>
          <a:xfrm>
            <a:off x="4672584" y="3291840"/>
            <a:ext cx="1783080" cy="594360"/>
          </a:xfrm>
          <a:prstGeom prst="rect">
            <a:avLst/>
          </a:prstGeom>
          <a:solidFill>
            <a:srgbClr val="0D1117"/>
          </a:solidFill>
          <a:ln w="12700">
            <a:solidFill>
              <a:srgbClr val="10B981"/>
            </a:solidFill>
            <a:prstDash val="solid"/>
          </a:ln>
        </p:spPr>
      </p:sp>
      <p:sp>
        <p:nvSpPr>
          <p:cNvPr id="37" name="Text 35"/>
          <p:cNvSpPr/>
          <p:nvPr/>
        </p:nvSpPr>
        <p:spPr>
          <a:xfrm>
            <a:off x="4672584" y="3291840"/>
            <a:ext cx="1783080" cy="594360"/>
          </a:xfrm>
          <a:prstGeom prst="rect">
            <a:avLst/>
          </a:prstGeom>
          <a:noFill/>
          <a:ln/>
        </p:spPr>
        <p:txBody>
          <a:bodyPr wrap="square" lIns="38100" tIns="38100" rIns="38100" bIns="38100" rtlCol="0" anchor="ctr"/>
          <a:lstStyle/>
          <a:p>
            <a:pPr algn="ctr" indent="0" marL="0">
              <a:buNone/>
            </a:pPr>
            <a:r>
              <a:rPr lang="en-US" sz="900" dirty="0">
                <a:solidFill>
                  <a:srgbClr val="10B981"/>
                </a:solidFill>
                <a:latin typeface="Consolas" pitchFamily="34" charset="0"/>
                <a:ea typeface="Consolas" pitchFamily="34" charset="-122"/>
                <a:cs typeface="Consolas" pitchFamily="34" charset="-120"/>
              </a:rPr>
              <a:t>SentenceTransformer → FAISS</a:t>
            </a:r>
            <a:endParaRPr lang="en-US" sz="900" dirty="0"/>
          </a:p>
        </p:txBody>
      </p:sp>
      <p:sp>
        <p:nvSpPr>
          <p:cNvPr id="38" name="Shape 36"/>
          <p:cNvSpPr/>
          <p:nvPr/>
        </p:nvSpPr>
        <p:spPr>
          <a:xfrm>
            <a:off x="6547104" y="2743200"/>
            <a:ext cx="210312" cy="0"/>
          </a:xfrm>
          <a:prstGeom prst="line">
            <a:avLst/>
          </a:prstGeom>
          <a:noFill/>
          <a:ln w="19050">
            <a:solidFill>
              <a:srgbClr val="94A3B8"/>
            </a:solidFill>
            <a:prstDash val="sysDash"/>
          </a:ln>
        </p:spPr>
      </p:sp>
      <p:sp>
        <p:nvSpPr>
          <p:cNvPr id="39" name="Shape 37"/>
          <p:cNvSpPr/>
          <p:nvPr/>
        </p:nvSpPr>
        <p:spPr>
          <a:xfrm>
            <a:off x="6757416" y="960120"/>
            <a:ext cx="1965960" cy="3520440"/>
          </a:xfrm>
          <a:prstGeom prst="rect">
            <a:avLst/>
          </a:prstGeom>
          <a:solidFill>
            <a:srgbClr val="1F2937"/>
          </a:solidFill>
          <a:ln w="19050">
            <a:solidFill>
              <a:srgbClr val="F43F5E"/>
            </a:solidFill>
            <a:prstDash val="solid"/>
          </a:ln>
          <a:effectLst>
            <a:outerShdw sx="100000" sy="100000" kx="0" ky="0" algn="bl" rotWithShape="0" blurRad="127000" dist="38100" dir="8100000">
              <a:srgbClr val="000000">
                <a:alpha val="25000"/>
              </a:srgbClr>
            </a:outerShdw>
          </a:effectLst>
        </p:spPr>
      </p:sp>
      <p:sp>
        <p:nvSpPr>
          <p:cNvPr id="40" name="Shape 38"/>
          <p:cNvSpPr/>
          <p:nvPr/>
        </p:nvSpPr>
        <p:spPr>
          <a:xfrm>
            <a:off x="6757416" y="960120"/>
            <a:ext cx="1965960" cy="64008"/>
          </a:xfrm>
          <a:prstGeom prst="rect">
            <a:avLst/>
          </a:prstGeom>
          <a:solidFill>
            <a:srgbClr val="F43F5E"/>
          </a:solidFill>
          <a:ln w="12700">
            <a:solidFill>
              <a:srgbClr val="F43F5E"/>
            </a:solidFill>
            <a:prstDash val="solid"/>
          </a:ln>
        </p:spPr>
      </p:sp>
      <p:sp>
        <p:nvSpPr>
          <p:cNvPr id="41" name="Text 39"/>
          <p:cNvSpPr/>
          <p:nvPr/>
        </p:nvSpPr>
        <p:spPr>
          <a:xfrm>
            <a:off x="6848856" y="1078992"/>
            <a:ext cx="1783080" cy="256032"/>
          </a:xfrm>
          <a:prstGeom prst="rect">
            <a:avLst/>
          </a:prstGeom>
          <a:noFill/>
          <a:ln/>
        </p:spPr>
        <p:txBody>
          <a:bodyPr wrap="square" lIns="0" tIns="0" rIns="0" bIns="0" rtlCol="0" anchor="ctr"/>
          <a:lstStyle/>
          <a:p>
            <a:pPr indent="0" marL="0">
              <a:buNone/>
            </a:pPr>
            <a:r>
              <a:rPr lang="en-US" sz="1000" b="1" dirty="0">
                <a:solidFill>
                  <a:srgbClr val="F43F5E"/>
                </a:solidFill>
              </a:rPr>
              <a:t>Stage 3</a:t>
            </a:r>
            <a:endParaRPr lang="en-US" sz="1000" dirty="0"/>
          </a:p>
        </p:txBody>
      </p:sp>
      <p:sp>
        <p:nvSpPr>
          <p:cNvPr id="42" name="Text 40"/>
          <p:cNvSpPr/>
          <p:nvPr/>
        </p:nvSpPr>
        <p:spPr>
          <a:xfrm>
            <a:off x="6848856" y="1335024"/>
            <a:ext cx="1783080" cy="365760"/>
          </a:xfrm>
          <a:prstGeom prst="rect">
            <a:avLst/>
          </a:prstGeom>
          <a:noFill/>
          <a:ln/>
        </p:spPr>
        <p:txBody>
          <a:bodyPr wrap="square" lIns="0" tIns="0" rIns="0" bIns="0" rtlCol="0" anchor="ctr"/>
          <a:lstStyle/>
          <a:p>
            <a:pPr indent="0" marL="0">
              <a:lnSpc>
                <a:spcPct val="110000"/>
              </a:lnSpc>
              <a:buNone/>
            </a:pPr>
            <a:r>
              <a:rPr lang="en-US" sz="1450" b="1" dirty="0">
                <a:solidFill>
                  <a:srgbClr val="F8FAFC"/>
                </a:solidFill>
              </a:rPr>
              <a:t>RRF Fusion</a:t>
            </a:r>
            <a:endParaRPr lang="en-US" sz="1450" dirty="0"/>
          </a:p>
        </p:txBody>
      </p:sp>
      <p:sp>
        <p:nvSpPr>
          <p:cNvPr id="43" name="Text 41"/>
          <p:cNvSpPr/>
          <p:nvPr/>
        </p:nvSpPr>
        <p:spPr>
          <a:xfrm>
            <a:off x="6848856" y="1828800"/>
            <a:ext cx="1783080" cy="320040"/>
          </a:xfrm>
          <a:prstGeom prst="rect">
            <a:avLst/>
          </a:prstGeom>
          <a:noFill/>
          <a:ln/>
        </p:spPr>
        <p:txBody>
          <a:bodyPr wrap="square" lIns="0" tIns="0" rIns="0" bIns="0" rtlCol="0" anchor="ctr"/>
          <a:lstStyle/>
          <a:p>
            <a:pPr indent="0" marL="0">
              <a:buNone/>
            </a:pPr>
            <a:r>
              <a:rPr lang="en-US" sz="1100" b="1" dirty="0">
                <a:solidFill>
                  <a:srgbClr val="F43F5E"/>
                </a:solidFill>
              </a:rPr>
              <a:t>›  </a:t>
            </a:r>
            <a:pPr indent="0" marL="0">
              <a:buNone/>
            </a:pPr>
            <a:r>
              <a:rPr lang="en-US" sz="1100" dirty="0">
                <a:solidFill>
                  <a:srgbClr val="CBD5E1"/>
                </a:solidFill>
              </a:rPr>
              <a:t>Reciprocal Rank Fusion</a:t>
            </a:r>
            <a:endParaRPr lang="en-US" sz="1100" dirty="0"/>
          </a:p>
        </p:txBody>
      </p:sp>
      <p:sp>
        <p:nvSpPr>
          <p:cNvPr id="44" name="Text 42"/>
          <p:cNvSpPr/>
          <p:nvPr/>
        </p:nvSpPr>
        <p:spPr>
          <a:xfrm>
            <a:off x="6848856" y="2176272"/>
            <a:ext cx="1783080" cy="320040"/>
          </a:xfrm>
          <a:prstGeom prst="rect">
            <a:avLst/>
          </a:prstGeom>
          <a:noFill/>
          <a:ln/>
        </p:spPr>
        <p:txBody>
          <a:bodyPr wrap="square" lIns="0" tIns="0" rIns="0" bIns="0" rtlCol="0" anchor="ctr"/>
          <a:lstStyle/>
          <a:p>
            <a:pPr indent="0" marL="0">
              <a:buNone/>
            </a:pPr>
            <a:r>
              <a:rPr lang="en-US" sz="1100" b="1" dirty="0">
                <a:solidFill>
                  <a:srgbClr val="F43F5E"/>
                </a:solidFill>
              </a:rPr>
              <a:t>›  </a:t>
            </a:r>
            <a:pPr indent="0" marL="0">
              <a:buNone/>
            </a:pPr>
            <a:r>
              <a:rPr lang="en-US" sz="1100" dirty="0">
                <a:solidFill>
                  <a:srgbClr val="CBD5E1"/>
                </a:solidFill>
              </a:rPr>
              <a:t>k=60 smoothing factor</a:t>
            </a:r>
            <a:endParaRPr lang="en-US" sz="1100" dirty="0"/>
          </a:p>
        </p:txBody>
      </p:sp>
      <p:sp>
        <p:nvSpPr>
          <p:cNvPr id="45" name="Text 43"/>
          <p:cNvSpPr/>
          <p:nvPr/>
        </p:nvSpPr>
        <p:spPr>
          <a:xfrm>
            <a:off x="6848856" y="2523744"/>
            <a:ext cx="1783080" cy="320040"/>
          </a:xfrm>
          <a:prstGeom prst="rect">
            <a:avLst/>
          </a:prstGeom>
          <a:noFill/>
          <a:ln/>
        </p:spPr>
        <p:txBody>
          <a:bodyPr wrap="square" lIns="0" tIns="0" rIns="0" bIns="0" rtlCol="0" anchor="ctr"/>
          <a:lstStyle/>
          <a:p>
            <a:pPr indent="0" marL="0">
              <a:buNone/>
            </a:pPr>
            <a:r>
              <a:rPr lang="en-US" sz="1100" b="1" dirty="0">
                <a:solidFill>
                  <a:srgbClr val="F43F5E"/>
                </a:solidFill>
              </a:rPr>
              <a:t>›  </a:t>
            </a:r>
            <a:pPr indent="0" marL="0">
              <a:buNone/>
            </a:pPr>
            <a:r>
              <a:rPr lang="en-US" sz="1100" dirty="0">
                <a:solidFill>
                  <a:srgbClr val="CBD5E1"/>
                </a:solidFill>
              </a:rPr>
              <a:t>Blend BM25 + Neural</a:t>
            </a:r>
            <a:endParaRPr lang="en-US" sz="1100" dirty="0"/>
          </a:p>
        </p:txBody>
      </p:sp>
      <p:sp>
        <p:nvSpPr>
          <p:cNvPr id="46" name="Text 44"/>
          <p:cNvSpPr/>
          <p:nvPr/>
        </p:nvSpPr>
        <p:spPr>
          <a:xfrm>
            <a:off x="6848856" y="2871216"/>
            <a:ext cx="1783080" cy="320040"/>
          </a:xfrm>
          <a:prstGeom prst="rect">
            <a:avLst/>
          </a:prstGeom>
          <a:noFill/>
          <a:ln/>
        </p:spPr>
        <p:txBody>
          <a:bodyPr wrap="square" lIns="0" tIns="0" rIns="0" bIns="0" rtlCol="0" anchor="ctr"/>
          <a:lstStyle/>
          <a:p>
            <a:pPr indent="0" marL="0">
              <a:buNone/>
            </a:pPr>
            <a:r>
              <a:rPr lang="en-US" sz="1100" b="1" dirty="0">
                <a:solidFill>
                  <a:srgbClr val="F43F5E"/>
                </a:solidFill>
              </a:rPr>
              <a:t>›  </a:t>
            </a:r>
            <a:pPr indent="0" marL="0">
              <a:buNone/>
            </a:pPr>
            <a:r>
              <a:rPr lang="en-US" sz="1100" dirty="0">
                <a:solidFill>
                  <a:srgbClr val="CBD5E1"/>
                </a:solidFill>
              </a:rPr>
              <a:t>Final ranked list</a:t>
            </a:r>
            <a:endParaRPr lang="en-US" sz="1100" dirty="0"/>
          </a:p>
        </p:txBody>
      </p:sp>
      <p:sp>
        <p:nvSpPr>
          <p:cNvPr id="47" name="Shape 45"/>
          <p:cNvSpPr/>
          <p:nvPr/>
        </p:nvSpPr>
        <p:spPr>
          <a:xfrm>
            <a:off x="6848856" y="3291840"/>
            <a:ext cx="1783080" cy="594360"/>
          </a:xfrm>
          <a:prstGeom prst="rect">
            <a:avLst/>
          </a:prstGeom>
          <a:solidFill>
            <a:srgbClr val="0D1117"/>
          </a:solidFill>
          <a:ln w="12700">
            <a:solidFill>
              <a:srgbClr val="F43F5E"/>
            </a:solidFill>
            <a:prstDash val="solid"/>
          </a:ln>
        </p:spPr>
      </p:sp>
      <p:sp>
        <p:nvSpPr>
          <p:cNvPr id="48" name="Text 46"/>
          <p:cNvSpPr/>
          <p:nvPr/>
        </p:nvSpPr>
        <p:spPr>
          <a:xfrm>
            <a:off x="6848856" y="3291840"/>
            <a:ext cx="1783080" cy="594360"/>
          </a:xfrm>
          <a:prstGeom prst="rect">
            <a:avLst/>
          </a:prstGeom>
          <a:noFill/>
          <a:ln/>
        </p:spPr>
        <p:txBody>
          <a:bodyPr wrap="square" lIns="38100" tIns="38100" rIns="38100" bIns="38100" rtlCol="0" anchor="ctr"/>
          <a:lstStyle/>
          <a:p>
            <a:pPr algn="ctr" indent="0" marL="0">
              <a:buNone/>
            </a:pPr>
            <a:r>
              <a:rPr lang="en-US" sz="900" dirty="0">
                <a:solidFill>
                  <a:srgbClr val="F43F5E"/>
                </a:solidFill>
                <a:latin typeface="Consolas" pitchFamily="34" charset="0"/>
                <a:ea typeface="Consolas" pitchFamily="34" charset="-122"/>
                <a:cs typeface="Consolas" pitchFamily="34" charset="-120"/>
              </a:rPr>
              <a:t>rrf[i] += 1/(k + rank + 1)</a:t>
            </a:r>
            <a:endParaRPr lang="en-US" sz="900" dirty="0"/>
          </a:p>
        </p:txBody>
      </p:sp>
      <p:sp>
        <p:nvSpPr>
          <p:cNvPr id="49" name="Shape 47"/>
          <p:cNvSpPr/>
          <p:nvPr/>
        </p:nvSpPr>
        <p:spPr>
          <a:xfrm>
            <a:off x="228600" y="4572000"/>
            <a:ext cx="8686800" cy="347472"/>
          </a:xfrm>
          <a:prstGeom prst="rect">
            <a:avLst/>
          </a:prstGeom>
          <a:solidFill>
            <a:srgbClr val="161B22"/>
          </a:solidFill>
          <a:ln w="12700">
            <a:solidFill>
              <a:srgbClr val="161B22"/>
            </a:solidFill>
            <a:prstDash val="solid"/>
          </a:ln>
        </p:spPr>
      </p:sp>
      <p:sp>
        <p:nvSpPr>
          <p:cNvPr id="50" name="Text 48"/>
          <p:cNvSpPr/>
          <p:nvPr/>
        </p:nvSpPr>
        <p:spPr>
          <a:xfrm>
            <a:off x="320040" y="4590288"/>
            <a:ext cx="8412480" cy="310896"/>
          </a:xfrm>
          <a:prstGeom prst="rect">
            <a:avLst/>
          </a:prstGeom>
          <a:noFill/>
          <a:ln/>
        </p:spPr>
        <p:txBody>
          <a:bodyPr wrap="square" lIns="0" tIns="0" rIns="0" bIns="0" rtlCol="0" anchor="ctr"/>
          <a:lstStyle/>
          <a:p>
            <a:pPr algn="ctr" indent="0" marL="0">
              <a:buNone/>
            </a:pPr>
            <a:r>
              <a:rPr lang="en-US" sz="1100" i="1" dirty="0">
                <a:solidFill>
                  <a:srgbClr val="FCD34D"/>
                </a:solidFill>
              </a:rPr>
              <a:t>Result: Hybrid search combines exact keyword matching (BM25) with deep semantic understanding (Neural) — best of both worlds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9488"/>
          </a:solidFill>
          <a:ln w="12700">
            <a:solidFill>
              <a:srgbClr val="0D9488"/>
            </a:solidFill>
            <a:prstDash val="solid"/>
          </a:ln>
        </p:spPr>
      </p:sp>
      <p:sp>
        <p:nvSpPr>
          <p:cNvPr id="3" name="Shape 1"/>
          <p:cNvSpPr/>
          <p:nvPr/>
        </p:nvSpPr>
        <p:spPr>
          <a:xfrm>
            <a:off x="73152" y="0"/>
            <a:ext cx="9070848" cy="822960"/>
          </a:xfrm>
          <a:prstGeom prst="rect">
            <a:avLst/>
          </a:prstGeom>
          <a:solidFill>
            <a:srgbClr val="161B22"/>
          </a:solidFill>
          <a:ln w="12700">
            <a:solidFill>
              <a:srgbClr val="161B22"/>
            </a:solidFill>
            <a:prstDash val="solid"/>
          </a:ln>
        </p:spPr>
      </p:sp>
      <p:sp>
        <p:nvSpPr>
          <p:cNvPr id="4" name="Text 2"/>
          <p:cNvSpPr/>
          <p:nvPr/>
        </p:nvSpPr>
        <p:spPr>
          <a:xfrm>
            <a:off x="228600" y="109728"/>
            <a:ext cx="548640" cy="594360"/>
          </a:xfrm>
          <a:prstGeom prst="rect">
            <a:avLst/>
          </a:prstGeom>
          <a:noFill/>
          <a:ln/>
        </p:spPr>
        <p:txBody>
          <a:bodyPr wrap="square" lIns="0" tIns="0" rIns="0" bIns="0" rtlCol="0" anchor="ctr"/>
          <a:lstStyle/>
          <a:p>
            <a:pPr indent="0" marL="0">
              <a:buNone/>
            </a:pPr>
            <a:r>
              <a:rPr lang="en-US" sz="2800" b="1" dirty="0">
                <a:solidFill>
                  <a:srgbClr val="0D9488"/>
                </a:solidFill>
              </a:rPr>
              <a:t>06</a:t>
            </a:r>
            <a:endParaRPr lang="en-US" sz="2800" dirty="0"/>
          </a:p>
        </p:txBody>
      </p:sp>
      <p:sp>
        <p:nvSpPr>
          <p:cNvPr id="5" name="Text 3"/>
          <p:cNvSpPr/>
          <p:nvPr/>
        </p:nvSpPr>
        <p:spPr>
          <a:xfrm>
            <a:off x="822960" y="137160"/>
            <a:ext cx="7772400" cy="548640"/>
          </a:xfrm>
          <a:prstGeom prst="rect">
            <a:avLst/>
          </a:prstGeom>
          <a:noFill/>
          <a:ln/>
        </p:spPr>
        <p:txBody>
          <a:bodyPr wrap="square" lIns="0" tIns="0" rIns="0" bIns="0" rtlCol="0" anchor="ctr"/>
          <a:lstStyle/>
          <a:p>
            <a:pPr indent="0" marL="0">
              <a:buNone/>
            </a:pPr>
            <a:r>
              <a:rPr lang="en-US" sz="2600" b="1" dirty="0">
                <a:solidFill>
                  <a:srgbClr val="F8FAFC"/>
                </a:solidFill>
                <a:latin typeface="Georgia" pitchFamily="34" charset="0"/>
                <a:ea typeface="Georgia" pitchFamily="34" charset="-122"/>
                <a:cs typeface="Georgia" pitchFamily="34" charset="-120"/>
              </a:rPr>
              <a:t>Neural Embeddings — Beyond Keyword Matching</a:t>
            </a:r>
            <a:endParaRPr lang="en-US" sz="2600" dirty="0"/>
          </a:p>
        </p:txBody>
      </p:sp>
      <p:sp>
        <p:nvSpPr>
          <p:cNvPr id="6" name="Shape 4"/>
          <p:cNvSpPr/>
          <p:nvPr/>
        </p:nvSpPr>
        <p:spPr>
          <a:xfrm>
            <a:off x="228600" y="960120"/>
            <a:ext cx="4023360" cy="3383280"/>
          </a:xfrm>
          <a:prstGeom prst="rect">
            <a:avLst/>
          </a:prstGeom>
          <a:solidFill>
            <a:srgbClr val="1F2937"/>
          </a:solidFill>
          <a:ln w="12700">
            <a:solidFill>
              <a:srgbClr val="94A3B8"/>
            </a:solidFill>
            <a:prstDash val="solid"/>
          </a:ln>
          <a:effectLst>
            <a:outerShdw sx="100000" sy="100000" kx="0" ky="0" algn="bl" rotWithShape="0" blurRad="127000" dist="38100" dir="8100000">
              <a:srgbClr val="000000">
                <a:alpha val="25000"/>
              </a:srgbClr>
            </a:outerShdw>
          </a:effectLst>
        </p:spPr>
      </p:sp>
      <p:sp>
        <p:nvSpPr>
          <p:cNvPr id="7" name="Text 5"/>
          <p:cNvSpPr/>
          <p:nvPr/>
        </p:nvSpPr>
        <p:spPr>
          <a:xfrm>
            <a:off x="365760" y="1051560"/>
            <a:ext cx="3749040" cy="347472"/>
          </a:xfrm>
          <a:prstGeom prst="rect">
            <a:avLst/>
          </a:prstGeom>
          <a:noFill/>
          <a:ln/>
        </p:spPr>
        <p:txBody>
          <a:bodyPr wrap="square" lIns="0" tIns="0" rIns="0" bIns="0" rtlCol="0" anchor="ctr"/>
          <a:lstStyle/>
          <a:p>
            <a:pPr indent="0" marL="0">
              <a:buNone/>
            </a:pPr>
            <a:r>
              <a:rPr lang="en-US" sz="1500" b="1" dirty="0">
                <a:solidFill>
                  <a:srgbClr val="94A3B8"/>
                </a:solidFill>
              </a:rPr>
              <a:t>Traditional VSM</a:t>
            </a:r>
            <a:endParaRPr lang="en-US" sz="1500" dirty="0"/>
          </a:p>
        </p:txBody>
      </p:sp>
      <p:sp>
        <p:nvSpPr>
          <p:cNvPr id="8" name="Text 6"/>
          <p:cNvSpPr/>
          <p:nvPr/>
        </p:nvSpPr>
        <p:spPr>
          <a:xfrm>
            <a:off x="365760" y="1508760"/>
            <a:ext cx="3749040" cy="347472"/>
          </a:xfrm>
          <a:prstGeom prst="rect">
            <a:avLst/>
          </a:prstGeom>
          <a:noFill/>
          <a:ln/>
        </p:spPr>
        <p:txBody>
          <a:bodyPr wrap="square" lIns="0" tIns="0" rIns="0" bIns="0" rtlCol="0" anchor="ctr"/>
          <a:lstStyle/>
          <a:p>
            <a:pPr indent="0" marL="0">
              <a:buNone/>
            </a:pPr>
            <a:r>
              <a:rPr lang="en-US" sz="1150" b="1" dirty="0">
                <a:solidFill>
                  <a:srgbClr val="F43F5E"/>
                </a:solidFill>
              </a:rPr>
              <a:t>✗  </a:t>
            </a:r>
            <a:pPr indent="0" marL="0">
              <a:buNone/>
            </a:pPr>
            <a:r>
              <a:rPr lang="en-US" sz="1150" dirty="0">
                <a:solidFill>
                  <a:srgbClr val="CBD5E1"/>
                </a:solidFill>
              </a:rPr>
              <a:t>Vectors are sparse (mostly zeros)</a:t>
            </a:r>
            <a:endParaRPr lang="en-US" sz="1150" dirty="0"/>
          </a:p>
        </p:txBody>
      </p:sp>
      <p:sp>
        <p:nvSpPr>
          <p:cNvPr id="9" name="Text 7"/>
          <p:cNvSpPr/>
          <p:nvPr/>
        </p:nvSpPr>
        <p:spPr>
          <a:xfrm>
            <a:off x="365760" y="1911096"/>
            <a:ext cx="3749040" cy="347472"/>
          </a:xfrm>
          <a:prstGeom prst="rect">
            <a:avLst/>
          </a:prstGeom>
          <a:noFill/>
          <a:ln/>
        </p:spPr>
        <p:txBody>
          <a:bodyPr wrap="square" lIns="0" tIns="0" rIns="0" bIns="0" rtlCol="0" anchor="ctr"/>
          <a:lstStyle/>
          <a:p>
            <a:pPr indent="0" marL="0">
              <a:buNone/>
            </a:pPr>
            <a:r>
              <a:rPr lang="en-US" sz="1150" b="1" dirty="0">
                <a:solidFill>
                  <a:srgbClr val="F43F5E"/>
                </a:solidFill>
              </a:rPr>
              <a:t>✗  </a:t>
            </a:r>
            <a:pPr indent="0" marL="0">
              <a:buNone/>
            </a:pPr>
            <a:r>
              <a:rPr lang="en-US" sz="1150" dirty="0">
                <a:solidFill>
                  <a:srgbClr val="CBD5E1"/>
                </a:solidFill>
              </a:rPr>
              <a:t>Vocabulary is fixed at index time</a:t>
            </a:r>
            <a:endParaRPr lang="en-US" sz="1150" dirty="0"/>
          </a:p>
        </p:txBody>
      </p:sp>
      <p:sp>
        <p:nvSpPr>
          <p:cNvPr id="10" name="Text 8"/>
          <p:cNvSpPr/>
          <p:nvPr/>
        </p:nvSpPr>
        <p:spPr>
          <a:xfrm>
            <a:off x="365760" y="2313432"/>
            <a:ext cx="3749040" cy="347472"/>
          </a:xfrm>
          <a:prstGeom prst="rect">
            <a:avLst/>
          </a:prstGeom>
          <a:noFill/>
          <a:ln/>
        </p:spPr>
        <p:txBody>
          <a:bodyPr wrap="square" lIns="0" tIns="0" rIns="0" bIns="0" rtlCol="0" anchor="ctr"/>
          <a:lstStyle/>
          <a:p>
            <a:pPr indent="0" marL="0">
              <a:buNone/>
            </a:pPr>
            <a:r>
              <a:rPr lang="en-US" sz="1150" b="1" dirty="0">
                <a:solidFill>
                  <a:srgbClr val="F43F5E"/>
                </a:solidFill>
              </a:rPr>
              <a:t>✗  </a:t>
            </a:r>
            <a:pPr indent="0" marL="0">
              <a:buNone/>
            </a:pPr>
            <a:r>
              <a:rPr lang="en-US" sz="1150" dirty="0">
                <a:solidFill>
                  <a:srgbClr val="CBD5E1"/>
                </a:solidFill>
              </a:rPr>
              <a:t>"cat" ≠ "feline" — no synonym awareness</a:t>
            </a:r>
            <a:endParaRPr lang="en-US" sz="1150" dirty="0"/>
          </a:p>
        </p:txBody>
      </p:sp>
      <p:sp>
        <p:nvSpPr>
          <p:cNvPr id="11" name="Text 9"/>
          <p:cNvSpPr/>
          <p:nvPr/>
        </p:nvSpPr>
        <p:spPr>
          <a:xfrm>
            <a:off x="365760" y="2715768"/>
            <a:ext cx="3749040" cy="347472"/>
          </a:xfrm>
          <a:prstGeom prst="rect">
            <a:avLst/>
          </a:prstGeom>
          <a:noFill/>
          <a:ln/>
        </p:spPr>
        <p:txBody>
          <a:bodyPr wrap="square" lIns="0" tIns="0" rIns="0" bIns="0" rtlCol="0" anchor="ctr"/>
          <a:lstStyle/>
          <a:p>
            <a:pPr indent="0" marL="0">
              <a:buNone/>
            </a:pPr>
            <a:r>
              <a:rPr lang="en-US" sz="1150" b="1" dirty="0">
                <a:solidFill>
                  <a:srgbClr val="F43F5E"/>
                </a:solidFill>
              </a:rPr>
              <a:t>✗  </a:t>
            </a:r>
            <a:pPr indent="0" marL="0">
              <a:buNone/>
            </a:pPr>
            <a:r>
              <a:rPr lang="en-US" sz="1150" dirty="0">
                <a:solidFill>
                  <a:srgbClr val="CBD5E1"/>
                </a:solidFill>
              </a:rPr>
              <a:t>Sensitive to typos and word forms</a:t>
            </a:r>
            <a:endParaRPr lang="en-US" sz="1150" dirty="0"/>
          </a:p>
        </p:txBody>
      </p:sp>
      <p:sp>
        <p:nvSpPr>
          <p:cNvPr id="12" name="Text 10"/>
          <p:cNvSpPr/>
          <p:nvPr/>
        </p:nvSpPr>
        <p:spPr>
          <a:xfrm>
            <a:off x="365760" y="3118104"/>
            <a:ext cx="3749040" cy="347472"/>
          </a:xfrm>
          <a:prstGeom prst="rect">
            <a:avLst/>
          </a:prstGeom>
          <a:noFill/>
          <a:ln/>
        </p:spPr>
        <p:txBody>
          <a:bodyPr wrap="square" lIns="0" tIns="0" rIns="0" bIns="0" rtlCol="0" anchor="ctr"/>
          <a:lstStyle/>
          <a:p>
            <a:pPr indent="0" marL="0">
              <a:buNone/>
            </a:pPr>
            <a:r>
              <a:rPr lang="en-US" sz="1150" b="1" dirty="0">
                <a:solidFill>
                  <a:srgbClr val="F43F5E"/>
                </a:solidFill>
              </a:rPr>
              <a:t>✗  </a:t>
            </a:r>
            <a:pPr indent="0" marL="0">
              <a:buNone/>
            </a:pPr>
            <a:r>
              <a:rPr lang="en-US" sz="1150" dirty="0">
                <a:solidFill>
                  <a:srgbClr val="CBD5E1"/>
                </a:solidFill>
              </a:rPr>
              <a:t>No understanding of context or intent</a:t>
            </a:r>
            <a:endParaRPr lang="en-US" sz="1150" dirty="0"/>
          </a:p>
        </p:txBody>
      </p:sp>
      <p:sp>
        <p:nvSpPr>
          <p:cNvPr id="13" name="Text 11"/>
          <p:cNvSpPr/>
          <p:nvPr/>
        </p:nvSpPr>
        <p:spPr>
          <a:xfrm>
            <a:off x="365760" y="3520440"/>
            <a:ext cx="3749040" cy="347472"/>
          </a:xfrm>
          <a:prstGeom prst="rect">
            <a:avLst/>
          </a:prstGeom>
          <a:noFill/>
          <a:ln/>
        </p:spPr>
        <p:txBody>
          <a:bodyPr wrap="square" lIns="0" tIns="0" rIns="0" bIns="0" rtlCol="0" anchor="ctr"/>
          <a:lstStyle/>
          <a:p>
            <a:pPr indent="0" marL="0">
              <a:buNone/>
            </a:pPr>
            <a:r>
              <a:rPr lang="en-US" sz="1150" b="1" dirty="0">
                <a:solidFill>
                  <a:srgbClr val="F43F5E"/>
                </a:solidFill>
              </a:rPr>
              <a:t>✗  </a:t>
            </a:r>
            <a:pPr indent="0" marL="0">
              <a:buNone/>
            </a:pPr>
            <a:r>
              <a:rPr lang="en-US" sz="1150" dirty="0">
                <a:solidFill>
                  <a:srgbClr val="CBD5E1"/>
                </a:solidFill>
              </a:rPr>
              <a:t>Cosine similarity is between sparse vectors</a:t>
            </a:r>
            <a:endParaRPr lang="en-US" sz="1150" dirty="0"/>
          </a:p>
        </p:txBody>
      </p:sp>
      <p:sp>
        <p:nvSpPr>
          <p:cNvPr id="14" name="Shape 12"/>
          <p:cNvSpPr/>
          <p:nvPr/>
        </p:nvSpPr>
        <p:spPr>
          <a:xfrm>
            <a:off x="4663440" y="960120"/>
            <a:ext cx="4251960" cy="3383280"/>
          </a:xfrm>
          <a:prstGeom prst="rect">
            <a:avLst/>
          </a:prstGeom>
          <a:solidFill>
            <a:srgbClr val="1F2937"/>
          </a:solidFill>
          <a:ln w="19050">
            <a:solidFill>
              <a:srgbClr val="10B981"/>
            </a:solidFill>
            <a:prstDash val="solid"/>
          </a:ln>
          <a:effectLst>
            <a:outerShdw sx="100000" sy="100000" kx="0" ky="0" algn="bl" rotWithShape="0" blurRad="127000" dist="38100" dir="8100000">
              <a:srgbClr val="000000">
                <a:alpha val="25000"/>
              </a:srgbClr>
            </a:outerShdw>
          </a:effectLst>
        </p:spPr>
      </p:sp>
      <p:sp>
        <p:nvSpPr>
          <p:cNvPr id="15" name="Text 13"/>
          <p:cNvSpPr/>
          <p:nvPr/>
        </p:nvSpPr>
        <p:spPr>
          <a:xfrm>
            <a:off x="4800600" y="1051560"/>
            <a:ext cx="3977640" cy="347472"/>
          </a:xfrm>
          <a:prstGeom prst="rect">
            <a:avLst/>
          </a:prstGeom>
          <a:noFill/>
          <a:ln/>
        </p:spPr>
        <p:txBody>
          <a:bodyPr wrap="square" lIns="0" tIns="0" rIns="0" bIns="0" rtlCol="0" anchor="ctr"/>
          <a:lstStyle/>
          <a:p>
            <a:pPr indent="0" marL="0">
              <a:buNone/>
            </a:pPr>
            <a:r>
              <a:rPr lang="en-US" sz="1500" b="1" dirty="0">
                <a:solidFill>
                  <a:srgbClr val="10B981"/>
                </a:solidFill>
              </a:rPr>
              <a:t>Neural Embeddings (all-MiniLM-L6-v2)</a:t>
            </a:r>
            <a:endParaRPr lang="en-US" sz="1500" dirty="0"/>
          </a:p>
        </p:txBody>
      </p:sp>
      <p:sp>
        <p:nvSpPr>
          <p:cNvPr id="16" name="Text 14"/>
          <p:cNvSpPr/>
          <p:nvPr/>
        </p:nvSpPr>
        <p:spPr>
          <a:xfrm>
            <a:off x="4800600" y="1508760"/>
            <a:ext cx="3977640" cy="347472"/>
          </a:xfrm>
          <a:prstGeom prst="rect">
            <a:avLst/>
          </a:prstGeom>
          <a:noFill/>
          <a:ln/>
        </p:spPr>
        <p:txBody>
          <a:bodyPr wrap="square" lIns="0" tIns="0" rIns="0" bIns="0" rtlCol="0" anchor="ctr"/>
          <a:lstStyle/>
          <a:p>
            <a:pPr indent="0" marL="0">
              <a:buNone/>
            </a:pPr>
            <a:r>
              <a:rPr lang="en-US" sz="1150" b="1" dirty="0">
                <a:solidFill>
                  <a:srgbClr val="10B981"/>
                </a:solidFill>
              </a:rPr>
              <a:t>✓  </a:t>
            </a:r>
            <a:pPr indent="0" marL="0">
              <a:buNone/>
            </a:pPr>
            <a:r>
              <a:rPr lang="en-US" sz="1150" dirty="0">
                <a:solidFill>
                  <a:srgbClr val="CBD5E1"/>
                </a:solidFill>
              </a:rPr>
              <a:t>Dense 384-dim vectors (all non-zero)</a:t>
            </a:r>
            <a:endParaRPr lang="en-US" sz="1150" dirty="0"/>
          </a:p>
        </p:txBody>
      </p:sp>
      <p:sp>
        <p:nvSpPr>
          <p:cNvPr id="17" name="Text 15"/>
          <p:cNvSpPr/>
          <p:nvPr/>
        </p:nvSpPr>
        <p:spPr>
          <a:xfrm>
            <a:off x="4800600" y="1911096"/>
            <a:ext cx="3977640" cy="347472"/>
          </a:xfrm>
          <a:prstGeom prst="rect">
            <a:avLst/>
          </a:prstGeom>
          <a:noFill/>
          <a:ln/>
        </p:spPr>
        <p:txBody>
          <a:bodyPr wrap="square" lIns="0" tIns="0" rIns="0" bIns="0" rtlCol="0" anchor="ctr"/>
          <a:lstStyle/>
          <a:p>
            <a:pPr indent="0" marL="0">
              <a:buNone/>
            </a:pPr>
            <a:r>
              <a:rPr lang="en-US" sz="1150" b="1" dirty="0">
                <a:solidFill>
                  <a:srgbClr val="10B981"/>
                </a:solidFill>
              </a:rPr>
              <a:t>✓  </a:t>
            </a:r>
            <a:pPr indent="0" marL="0">
              <a:buNone/>
            </a:pPr>
            <a:r>
              <a:rPr lang="en-US" sz="1150" dirty="0">
                <a:solidFill>
                  <a:srgbClr val="CBD5E1"/>
                </a:solidFill>
              </a:rPr>
              <a:t>Trained on 1B+ sentence pairs</a:t>
            </a:r>
            <a:endParaRPr lang="en-US" sz="1150" dirty="0"/>
          </a:p>
        </p:txBody>
      </p:sp>
      <p:sp>
        <p:nvSpPr>
          <p:cNvPr id="18" name="Text 16"/>
          <p:cNvSpPr/>
          <p:nvPr/>
        </p:nvSpPr>
        <p:spPr>
          <a:xfrm>
            <a:off x="4800600" y="2313432"/>
            <a:ext cx="3977640" cy="347472"/>
          </a:xfrm>
          <a:prstGeom prst="rect">
            <a:avLst/>
          </a:prstGeom>
          <a:noFill/>
          <a:ln/>
        </p:spPr>
        <p:txBody>
          <a:bodyPr wrap="square" lIns="0" tIns="0" rIns="0" bIns="0" rtlCol="0" anchor="ctr"/>
          <a:lstStyle/>
          <a:p>
            <a:pPr indent="0" marL="0">
              <a:buNone/>
            </a:pPr>
            <a:r>
              <a:rPr lang="en-US" sz="1150" b="1" dirty="0">
                <a:solidFill>
                  <a:srgbClr val="10B981"/>
                </a:solidFill>
              </a:rPr>
              <a:t>✓  </a:t>
            </a:r>
            <a:pPr indent="0" marL="0">
              <a:buNone/>
            </a:pPr>
            <a:r>
              <a:rPr lang="en-US" sz="1150" dirty="0">
                <a:solidFill>
                  <a:srgbClr val="CBD5E1"/>
                </a:solidFill>
              </a:rPr>
              <a:t>"cat" ≈ "feline" — semantic similarity baked in</a:t>
            </a:r>
            <a:endParaRPr lang="en-US" sz="1150" dirty="0"/>
          </a:p>
        </p:txBody>
      </p:sp>
      <p:sp>
        <p:nvSpPr>
          <p:cNvPr id="19" name="Text 17"/>
          <p:cNvSpPr/>
          <p:nvPr/>
        </p:nvSpPr>
        <p:spPr>
          <a:xfrm>
            <a:off x="4800600" y="2715768"/>
            <a:ext cx="3977640" cy="347472"/>
          </a:xfrm>
          <a:prstGeom prst="rect">
            <a:avLst/>
          </a:prstGeom>
          <a:noFill/>
          <a:ln/>
        </p:spPr>
        <p:txBody>
          <a:bodyPr wrap="square" lIns="0" tIns="0" rIns="0" bIns="0" rtlCol="0" anchor="ctr"/>
          <a:lstStyle/>
          <a:p>
            <a:pPr indent="0" marL="0">
              <a:buNone/>
            </a:pPr>
            <a:r>
              <a:rPr lang="en-US" sz="1150" b="1" dirty="0">
                <a:solidFill>
                  <a:srgbClr val="10B981"/>
                </a:solidFill>
              </a:rPr>
              <a:t>✓  </a:t>
            </a:r>
            <a:pPr indent="0" marL="0">
              <a:buNone/>
            </a:pPr>
            <a:r>
              <a:rPr lang="en-US" sz="1150" dirty="0">
                <a:solidFill>
                  <a:srgbClr val="CBD5E1"/>
                </a:solidFill>
              </a:rPr>
              <a:t>Robust to paraphrasing and synonyms</a:t>
            </a:r>
            <a:endParaRPr lang="en-US" sz="1150" dirty="0"/>
          </a:p>
        </p:txBody>
      </p:sp>
      <p:sp>
        <p:nvSpPr>
          <p:cNvPr id="20" name="Text 18"/>
          <p:cNvSpPr/>
          <p:nvPr/>
        </p:nvSpPr>
        <p:spPr>
          <a:xfrm>
            <a:off x="4800600" y="3118104"/>
            <a:ext cx="3977640" cy="347472"/>
          </a:xfrm>
          <a:prstGeom prst="rect">
            <a:avLst/>
          </a:prstGeom>
          <a:noFill/>
          <a:ln/>
        </p:spPr>
        <p:txBody>
          <a:bodyPr wrap="square" lIns="0" tIns="0" rIns="0" bIns="0" rtlCol="0" anchor="ctr"/>
          <a:lstStyle/>
          <a:p>
            <a:pPr indent="0" marL="0">
              <a:buNone/>
            </a:pPr>
            <a:r>
              <a:rPr lang="en-US" sz="1150" b="1" dirty="0">
                <a:solidFill>
                  <a:srgbClr val="10B981"/>
                </a:solidFill>
              </a:rPr>
              <a:t>✓  </a:t>
            </a:r>
            <a:pPr indent="0" marL="0">
              <a:buNone/>
            </a:pPr>
            <a:r>
              <a:rPr lang="en-US" sz="1150" dirty="0">
                <a:solidFill>
                  <a:srgbClr val="CBD5E1"/>
                </a:solidFill>
              </a:rPr>
              <a:t>Understands intent, not just terms</a:t>
            </a:r>
            <a:endParaRPr lang="en-US" sz="1150" dirty="0"/>
          </a:p>
        </p:txBody>
      </p:sp>
      <p:sp>
        <p:nvSpPr>
          <p:cNvPr id="21" name="Text 19"/>
          <p:cNvSpPr/>
          <p:nvPr/>
        </p:nvSpPr>
        <p:spPr>
          <a:xfrm>
            <a:off x="4800600" y="3520440"/>
            <a:ext cx="3977640" cy="347472"/>
          </a:xfrm>
          <a:prstGeom prst="rect">
            <a:avLst/>
          </a:prstGeom>
          <a:noFill/>
          <a:ln/>
        </p:spPr>
        <p:txBody>
          <a:bodyPr wrap="square" lIns="0" tIns="0" rIns="0" bIns="0" rtlCol="0" anchor="ctr"/>
          <a:lstStyle/>
          <a:p>
            <a:pPr indent="0" marL="0">
              <a:buNone/>
            </a:pPr>
            <a:r>
              <a:rPr lang="en-US" sz="1150" b="1" dirty="0">
                <a:solidFill>
                  <a:srgbClr val="10B981"/>
                </a:solidFill>
              </a:rPr>
              <a:t>✓  </a:t>
            </a:r>
            <a:pPr indent="0" marL="0">
              <a:buNone/>
            </a:pPr>
            <a:r>
              <a:rPr lang="en-US" sz="1150" dirty="0">
                <a:solidFill>
                  <a:srgbClr val="CBD5E1"/>
                </a:solidFill>
              </a:rPr>
              <a:t>Cosine via fast dot product (normalised)</a:t>
            </a:r>
            <a:endParaRPr lang="en-US" sz="1150" dirty="0"/>
          </a:p>
        </p:txBody>
      </p:sp>
      <p:sp>
        <p:nvSpPr>
          <p:cNvPr id="22" name="Shape 20"/>
          <p:cNvSpPr/>
          <p:nvPr/>
        </p:nvSpPr>
        <p:spPr>
          <a:xfrm>
            <a:off x="4462272" y="960120"/>
            <a:ext cx="0" cy="3383280"/>
          </a:xfrm>
          <a:prstGeom prst="line">
            <a:avLst/>
          </a:prstGeom>
          <a:noFill/>
          <a:ln w="6350">
            <a:solidFill>
              <a:srgbClr val="94A3B8"/>
            </a:solidFill>
            <a:prstDash val="dash"/>
          </a:ln>
        </p:spPr>
      </p:sp>
      <p:sp>
        <p:nvSpPr>
          <p:cNvPr id="23" name="Shape 21"/>
          <p:cNvSpPr/>
          <p:nvPr/>
        </p:nvSpPr>
        <p:spPr>
          <a:xfrm>
            <a:off x="4297680" y="2331720"/>
            <a:ext cx="329184" cy="329184"/>
          </a:xfrm>
          <a:prstGeom prst="ellipse">
            <a:avLst/>
          </a:prstGeom>
          <a:solidFill>
            <a:srgbClr val="0D1117"/>
          </a:solidFill>
          <a:ln w="12700">
            <a:solidFill>
              <a:srgbClr val="94A3B8"/>
            </a:solidFill>
            <a:prstDash val="solid"/>
          </a:ln>
        </p:spPr>
      </p:sp>
      <p:sp>
        <p:nvSpPr>
          <p:cNvPr id="24" name="Text 22"/>
          <p:cNvSpPr/>
          <p:nvPr/>
        </p:nvSpPr>
        <p:spPr>
          <a:xfrm>
            <a:off x="4297680" y="2331720"/>
            <a:ext cx="329184" cy="329184"/>
          </a:xfrm>
          <a:prstGeom prst="rect">
            <a:avLst/>
          </a:prstGeom>
          <a:noFill/>
          <a:ln/>
        </p:spPr>
        <p:txBody>
          <a:bodyPr wrap="square" lIns="0" tIns="0" rIns="0" bIns="0" rtlCol="0" anchor="ctr"/>
          <a:lstStyle/>
          <a:p>
            <a:pPr algn="ctr" indent="0" marL="0">
              <a:buNone/>
            </a:pPr>
            <a:r>
              <a:rPr lang="en-US" sz="1000" b="1" dirty="0">
                <a:solidFill>
                  <a:srgbClr val="94A3B8"/>
                </a:solidFill>
              </a:rPr>
              <a:t>VS</a:t>
            </a:r>
            <a:endParaRPr lang="en-US" sz="1000" dirty="0"/>
          </a:p>
        </p:txBody>
      </p:sp>
      <p:sp>
        <p:nvSpPr>
          <p:cNvPr id="25" name="Shape 23"/>
          <p:cNvSpPr/>
          <p:nvPr/>
        </p:nvSpPr>
        <p:spPr>
          <a:xfrm>
            <a:off x="228600" y="4453128"/>
            <a:ext cx="1572768" cy="402336"/>
          </a:xfrm>
          <a:prstGeom prst="roundRect">
            <a:avLst>
              <a:gd name="adj" fmla="val 11364"/>
            </a:avLst>
          </a:prstGeom>
          <a:solidFill>
            <a:srgbClr val="161B22"/>
          </a:solidFill>
          <a:ln w="12700">
            <a:solidFill>
              <a:srgbClr val="0D9488"/>
            </a:solidFill>
            <a:prstDash val="solid"/>
          </a:ln>
        </p:spPr>
      </p:sp>
      <p:sp>
        <p:nvSpPr>
          <p:cNvPr id="26" name="Text 24"/>
          <p:cNvSpPr/>
          <p:nvPr/>
        </p:nvSpPr>
        <p:spPr>
          <a:xfrm>
            <a:off x="228600" y="4453128"/>
            <a:ext cx="1572768" cy="402336"/>
          </a:xfrm>
          <a:prstGeom prst="rect">
            <a:avLst/>
          </a:prstGeom>
          <a:noFill/>
          <a:ln/>
        </p:spPr>
        <p:txBody>
          <a:bodyPr wrap="square" lIns="0" tIns="0" rIns="0" bIns="0" rtlCol="0" anchor="ctr"/>
          <a:lstStyle/>
          <a:p>
            <a:pPr algn="ctr" indent="0" marL="0">
              <a:buNone/>
            </a:pPr>
            <a:r>
              <a:rPr lang="en-US" sz="1150" dirty="0">
                <a:solidFill>
                  <a:srgbClr val="14B8A6"/>
                </a:solidFill>
              </a:rPr>
              <a:t>22M Parameters</a:t>
            </a:r>
            <a:endParaRPr lang="en-US" sz="1150" dirty="0"/>
          </a:p>
        </p:txBody>
      </p:sp>
      <p:sp>
        <p:nvSpPr>
          <p:cNvPr id="27" name="Shape 25"/>
          <p:cNvSpPr/>
          <p:nvPr/>
        </p:nvSpPr>
        <p:spPr>
          <a:xfrm>
            <a:off x="1965960" y="4453128"/>
            <a:ext cx="1572768" cy="402336"/>
          </a:xfrm>
          <a:prstGeom prst="roundRect">
            <a:avLst>
              <a:gd name="adj" fmla="val 11364"/>
            </a:avLst>
          </a:prstGeom>
          <a:solidFill>
            <a:srgbClr val="161B22"/>
          </a:solidFill>
          <a:ln w="12700">
            <a:solidFill>
              <a:srgbClr val="0D9488"/>
            </a:solidFill>
            <a:prstDash val="solid"/>
          </a:ln>
        </p:spPr>
      </p:sp>
      <p:sp>
        <p:nvSpPr>
          <p:cNvPr id="28" name="Text 26"/>
          <p:cNvSpPr/>
          <p:nvPr/>
        </p:nvSpPr>
        <p:spPr>
          <a:xfrm>
            <a:off x="1965960" y="4453128"/>
            <a:ext cx="1572768" cy="402336"/>
          </a:xfrm>
          <a:prstGeom prst="rect">
            <a:avLst/>
          </a:prstGeom>
          <a:noFill/>
          <a:ln/>
        </p:spPr>
        <p:txBody>
          <a:bodyPr wrap="square" lIns="0" tIns="0" rIns="0" bIns="0" rtlCol="0" anchor="ctr"/>
          <a:lstStyle/>
          <a:p>
            <a:pPr algn="ctr" indent="0" marL="0">
              <a:buNone/>
            </a:pPr>
            <a:r>
              <a:rPr lang="en-US" sz="1150" dirty="0">
                <a:solidFill>
                  <a:srgbClr val="14B8A6"/>
                </a:solidFill>
              </a:rPr>
              <a:t>384-dim Output</a:t>
            </a:r>
            <a:endParaRPr lang="en-US" sz="1150" dirty="0"/>
          </a:p>
        </p:txBody>
      </p:sp>
      <p:sp>
        <p:nvSpPr>
          <p:cNvPr id="29" name="Shape 27"/>
          <p:cNvSpPr/>
          <p:nvPr/>
        </p:nvSpPr>
        <p:spPr>
          <a:xfrm>
            <a:off x="3703320" y="4453128"/>
            <a:ext cx="1572768" cy="402336"/>
          </a:xfrm>
          <a:prstGeom prst="roundRect">
            <a:avLst>
              <a:gd name="adj" fmla="val 11364"/>
            </a:avLst>
          </a:prstGeom>
          <a:solidFill>
            <a:srgbClr val="161B22"/>
          </a:solidFill>
          <a:ln w="12700">
            <a:solidFill>
              <a:srgbClr val="0D9488"/>
            </a:solidFill>
            <a:prstDash val="solid"/>
          </a:ln>
        </p:spPr>
      </p:sp>
      <p:sp>
        <p:nvSpPr>
          <p:cNvPr id="30" name="Text 28"/>
          <p:cNvSpPr/>
          <p:nvPr/>
        </p:nvSpPr>
        <p:spPr>
          <a:xfrm>
            <a:off x="3703320" y="4453128"/>
            <a:ext cx="1572768" cy="402336"/>
          </a:xfrm>
          <a:prstGeom prst="rect">
            <a:avLst/>
          </a:prstGeom>
          <a:noFill/>
          <a:ln/>
        </p:spPr>
        <p:txBody>
          <a:bodyPr wrap="square" lIns="0" tIns="0" rIns="0" bIns="0" rtlCol="0" anchor="ctr"/>
          <a:lstStyle/>
          <a:p>
            <a:pPr algn="ctr" indent="0" marL="0">
              <a:buNone/>
            </a:pPr>
            <a:r>
              <a:rPr lang="en-US" sz="1150" dirty="0">
                <a:solidFill>
                  <a:srgbClr val="14B8A6"/>
                </a:solidFill>
              </a:rPr>
              <a:t>Normalised Cosine</a:t>
            </a:r>
            <a:endParaRPr lang="en-US" sz="1150" dirty="0"/>
          </a:p>
        </p:txBody>
      </p:sp>
      <p:sp>
        <p:nvSpPr>
          <p:cNvPr id="31" name="Shape 29"/>
          <p:cNvSpPr/>
          <p:nvPr/>
        </p:nvSpPr>
        <p:spPr>
          <a:xfrm>
            <a:off x="5440680" y="4453128"/>
            <a:ext cx="1572768" cy="402336"/>
          </a:xfrm>
          <a:prstGeom prst="roundRect">
            <a:avLst>
              <a:gd name="adj" fmla="val 11364"/>
            </a:avLst>
          </a:prstGeom>
          <a:solidFill>
            <a:srgbClr val="161B22"/>
          </a:solidFill>
          <a:ln w="12700">
            <a:solidFill>
              <a:srgbClr val="0D9488"/>
            </a:solidFill>
            <a:prstDash val="solid"/>
          </a:ln>
        </p:spPr>
      </p:sp>
      <p:sp>
        <p:nvSpPr>
          <p:cNvPr id="32" name="Text 30"/>
          <p:cNvSpPr/>
          <p:nvPr/>
        </p:nvSpPr>
        <p:spPr>
          <a:xfrm>
            <a:off x="5440680" y="4453128"/>
            <a:ext cx="1572768" cy="402336"/>
          </a:xfrm>
          <a:prstGeom prst="rect">
            <a:avLst/>
          </a:prstGeom>
          <a:noFill/>
          <a:ln/>
        </p:spPr>
        <p:txBody>
          <a:bodyPr wrap="square" lIns="0" tIns="0" rIns="0" bIns="0" rtlCol="0" anchor="ctr"/>
          <a:lstStyle/>
          <a:p>
            <a:pPr algn="ctr" indent="0" marL="0">
              <a:buNone/>
            </a:pPr>
            <a:r>
              <a:rPr lang="en-US" sz="1150" dirty="0">
                <a:solidFill>
                  <a:srgbClr val="14B8A6"/>
                </a:solidFill>
              </a:rPr>
              <a:t>CPU-friendly</a:t>
            </a:r>
            <a:endParaRPr lang="en-US" sz="1150" dirty="0"/>
          </a:p>
        </p:txBody>
      </p:sp>
      <p:sp>
        <p:nvSpPr>
          <p:cNvPr id="33" name="Shape 31"/>
          <p:cNvSpPr/>
          <p:nvPr/>
        </p:nvSpPr>
        <p:spPr>
          <a:xfrm>
            <a:off x="7178040" y="4453128"/>
            <a:ext cx="1572768" cy="402336"/>
          </a:xfrm>
          <a:prstGeom prst="roundRect">
            <a:avLst>
              <a:gd name="adj" fmla="val 11364"/>
            </a:avLst>
          </a:prstGeom>
          <a:solidFill>
            <a:srgbClr val="161B22"/>
          </a:solidFill>
          <a:ln w="12700">
            <a:solidFill>
              <a:srgbClr val="0D9488"/>
            </a:solidFill>
            <a:prstDash val="solid"/>
          </a:ln>
        </p:spPr>
      </p:sp>
      <p:sp>
        <p:nvSpPr>
          <p:cNvPr id="34" name="Text 32"/>
          <p:cNvSpPr/>
          <p:nvPr/>
        </p:nvSpPr>
        <p:spPr>
          <a:xfrm>
            <a:off x="7178040" y="4453128"/>
            <a:ext cx="1572768" cy="402336"/>
          </a:xfrm>
          <a:prstGeom prst="rect">
            <a:avLst/>
          </a:prstGeom>
          <a:noFill/>
          <a:ln/>
        </p:spPr>
        <p:txBody>
          <a:bodyPr wrap="square" lIns="0" tIns="0" rIns="0" bIns="0" rtlCol="0" anchor="ctr"/>
          <a:lstStyle/>
          <a:p>
            <a:pPr algn="ctr" indent="0" marL="0">
              <a:buNone/>
            </a:pPr>
            <a:r>
              <a:rPr lang="en-US" sz="1150" dirty="0">
                <a:solidFill>
                  <a:srgbClr val="14B8A6"/>
                </a:solidFill>
              </a:rPr>
              <a:t>FAISS-accelerated</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9488"/>
          </a:solidFill>
          <a:ln w="12700">
            <a:solidFill>
              <a:srgbClr val="0D9488"/>
            </a:solidFill>
            <a:prstDash val="solid"/>
          </a:ln>
        </p:spPr>
      </p:sp>
      <p:sp>
        <p:nvSpPr>
          <p:cNvPr id="3" name="Shape 1"/>
          <p:cNvSpPr/>
          <p:nvPr/>
        </p:nvSpPr>
        <p:spPr>
          <a:xfrm>
            <a:off x="73152" y="0"/>
            <a:ext cx="9070848" cy="822960"/>
          </a:xfrm>
          <a:prstGeom prst="rect">
            <a:avLst/>
          </a:prstGeom>
          <a:solidFill>
            <a:srgbClr val="161B22"/>
          </a:solidFill>
          <a:ln w="12700">
            <a:solidFill>
              <a:srgbClr val="161B22"/>
            </a:solidFill>
            <a:prstDash val="solid"/>
          </a:ln>
        </p:spPr>
      </p:sp>
      <p:sp>
        <p:nvSpPr>
          <p:cNvPr id="4" name="Text 2"/>
          <p:cNvSpPr/>
          <p:nvPr/>
        </p:nvSpPr>
        <p:spPr>
          <a:xfrm>
            <a:off x="228600" y="109728"/>
            <a:ext cx="548640" cy="594360"/>
          </a:xfrm>
          <a:prstGeom prst="rect">
            <a:avLst/>
          </a:prstGeom>
          <a:noFill/>
          <a:ln/>
        </p:spPr>
        <p:txBody>
          <a:bodyPr wrap="square" lIns="0" tIns="0" rIns="0" bIns="0" rtlCol="0" anchor="ctr"/>
          <a:lstStyle/>
          <a:p>
            <a:pPr indent="0" marL="0">
              <a:buNone/>
            </a:pPr>
            <a:r>
              <a:rPr lang="en-US" sz="2800" b="1" dirty="0">
                <a:solidFill>
                  <a:srgbClr val="0D9488"/>
                </a:solidFill>
              </a:rPr>
              <a:t>07</a:t>
            </a:r>
            <a:endParaRPr lang="en-US" sz="2800" dirty="0"/>
          </a:p>
        </p:txBody>
      </p:sp>
      <p:sp>
        <p:nvSpPr>
          <p:cNvPr id="5" name="Text 3"/>
          <p:cNvSpPr/>
          <p:nvPr/>
        </p:nvSpPr>
        <p:spPr>
          <a:xfrm>
            <a:off x="822960" y="137160"/>
            <a:ext cx="7772400" cy="548640"/>
          </a:xfrm>
          <a:prstGeom prst="rect">
            <a:avLst/>
          </a:prstGeom>
          <a:noFill/>
          <a:ln/>
        </p:spPr>
        <p:txBody>
          <a:bodyPr wrap="square" lIns="0" tIns="0" rIns="0" bIns="0" rtlCol="0" anchor="ctr"/>
          <a:lstStyle/>
          <a:p>
            <a:pPr indent="0" marL="0">
              <a:buNone/>
            </a:pPr>
            <a:r>
              <a:rPr lang="en-US" sz="2600" b="1" dirty="0">
                <a:solidFill>
                  <a:srgbClr val="F8FAFC"/>
                </a:solidFill>
                <a:latin typeface="Georgia" pitchFamily="34" charset="0"/>
                <a:ea typeface="Georgia" pitchFamily="34" charset="-122"/>
                <a:cs typeface="Georgia" pitchFamily="34" charset="-120"/>
              </a:rPr>
              <a:t>Document Indexing — From Web to Vector Index</a:t>
            </a:r>
            <a:endParaRPr lang="en-US" sz="2600" dirty="0"/>
          </a:p>
        </p:txBody>
      </p:sp>
      <p:sp>
        <p:nvSpPr>
          <p:cNvPr id="6" name="Shape 4"/>
          <p:cNvSpPr/>
          <p:nvPr/>
        </p:nvSpPr>
        <p:spPr>
          <a:xfrm>
            <a:off x="228600" y="1005840"/>
            <a:ext cx="1600200" cy="1097280"/>
          </a:xfrm>
          <a:prstGeom prst="rect">
            <a:avLst/>
          </a:prstGeom>
          <a:solidFill>
            <a:srgbClr val="1F2937"/>
          </a:solidFill>
          <a:ln w="19050">
            <a:solidFill>
              <a:srgbClr val="F59E0B"/>
            </a:solidFill>
            <a:prstDash val="solid"/>
          </a:ln>
          <a:effectLst>
            <a:outerShdw sx="100000" sy="100000" kx="0" ky="0" algn="bl" rotWithShape="0" blurRad="127000" dist="38100" dir="8100000">
              <a:srgbClr val="000000">
                <a:alpha val="25000"/>
              </a:srgbClr>
            </a:outerShdw>
          </a:effectLst>
        </p:spPr>
      </p:sp>
      <p:sp>
        <p:nvSpPr>
          <p:cNvPr id="7" name="Shape 5"/>
          <p:cNvSpPr/>
          <p:nvPr/>
        </p:nvSpPr>
        <p:spPr>
          <a:xfrm>
            <a:off x="228600" y="1005840"/>
            <a:ext cx="1600200" cy="64008"/>
          </a:xfrm>
          <a:prstGeom prst="rect">
            <a:avLst/>
          </a:prstGeom>
          <a:solidFill>
            <a:srgbClr val="F59E0B"/>
          </a:solidFill>
          <a:ln w="12700">
            <a:solidFill>
              <a:srgbClr val="F59E0B"/>
            </a:solidFill>
            <a:prstDash val="solid"/>
          </a:ln>
        </p:spPr>
      </p:sp>
      <p:sp>
        <p:nvSpPr>
          <p:cNvPr id="8" name="Text 6"/>
          <p:cNvSpPr/>
          <p:nvPr/>
        </p:nvSpPr>
        <p:spPr>
          <a:xfrm>
            <a:off x="320040" y="1143000"/>
            <a:ext cx="1417320" cy="822960"/>
          </a:xfrm>
          <a:prstGeom prst="rect">
            <a:avLst/>
          </a:prstGeom>
          <a:noFill/>
          <a:ln/>
        </p:spPr>
        <p:txBody>
          <a:bodyPr wrap="square" lIns="0" tIns="0" rIns="0" bIns="0" rtlCol="0" anchor="ctr"/>
          <a:lstStyle/>
          <a:p>
            <a:pPr algn="ctr" indent="0" marL="0">
              <a:buNone/>
            </a:pPr>
            <a:r>
              <a:rPr lang="en-US" sz="1250" dirty="0">
                <a:solidFill>
                  <a:srgbClr val="F8FAFC"/>
                </a:solidFill>
              </a:rPr>
              <a:t>Seed URLs /</a:t>
            </a:r>
            <a:endParaRPr lang="en-US" sz="1250" dirty="0"/>
          </a:p>
          <a:p>
            <a:pPr algn="ctr" indent="0" marL="0">
              <a:buNone/>
            </a:pPr>
            <a:r>
              <a:rPr lang="en-US" sz="1250" dirty="0">
                <a:solidFill>
                  <a:srgbClr val="F8FAFC"/>
                </a:solidFill>
              </a:rPr>
              <a:t>Wikipedia Topics</a:t>
            </a:r>
            <a:endParaRPr lang="en-US" sz="1250" dirty="0"/>
          </a:p>
        </p:txBody>
      </p:sp>
      <p:sp>
        <p:nvSpPr>
          <p:cNvPr id="9" name="Shape 7"/>
          <p:cNvSpPr/>
          <p:nvPr/>
        </p:nvSpPr>
        <p:spPr>
          <a:xfrm>
            <a:off x="1828800" y="1572768"/>
            <a:ext cx="155448" cy="0"/>
          </a:xfrm>
          <a:prstGeom prst="line">
            <a:avLst/>
          </a:prstGeom>
          <a:noFill/>
          <a:ln w="19050">
            <a:solidFill>
              <a:srgbClr val="94A3B8"/>
            </a:solidFill>
            <a:prstDash val="solid"/>
          </a:ln>
        </p:spPr>
      </p:sp>
      <p:sp>
        <p:nvSpPr>
          <p:cNvPr id="10" name="Shape 8"/>
          <p:cNvSpPr/>
          <p:nvPr/>
        </p:nvSpPr>
        <p:spPr>
          <a:xfrm>
            <a:off x="1965960" y="1554480"/>
            <a:ext cx="18288" cy="45720"/>
          </a:xfrm>
          <a:prstGeom prst="rect">
            <a:avLst/>
          </a:prstGeom>
          <a:solidFill>
            <a:srgbClr val="F59E0B"/>
          </a:solidFill>
          <a:ln w="12700">
            <a:solidFill>
              <a:srgbClr val="F59E0B"/>
            </a:solidFill>
            <a:prstDash val="solid"/>
          </a:ln>
        </p:spPr>
      </p:sp>
      <p:sp>
        <p:nvSpPr>
          <p:cNvPr id="11" name="Shape 9"/>
          <p:cNvSpPr/>
          <p:nvPr/>
        </p:nvSpPr>
        <p:spPr>
          <a:xfrm>
            <a:off x="1984248" y="1005840"/>
            <a:ext cx="1600200" cy="1097280"/>
          </a:xfrm>
          <a:prstGeom prst="rect">
            <a:avLst/>
          </a:prstGeom>
          <a:solidFill>
            <a:srgbClr val="1F2937"/>
          </a:solidFill>
          <a:ln w="19050">
            <a:solidFill>
              <a:srgbClr val="0D9488"/>
            </a:solidFill>
            <a:prstDash val="solid"/>
          </a:ln>
          <a:effectLst>
            <a:outerShdw sx="100000" sy="100000" kx="0" ky="0" algn="bl" rotWithShape="0" blurRad="127000" dist="38100" dir="8100000">
              <a:srgbClr val="000000">
                <a:alpha val="25000"/>
              </a:srgbClr>
            </a:outerShdw>
          </a:effectLst>
        </p:spPr>
      </p:sp>
      <p:sp>
        <p:nvSpPr>
          <p:cNvPr id="12" name="Shape 10"/>
          <p:cNvSpPr/>
          <p:nvPr/>
        </p:nvSpPr>
        <p:spPr>
          <a:xfrm>
            <a:off x="1984248" y="1005840"/>
            <a:ext cx="1600200" cy="64008"/>
          </a:xfrm>
          <a:prstGeom prst="rect">
            <a:avLst/>
          </a:prstGeom>
          <a:solidFill>
            <a:srgbClr val="0D9488"/>
          </a:solidFill>
          <a:ln w="12700">
            <a:solidFill>
              <a:srgbClr val="0D9488"/>
            </a:solidFill>
            <a:prstDash val="solid"/>
          </a:ln>
        </p:spPr>
      </p:sp>
      <p:sp>
        <p:nvSpPr>
          <p:cNvPr id="13" name="Text 11"/>
          <p:cNvSpPr/>
          <p:nvPr/>
        </p:nvSpPr>
        <p:spPr>
          <a:xfrm>
            <a:off x="2075688" y="1143000"/>
            <a:ext cx="1417320" cy="822960"/>
          </a:xfrm>
          <a:prstGeom prst="rect">
            <a:avLst/>
          </a:prstGeom>
          <a:noFill/>
          <a:ln/>
        </p:spPr>
        <p:txBody>
          <a:bodyPr wrap="square" lIns="0" tIns="0" rIns="0" bIns="0" rtlCol="0" anchor="ctr"/>
          <a:lstStyle/>
          <a:p>
            <a:pPr algn="ctr" indent="0" marL="0">
              <a:buNone/>
            </a:pPr>
            <a:r>
              <a:rPr lang="en-US" sz="1250" dirty="0">
                <a:solidFill>
                  <a:srgbClr val="F8FAFC"/>
                </a:solidFill>
              </a:rPr>
              <a:t>aiohttp</a:t>
            </a:r>
            <a:endParaRPr lang="en-US" sz="1250" dirty="0"/>
          </a:p>
          <a:p>
            <a:pPr algn="ctr" indent="0" marL="0">
              <a:buNone/>
            </a:pPr>
            <a:r>
              <a:rPr lang="en-US" sz="1250" dirty="0">
                <a:solidFill>
                  <a:srgbClr val="F8FAFC"/>
                </a:solidFill>
              </a:rPr>
              <a:t>Async Crawler</a:t>
            </a:r>
            <a:endParaRPr lang="en-US" sz="1250" dirty="0"/>
          </a:p>
        </p:txBody>
      </p:sp>
      <p:sp>
        <p:nvSpPr>
          <p:cNvPr id="14" name="Shape 12"/>
          <p:cNvSpPr/>
          <p:nvPr/>
        </p:nvSpPr>
        <p:spPr>
          <a:xfrm>
            <a:off x="3584448" y="1572768"/>
            <a:ext cx="155448" cy="0"/>
          </a:xfrm>
          <a:prstGeom prst="line">
            <a:avLst/>
          </a:prstGeom>
          <a:noFill/>
          <a:ln w="19050">
            <a:solidFill>
              <a:srgbClr val="94A3B8"/>
            </a:solidFill>
            <a:prstDash val="solid"/>
          </a:ln>
        </p:spPr>
      </p:sp>
      <p:sp>
        <p:nvSpPr>
          <p:cNvPr id="15" name="Shape 13"/>
          <p:cNvSpPr/>
          <p:nvPr/>
        </p:nvSpPr>
        <p:spPr>
          <a:xfrm>
            <a:off x="3721608" y="1554480"/>
            <a:ext cx="18288" cy="45720"/>
          </a:xfrm>
          <a:prstGeom prst="rect">
            <a:avLst/>
          </a:prstGeom>
          <a:solidFill>
            <a:srgbClr val="0D9488"/>
          </a:solidFill>
          <a:ln w="12700">
            <a:solidFill>
              <a:srgbClr val="0D9488"/>
            </a:solidFill>
            <a:prstDash val="solid"/>
          </a:ln>
        </p:spPr>
      </p:sp>
      <p:sp>
        <p:nvSpPr>
          <p:cNvPr id="16" name="Shape 14"/>
          <p:cNvSpPr/>
          <p:nvPr/>
        </p:nvSpPr>
        <p:spPr>
          <a:xfrm>
            <a:off x="3739896" y="1005840"/>
            <a:ext cx="1600200" cy="1097280"/>
          </a:xfrm>
          <a:prstGeom prst="rect">
            <a:avLst/>
          </a:prstGeom>
          <a:solidFill>
            <a:srgbClr val="1F2937"/>
          </a:solidFill>
          <a:ln w="19050">
            <a:solidFill>
              <a:srgbClr val="D97706"/>
            </a:solidFill>
            <a:prstDash val="solid"/>
          </a:ln>
          <a:effectLst>
            <a:outerShdw sx="100000" sy="100000" kx="0" ky="0" algn="bl" rotWithShape="0" blurRad="127000" dist="38100" dir="8100000">
              <a:srgbClr val="000000">
                <a:alpha val="25000"/>
              </a:srgbClr>
            </a:outerShdw>
          </a:effectLst>
        </p:spPr>
      </p:sp>
      <p:sp>
        <p:nvSpPr>
          <p:cNvPr id="17" name="Shape 15"/>
          <p:cNvSpPr/>
          <p:nvPr/>
        </p:nvSpPr>
        <p:spPr>
          <a:xfrm>
            <a:off x="3739896" y="1005840"/>
            <a:ext cx="1600200" cy="64008"/>
          </a:xfrm>
          <a:prstGeom prst="rect">
            <a:avLst/>
          </a:prstGeom>
          <a:solidFill>
            <a:srgbClr val="D97706"/>
          </a:solidFill>
          <a:ln w="12700">
            <a:solidFill>
              <a:srgbClr val="D97706"/>
            </a:solidFill>
            <a:prstDash val="solid"/>
          </a:ln>
        </p:spPr>
      </p:sp>
      <p:sp>
        <p:nvSpPr>
          <p:cNvPr id="18" name="Text 16"/>
          <p:cNvSpPr/>
          <p:nvPr/>
        </p:nvSpPr>
        <p:spPr>
          <a:xfrm>
            <a:off x="3831336" y="1143000"/>
            <a:ext cx="1417320" cy="822960"/>
          </a:xfrm>
          <a:prstGeom prst="rect">
            <a:avLst/>
          </a:prstGeom>
          <a:noFill/>
          <a:ln/>
        </p:spPr>
        <p:txBody>
          <a:bodyPr wrap="square" lIns="0" tIns="0" rIns="0" bIns="0" rtlCol="0" anchor="ctr"/>
          <a:lstStyle/>
          <a:p>
            <a:pPr algn="ctr" indent="0" marL="0">
              <a:buNone/>
            </a:pPr>
            <a:r>
              <a:rPr lang="en-US" sz="1250" dirty="0">
                <a:solidFill>
                  <a:srgbClr val="F8FAFC"/>
                </a:solidFill>
              </a:rPr>
              <a:t>BeautifulSoup</a:t>
            </a:r>
            <a:endParaRPr lang="en-US" sz="1250" dirty="0"/>
          </a:p>
          <a:p>
            <a:pPr algn="ctr" indent="0" marL="0">
              <a:buNone/>
            </a:pPr>
            <a:r>
              <a:rPr lang="en-US" sz="1250" dirty="0">
                <a:solidFill>
                  <a:srgbClr val="F8FAFC"/>
                </a:solidFill>
              </a:rPr>
              <a:t>HTML Parser</a:t>
            </a:r>
            <a:endParaRPr lang="en-US" sz="1250" dirty="0"/>
          </a:p>
        </p:txBody>
      </p:sp>
      <p:sp>
        <p:nvSpPr>
          <p:cNvPr id="19" name="Shape 17"/>
          <p:cNvSpPr/>
          <p:nvPr/>
        </p:nvSpPr>
        <p:spPr>
          <a:xfrm>
            <a:off x="5340096" y="1572768"/>
            <a:ext cx="155448" cy="0"/>
          </a:xfrm>
          <a:prstGeom prst="line">
            <a:avLst/>
          </a:prstGeom>
          <a:noFill/>
          <a:ln w="19050">
            <a:solidFill>
              <a:srgbClr val="94A3B8"/>
            </a:solidFill>
            <a:prstDash val="solid"/>
          </a:ln>
        </p:spPr>
      </p:sp>
      <p:sp>
        <p:nvSpPr>
          <p:cNvPr id="20" name="Shape 18"/>
          <p:cNvSpPr/>
          <p:nvPr/>
        </p:nvSpPr>
        <p:spPr>
          <a:xfrm>
            <a:off x="5477256" y="1554480"/>
            <a:ext cx="18288" cy="45720"/>
          </a:xfrm>
          <a:prstGeom prst="rect">
            <a:avLst/>
          </a:prstGeom>
          <a:solidFill>
            <a:srgbClr val="D97706"/>
          </a:solidFill>
          <a:ln w="12700">
            <a:solidFill>
              <a:srgbClr val="D97706"/>
            </a:solidFill>
            <a:prstDash val="solid"/>
          </a:ln>
        </p:spPr>
      </p:sp>
      <p:sp>
        <p:nvSpPr>
          <p:cNvPr id="21" name="Shape 19"/>
          <p:cNvSpPr/>
          <p:nvPr/>
        </p:nvSpPr>
        <p:spPr>
          <a:xfrm>
            <a:off x="5495544" y="1005840"/>
            <a:ext cx="1600200" cy="1097280"/>
          </a:xfrm>
          <a:prstGeom prst="rect">
            <a:avLst/>
          </a:prstGeom>
          <a:solidFill>
            <a:srgbClr val="1F2937"/>
          </a:solidFill>
          <a:ln w="19050">
            <a:solidFill>
              <a:srgbClr val="F43F5E"/>
            </a:solidFill>
            <a:prstDash val="solid"/>
          </a:ln>
          <a:effectLst>
            <a:outerShdw sx="100000" sy="100000" kx="0" ky="0" algn="bl" rotWithShape="0" blurRad="127000" dist="38100" dir="8100000">
              <a:srgbClr val="000000">
                <a:alpha val="25000"/>
              </a:srgbClr>
            </a:outerShdw>
          </a:effectLst>
        </p:spPr>
      </p:sp>
      <p:sp>
        <p:nvSpPr>
          <p:cNvPr id="22" name="Shape 20"/>
          <p:cNvSpPr/>
          <p:nvPr/>
        </p:nvSpPr>
        <p:spPr>
          <a:xfrm>
            <a:off x="5495544" y="1005840"/>
            <a:ext cx="1600200" cy="64008"/>
          </a:xfrm>
          <a:prstGeom prst="rect">
            <a:avLst/>
          </a:prstGeom>
          <a:solidFill>
            <a:srgbClr val="F43F5E"/>
          </a:solidFill>
          <a:ln w="12700">
            <a:solidFill>
              <a:srgbClr val="F43F5E"/>
            </a:solidFill>
            <a:prstDash val="solid"/>
          </a:ln>
        </p:spPr>
      </p:sp>
      <p:sp>
        <p:nvSpPr>
          <p:cNvPr id="23" name="Text 21"/>
          <p:cNvSpPr/>
          <p:nvPr/>
        </p:nvSpPr>
        <p:spPr>
          <a:xfrm>
            <a:off x="5586984" y="1143000"/>
            <a:ext cx="1417320" cy="822960"/>
          </a:xfrm>
          <a:prstGeom prst="rect">
            <a:avLst/>
          </a:prstGeom>
          <a:noFill/>
          <a:ln/>
        </p:spPr>
        <p:txBody>
          <a:bodyPr wrap="square" lIns="0" tIns="0" rIns="0" bIns="0" rtlCol="0" anchor="ctr"/>
          <a:lstStyle/>
          <a:p>
            <a:pPr algn="ctr" indent="0" marL="0">
              <a:buNone/>
            </a:pPr>
            <a:r>
              <a:rPr lang="en-US" sz="1250" dirty="0">
                <a:solidFill>
                  <a:srgbClr val="F8FAFC"/>
                </a:solidFill>
              </a:rPr>
              <a:t>SQLite</a:t>
            </a:r>
            <a:endParaRPr lang="en-US" sz="1250" dirty="0"/>
          </a:p>
          <a:p>
            <a:pPr algn="ctr" indent="0" marL="0">
              <a:buNone/>
            </a:pPr>
            <a:r>
              <a:rPr lang="en-US" sz="1250" dirty="0">
                <a:solidFill>
                  <a:srgbClr val="F8FAFC"/>
                </a:solidFill>
              </a:rPr>
              <a:t>Document Store</a:t>
            </a:r>
            <a:endParaRPr lang="en-US" sz="1250" dirty="0"/>
          </a:p>
        </p:txBody>
      </p:sp>
      <p:sp>
        <p:nvSpPr>
          <p:cNvPr id="24" name="Shape 22"/>
          <p:cNvSpPr/>
          <p:nvPr/>
        </p:nvSpPr>
        <p:spPr>
          <a:xfrm>
            <a:off x="7095744" y="1572768"/>
            <a:ext cx="155448" cy="0"/>
          </a:xfrm>
          <a:prstGeom prst="line">
            <a:avLst/>
          </a:prstGeom>
          <a:noFill/>
          <a:ln w="19050">
            <a:solidFill>
              <a:srgbClr val="94A3B8"/>
            </a:solidFill>
            <a:prstDash val="solid"/>
          </a:ln>
        </p:spPr>
      </p:sp>
      <p:sp>
        <p:nvSpPr>
          <p:cNvPr id="25" name="Shape 23"/>
          <p:cNvSpPr/>
          <p:nvPr/>
        </p:nvSpPr>
        <p:spPr>
          <a:xfrm>
            <a:off x="7232904" y="1554480"/>
            <a:ext cx="18288" cy="45720"/>
          </a:xfrm>
          <a:prstGeom prst="rect">
            <a:avLst/>
          </a:prstGeom>
          <a:solidFill>
            <a:srgbClr val="F43F5E"/>
          </a:solidFill>
          <a:ln w="12700">
            <a:solidFill>
              <a:srgbClr val="F43F5E"/>
            </a:solidFill>
            <a:prstDash val="solid"/>
          </a:ln>
        </p:spPr>
      </p:sp>
      <p:sp>
        <p:nvSpPr>
          <p:cNvPr id="26" name="Shape 24"/>
          <p:cNvSpPr/>
          <p:nvPr/>
        </p:nvSpPr>
        <p:spPr>
          <a:xfrm>
            <a:off x="7251192" y="1005840"/>
            <a:ext cx="1600200" cy="1097280"/>
          </a:xfrm>
          <a:prstGeom prst="rect">
            <a:avLst/>
          </a:prstGeom>
          <a:solidFill>
            <a:srgbClr val="1F2937"/>
          </a:solidFill>
          <a:ln w="19050">
            <a:solidFill>
              <a:srgbClr val="10B981"/>
            </a:solidFill>
            <a:prstDash val="solid"/>
          </a:ln>
          <a:effectLst>
            <a:outerShdw sx="100000" sy="100000" kx="0" ky="0" algn="bl" rotWithShape="0" blurRad="127000" dist="38100" dir="8100000">
              <a:srgbClr val="000000">
                <a:alpha val="25000"/>
              </a:srgbClr>
            </a:outerShdw>
          </a:effectLst>
        </p:spPr>
      </p:sp>
      <p:sp>
        <p:nvSpPr>
          <p:cNvPr id="27" name="Shape 25"/>
          <p:cNvSpPr/>
          <p:nvPr/>
        </p:nvSpPr>
        <p:spPr>
          <a:xfrm>
            <a:off x="7251192" y="1005840"/>
            <a:ext cx="1600200" cy="64008"/>
          </a:xfrm>
          <a:prstGeom prst="rect">
            <a:avLst/>
          </a:prstGeom>
          <a:solidFill>
            <a:srgbClr val="10B981"/>
          </a:solidFill>
          <a:ln w="12700">
            <a:solidFill>
              <a:srgbClr val="10B981"/>
            </a:solidFill>
            <a:prstDash val="solid"/>
          </a:ln>
        </p:spPr>
      </p:sp>
      <p:sp>
        <p:nvSpPr>
          <p:cNvPr id="28" name="Text 26"/>
          <p:cNvSpPr/>
          <p:nvPr/>
        </p:nvSpPr>
        <p:spPr>
          <a:xfrm>
            <a:off x="7342632" y="1143000"/>
            <a:ext cx="1417320" cy="822960"/>
          </a:xfrm>
          <a:prstGeom prst="rect">
            <a:avLst/>
          </a:prstGeom>
          <a:noFill/>
          <a:ln/>
        </p:spPr>
        <p:txBody>
          <a:bodyPr wrap="square" lIns="0" tIns="0" rIns="0" bIns="0" rtlCol="0" anchor="ctr"/>
          <a:lstStyle/>
          <a:p>
            <a:pPr algn="ctr" indent="0" marL="0">
              <a:buNone/>
            </a:pPr>
            <a:r>
              <a:rPr lang="en-US" sz="1250" dirty="0">
                <a:solidFill>
                  <a:srgbClr val="F8FAFC"/>
                </a:solidFill>
              </a:rPr>
              <a:t>BM25 +</a:t>
            </a:r>
            <a:endParaRPr lang="en-US" sz="1250" dirty="0"/>
          </a:p>
          <a:p>
            <a:pPr algn="ctr" indent="0" marL="0">
              <a:buNone/>
            </a:pPr>
            <a:r>
              <a:rPr lang="en-US" sz="1250" dirty="0">
                <a:solidFill>
                  <a:srgbClr val="F8FAFC"/>
                </a:solidFill>
              </a:rPr>
              <a:t>FAISS Rebuild</a:t>
            </a:r>
            <a:endParaRPr lang="en-US" sz="1250" dirty="0"/>
          </a:p>
        </p:txBody>
      </p:sp>
      <p:sp>
        <p:nvSpPr>
          <p:cNvPr id="29" name="Shape 27"/>
          <p:cNvSpPr/>
          <p:nvPr/>
        </p:nvSpPr>
        <p:spPr>
          <a:xfrm>
            <a:off x="228600" y="2423160"/>
            <a:ext cx="2743200" cy="1828800"/>
          </a:xfrm>
          <a:prstGeom prst="rect">
            <a:avLst/>
          </a:prstGeom>
          <a:solidFill>
            <a:srgbClr val="1F2937"/>
          </a:solidFill>
          <a:ln w="19050">
            <a:solidFill>
              <a:srgbClr val="0D9488"/>
            </a:solidFill>
            <a:prstDash val="solid"/>
          </a:ln>
          <a:effectLst>
            <a:outerShdw sx="100000" sy="100000" kx="0" ky="0" algn="bl" rotWithShape="0" blurRad="127000" dist="38100" dir="8100000">
              <a:srgbClr val="000000">
                <a:alpha val="25000"/>
              </a:srgbClr>
            </a:outerShdw>
          </a:effectLst>
        </p:spPr>
      </p:sp>
      <p:sp>
        <p:nvSpPr>
          <p:cNvPr id="30" name="Shape 28"/>
          <p:cNvSpPr/>
          <p:nvPr/>
        </p:nvSpPr>
        <p:spPr>
          <a:xfrm>
            <a:off x="228600" y="2423160"/>
            <a:ext cx="64008" cy="1828800"/>
          </a:xfrm>
          <a:prstGeom prst="rect">
            <a:avLst/>
          </a:prstGeom>
          <a:solidFill>
            <a:srgbClr val="0D9488"/>
          </a:solidFill>
          <a:ln w="12700">
            <a:solidFill>
              <a:srgbClr val="0D9488"/>
            </a:solidFill>
            <a:prstDash val="solid"/>
          </a:ln>
        </p:spPr>
      </p:sp>
      <p:sp>
        <p:nvSpPr>
          <p:cNvPr id="31" name="Text 29"/>
          <p:cNvSpPr/>
          <p:nvPr/>
        </p:nvSpPr>
        <p:spPr>
          <a:xfrm>
            <a:off x="411480" y="2514600"/>
            <a:ext cx="2468880" cy="320040"/>
          </a:xfrm>
          <a:prstGeom prst="rect">
            <a:avLst/>
          </a:prstGeom>
          <a:noFill/>
          <a:ln/>
        </p:spPr>
        <p:txBody>
          <a:bodyPr wrap="square" lIns="0" tIns="0" rIns="0" bIns="0" rtlCol="0" anchor="ctr"/>
          <a:lstStyle/>
          <a:p>
            <a:pPr indent="0" marL="0">
              <a:buNone/>
            </a:pPr>
            <a:r>
              <a:rPr lang="en-US" sz="1400" b="1" dirty="0">
                <a:solidFill>
                  <a:srgbClr val="0D9488"/>
                </a:solidFill>
              </a:rPr>
              <a:t>Seed Documents</a:t>
            </a:r>
            <a:endParaRPr lang="en-US" sz="1400" dirty="0"/>
          </a:p>
        </p:txBody>
      </p:sp>
      <p:sp>
        <p:nvSpPr>
          <p:cNvPr id="32" name="Text 30"/>
          <p:cNvSpPr/>
          <p:nvPr/>
        </p:nvSpPr>
        <p:spPr>
          <a:xfrm>
            <a:off x="411480" y="2880360"/>
            <a:ext cx="2468880" cy="731520"/>
          </a:xfrm>
          <a:prstGeom prst="rect">
            <a:avLst/>
          </a:prstGeom>
          <a:noFill/>
          <a:ln/>
        </p:spPr>
        <p:txBody>
          <a:bodyPr wrap="square" lIns="0" tIns="0" rIns="0" bIns="0" rtlCol="0" anchor="ctr"/>
          <a:lstStyle/>
          <a:p>
            <a:pPr indent="0" marL="0">
              <a:lnSpc>
                <a:spcPct val="130000"/>
              </a:lnSpc>
              <a:buNone/>
            </a:pPr>
            <a:r>
              <a:rPr lang="en-US" sz="1100" dirty="0">
                <a:solidFill>
                  <a:srgbClr val="CBD5E1"/>
                </a:solidFill>
              </a:rPr>
              <a:t>15 built-in documents pre-loaded at startup. No crawling needed — works out of the box.</a:t>
            </a:r>
            <a:endParaRPr lang="en-US" sz="1100" dirty="0"/>
          </a:p>
        </p:txBody>
      </p:sp>
      <p:sp>
        <p:nvSpPr>
          <p:cNvPr id="33" name="Shape 31"/>
          <p:cNvSpPr/>
          <p:nvPr/>
        </p:nvSpPr>
        <p:spPr>
          <a:xfrm>
            <a:off x="411480" y="3675888"/>
            <a:ext cx="2468880" cy="411480"/>
          </a:xfrm>
          <a:prstGeom prst="rect">
            <a:avLst/>
          </a:prstGeom>
          <a:solidFill>
            <a:srgbClr val="0D1117"/>
          </a:solidFill>
          <a:ln w="12700">
            <a:solidFill>
              <a:srgbClr val="0D9488"/>
            </a:solidFill>
            <a:prstDash val="solid"/>
          </a:ln>
        </p:spPr>
      </p:sp>
      <p:sp>
        <p:nvSpPr>
          <p:cNvPr id="34" name="Text 32"/>
          <p:cNvSpPr/>
          <p:nvPr/>
        </p:nvSpPr>
        <p:spPr>
          <a:xfrm>
            <a:off x="411480" y="3675888"/>
            <a:ext cx="2468880" cy="411480"/>
          </a:xfrm>
          <a:prstGeom prst="rect">
            <a:avLst/>
          </a:prstGeom>
          <a:noFill/>
          <a:ln/>
        </p:spPr>
        <p:txBody>
          <a:bodyPr wrap="square" lIns="0" tIns="0" rIns="0" bIns="0" rtlCol="0" anchor="ctr"/>
          <a:lstStyle/>
          <a:p>
            <a:pPr algn="ctr" indent="0" marL="0">
              <a:buNone/>
            </a:pPr>
            <a:r>
              <a:rPr lang="en-US" sz="1000" dirty="0">
                <a:solidFill>
                  <a:srgbClr val="0D9488"/>
                </a:solidFill>
                <a:latin typeface="Consolas" pitchFamily="34" charset="0"/>
                <a:ea typeface="Consolas" pitchFamily="34" charset="-122"/>
                <a:cs typeface="Consolas" pitchFamily="34" charset="-120"/>
              </a:rPr>
              <a:t>seed_documents() → INSERT OR IGNORE</a:t>
            </a:r>
            <a:endParaRPr lang="en-US" sz="1000" dirty="0"/>
          </a:p>
        </p:txBody>
      </p:sp>
      <p:sp>
        <p:nvSpPr>
          <p:cNvPr id="35" name="Shape 33"/>
          <p:cNvSpPr/>
          <p:nvPr/>
        </p:nvSpPr>
        <p:spPr>
          <a:xfrm>
            <a:off x="3200400" y="2423160"/>
            <a:ext cx="2743200" cy="1828800"/>
          </a:xfrm>
          <a:prstGeom prst="rect">
            <a:avLst/>
          </a:prstGeom>
          <a:solidFill>
            <a:srgbClr val="1F2937"/>
          </a:solidFill>
          <a:ln w="19050">
            <a:solidFill>
              <a:srgbClr val="F59E0B"/>
            </a:solidFill>
            <a:prstDash val="solid"/>
          </a:ln>
          <a:effectLst>
            <a:outerShdw sx="100000" sy="100000" kx="0" ky="0" algn="bl" rotWithShape="0" blurRad="127000" dist="38100" dir="8100000">
              <a:srgbClr val="000000">
                <a:alpha val="25000"/>
              </a:srgbClr>
            </a:outerShdw>
          </a:effectLst>
        </p:spPr>
      </p:sp>
      <p:sp>
        <p:nvSpPr>
          <p:cNvPr id="36" name="Shape 34"/>
          <p:cNvSpPr/>
          <p:nvPr/>
        </p:nvSpPr>
        <p:spPr>
          <a:xfrm>
            <a:off x="3200400" y="2423160"/>
            <a:ext cx="64008" cy="1828800"/>
          </a:xfrm>
          <a:prstGeom prst="rect">
            <a:avLst/>
          </a:prstGeom>
          <a:solidFill>
            <a:srgbClr val="F59E0B"/>
          </a:solidFill>
          <a:ln w="12700">
            <a:solidFill>
              <a:srgbClr val="F59E0B"/>
            </a:solidFill>
            <a:prstDash val="solid"/>
          </a:ln>
        </p:spPr>
      </p:sp>
      <p:sp>
        <p:nvSpPr>
          <p:cNvPr id="37" name="Text 35"/>
          <p:cNvSpPr/>
          <p:nvPr/>
        </p:nvSpPr>
        <p:spPr>
          <a:xfrm>
            <a:off x="3383280" y="2514600"/>
            <a:ext cx="2468880" cy="320040"/>
          </a:xfrm>
          <a:prstGeom prst="rect">
            <a:avLst/>
          </a:prstGeom>
          <a:noFill/>
          <a:ln/>
        </p:spPr>
        <p:txBody>
          <a:bodyPr wrap="square" lIns="0" tIns="0" rIns="0" bIns="0" rtlCol="0" anchor="ctr"/>
          <a:lstStyle/>
          <a:p>
            <a:pPr indent="0" marL="0">
              <a:buNone/>
            </a:pPr>
            <a:r>
              <a:rPr lang="en-US" sz="1400" b="1" dirty="0">
                <a:solidFill>
                  <a:srgbClr val="F59E0B"/>
                </a:solidFill>
              </a:rPr>
              <a:t>Wikipedia API</a:t>
            </a:r>
            <a:endParaRPr lang="en-US" sz="1400" dirty="0"/>
          </a:p>
        </p:txBody>
      </p:sp>
      <p:sp>
        <p:nvSpPr>
          <p:cNvPr id="38" name="Text 36"/>
          <p:cNvSpPr/>
          <p:nvPr/>
        </p:nvSpPr>
        <p:spPr>
          <a:xfrm>
            <a:off x="3383280" y="2880360"/>
            <a:ext cx="2468880" cy="731520"/>
          </a:xfrm>
          <a:prstGeom prst="rect">
            <a:avLst/>
          </a:prstGeom>
          <a:noFill/>
          <a:ln/>
        </p:spPr>
        <p:txBody>
          <a:bodyPr wrap="square" lIns="0" tIns="0" rIns="0" bIns="0" rtlCol="0" anchor="ctr"/>
          <a:lstStyle/>
          <a:p>
            <a:pPr indent="0" marL="0">
              <a:lnSpc>
                <a:spcPct val="130000"/>
              </a:lnSpc>
              <a:buNone/>
            </a:pPr>
            <a:r>
              <a:rPr lang="en-US" sz="1100" dirty="0">
                <a:solidFill>
                  <a:srgbClr val="CBD5E1"/>
                </a:solidFill>
              </a:rPr>
              <a:t>POST /index/wikipedia with topic list. Fetches clean plain-text extracts via Wikipedia's official API.</a:t>
            </a:r>
            <a:endParaRPr lang="en-US" sz="1100" dirty="0"/>
          </a:p>
        </p:txBody>
      </p:sp>
      <p:sp>
        <p:nvSpPr>
          <p:cNvPr id="39" name="Shape 37"/>
          <p:cNvSpPr/>
          <p:nvPr/>
        </p:nvSpPr>
        <p:spPr>
          <a:xfrm>
            <a:off x="3383280" y="3675888"/>
            <a:ext cx="2468880" cy="411480"/>
          </a:xfrm>
          <a:prstGeom prst="rect">
            <a:avLst/>
          </a:prstGeom>
          <a:solidFill>
            <a:srgbClr val="0D1117"/>
          </a:solidFill>
          <a:ln w="12700">
            <a:solidFill>
              <a:srgbClr val="F59E0B"/>
            </a:solidFill>
            <a:prstDash val="solid"/>
          </a:ln>
        </p:spPr>
      </p:sp>
      <p:sp>
        <p:nvSpPr>
          <p:cNvPr id="40" name="Text 38"/>
          <p:cNvSpPr/>
          <p:nvPr/>
        </p:nvSpPr>
        <p:spPr>
          <a:xfrm>
            <a:off x="3383280" y="3675888"/>
            <a:ext cx="2468880" cy="411480"/>
          </a:xfrm>
          <a:prstGeom prst="rect">
            <a:avLst/>
          </a:prstGeom>
          <a:noFill/>
          <a:ln/>
        </p:spPr>
        <p:txBody>
          <a:bodyPr wrap="square" lIns="0" tIns="0" rIns="0" bIns="0" rtlCol="0" anchor="ctr"/>
          <a:lstStyle/>
          <a:p>
            <a:pPr algn="ctr" indent="0" marL="0">
              <a:buNone/>
            </a:pPr>
            <a:r>
              <a:rPr lang="en-US" sz="1000" dirty="0">
                <a:solidFill>
                  <a:srgbClr val="F59E0B"/>
                </a:solidFill>
                <a:latin typeface="Consolas" pitchFamily="34" charset="0"/>
                <a:ea typeface="Consolas" pitchFamily="34" charset="-122"/>
                <a:cs typeface="Consolas" pitchFamily="34" charset="-120"/>
              </a:rPr>
              <a:t>fetch_wikipedia_article(topic)</a:t>
            </a:r>
            <a:endParaRPr lang="en-US" sz="1000" dirty="0"/>
          </a:p>
        </p:txBody>
      </p:sp>
      <p:sp>
        <p:nvSpPr>
          <p:cNvPr id="41" name="Shape 39"/>
          <p:cNvSpPr/>
          <p:nvPr/>
        </p:nvSpPr>
        <p:spPr>
          <a:xfrm>
            <a:off x="6172200" y="2423160"/>
            <a:ext cx="2743200" cy="1828800"/>
          </a:xfrm>
          <a:prstGeom prst="rect">
            <a:avLst/>
          </a:prstGeom>
          <a:solidFill>
            <a:srgbClr val="1F2937"/>
          </a:solidFill>
          <a:ln w="19050">
            <a:solidFill>
              <a:srgbClr val="10B981"/>
            </a:solidFill>
            <a:prstDash val="solid"/>
          </a:ln>
          <a:effectLst>
            <a:outerShdw sx="100000" sy="100000" kx="0" ky="0" algn="bl" rotWithShape="0" blurRad="127000" dist="38100" dir="8100000">
              <a:srgbClr val="000000">
                <a:alpha val="25000"/>
              </a:srgbClr>
            </a:outerShdw>
          </a:effectLst>
        </p:spPr>
      </p:sp>
      <p:sp>
        <p:nvSpPr>
          <p:cNvPr id="42" name="Shape 40"/>
          <p:cNvSpPr/>
          <p:nvPr/>
        </p:nvSpPr>
        <p:spPr>
          <a:xfrm>
            <a:off x="6172200" y="2423160"/>
            <a:ext cx="64008" cy="1828800"/>
          </a:xfrm>
          <a:prstGeom prst="rect">
            <a:avLst/>
          </a:prstGeom>
          <a:solidFill>
            <a:srgbClr val="10B981"/>
          </a:solidFill>
          <a:ln w="12700">
            <a:solidFill>
              <a:srgbClr val="10B981"/>
            </a:solidFill>
            <a:prstDash val="solid"/>
          </a:ln>
        </p:spPr>
      </p:sp>
      <p:sp>
        <p:nvSpPr>
          <p:cNvPr id="43" name="Text 41"/>
          <p:cNvSpPr/>
          <p:nvPr/>
        </p:nvSpPr>
        <p:spPr>
          <a:xfrm>
            <a:off x="6355080" y="2514600"/>
            <a:ext cx="2468880" cy="320040"/>
          </a:xfrm>
          <a:prstGeom prst="rect">
            <a:avLst/>
          </a:prstGeom>
          <a:noFill/>
          <a:ln/>
        </p:spPr>
        <p:txBody>
          <a:bodyPr wrap="square" lIns="0" tIns="0" rIns="0" bIns="0" rtlCol="0" anchor="ctr"/>
          <a:lstStyle/>
          <a:p>
            <a:pPr indent="0" marL="0">
              <a:buNone/>
            </a:pPr>
            <a:r>
              <a:rPr lang="en-US" sz="1400" b="1" dirty="0">
                <a:solidFill>
                  <a:srgbClr val="10B981"/>
                </a:solidFill>
              </a:rPr>
              <a:t>Web Crawler</a:t>
            </a:r>
            <a:endParaRPr lang="en-US" sz="1400" dirty="0"/>
          </a:p>
        </p:txBody>
      </p:sp>
      <p:sp>
        <p:nvSpPr>
          <p:cNvPr id="44" name="Text 42"/>
          <p:cNvSpPr/>
          <p:nvPr/>
        </p:nvSpPr>
        <p:spPr>
          <a:xfrm>
            <a:off x="6355080" y="2880360"/>
            <a:ext cx="2468880" cy="731520"/>
          </a:xfrm>
          <a:prstGeom prst="rect">
            <a:avLst/>
          </a:prstGeom>
          <a:noFill/>
          <a:ln/>
        </p:spPr>
        <p:txBody>
          <a:bodyPr wrap="square" lIns="0" tIns="0" rIns="0" bIns="0" rtlCol="0" anchor="ctr"/>
          <a:lstStyle/>
          <a:p>
            <a:pPr indent="0" marL="0">
              <a:lnSpc>
                <a:spcPct val="130000"/>
              </a:lnSpc>
              <a:buNone/>
            </a:pPr>
            <a:r>
              <a:rPr lang="en-US" sz="1100" dirty="0">
                <a:solidFill>
                  <a:srgbClr val="CBD5E1"/>
                </a:solidFill>
              </a:rPr>
              <a:t>POST /crawl with seed URLs. BFS crawl up to 50 pages, same-domain priority, HTML parsed by BeautifulSoup.</a:t>
            </a:r>
            <a:endParaRPr lang="en-US" sz="1100" dirty="0"/>
          </a:p>
        </p:txBody>
      </p:sp>
      <p:sp>
        <p:nvSpPr>
          <p:cNvPr id="45" name="Shape 43"/>
          <p:cNvSpPr/>
          <p:nvPr/>
        </p:nvSpPr>
        <p:spPr>
          <a:xfrm>
            <a:off x="6355080" y="3675888"/>
            <a:ext cx="2468880" cy="411480"/>
          </a:xfrm>
          <a:prstGeom prst="rect">
            <a:avLst/>
          </a:prstGeom>
          <a:solidFill>
            <a:srgbClr val="0D1117"/>
          </a:solidFill>
          <a:ln w="12700">
            <a:solidFill>
              <a:srgbClr val="10B981"/>
            </a:solidFill>
            <a:prstDash val="solid"/>
          </a:ln>
        </p:spPr>
      </p:sp>
      <p:sp>
        <p:nvSpPr>
          <p:cNvPr id="46" name="Text 44"/>
          <p:cNvSpPr/>
          <p:nvPr/>
        </p:nvSpPr>
        <p:spPr>
          <a:xfrm>
            <a:off x="6355080" y="3675888"/>
            <a:ext cx="2468880" cy="411480"/>
          </a:xfrm>
          <a:prstGeom prst="rect">
            <a:avLst/>
          </a:prstGeom>
          <a:noFill/>
          <a:ln/>
        </p:spPr>
        <p:txBody>
          <a:bodyPr wrap="square" lIns="0" tIns="0" rIns="0" bIns="0" rtlCol="0" anchor="ctr"/>
          <a:lstStyle/>
          <a:p>
            <a:pPr algn="ctr" indent="0" marL="0">
              <a:buNone/>
            </a:pPr>
            <a:r>
              <a:rPr lang="en-US" sz="1000" dirty="0">
                <a:solidFill>
                  <a:srgbClr val="10B981"/>
                </a:solidFill>
                <a:latin typeface="Consolas" pitchFamily="34" charset="0"/>
                <a:ea typeface="Consolas" pitchFamily="34" charset="-122"/>
                <a:cs typeface="Consolas" pitchFamily="34" charset="-120"/>
              </a:rPr>
              <a:t>run_crawl_job(urls, max_pages)</a:t>
            </a:r>
            <a:endParaRPr lang="en-US" sz="1000" dirty="0"/>
          </a:p>
        </p:txBody>
      </p:sp>
      <p:sp>
        <p:nvSpPr>
          <p:cNvPr id="47" name="Shape 45"/>
          <p:cNvSpPr/>
          <p:nvPr/>
        </p:nvSpPr>
        <p:spPr>
          <a:xfrm>
            <a:off x="228600" y="4407408"/>
            <a:ext cx="8686800" cy="457200"/>
          </a:xfrm>
          <a:prstGeom prst="rect">
            <a:avLst/>
          </a:prstGeom>
          <a:solidFill>
            <a:srgbClr val="161B22"/>
          </a:solidFill>
          <a:ln w="12700">
            <a:solidFill>
              <a:srgbClr val="161B22"/>
            </a:solidFill>
            <a:prstDash val="solid"/>
          </a:ln>
        </p:spPr>
      </p:sp>
      <p:sp>
        <p:nvSpPr>
          <p:cNvPr id="48" name="Text 46"/>
          <p:cNvSpPr/>
          <p:nvPr/>
        </p:nvSpPr>
        <p:spPr>
          <a:xfrm>
            <a:off x="365760" y="4453128"/>
            <a:ext cx="8412480" cy="347472"/>
          </a:xfrm>
          <a:prstGeom prst="rect">
            <a:avLst/>
          </a:prstGeom>
          <a:noFill/>
          <a:ln/>
        </p:spPr>
        <p:txBody>
          <a:bodyPr wrap="square" lIns="0" tIns="0" rIns="0" bIns="0" rtlCol="0" anchor="ctr"/>
          <a:lstStyle/>
          <a:p>
            <a:pPr algn="ctr" indent="0" marL="0">
              <a:buNone/>
            </a:pPr>
            <a:r>
              <a:rPr lang="en-US" sz="1100" i="1" dirty="0">
                <a:solidFill>
                  <a:srgbClr val="FCD34D"/>
                </a:solidFill>
              </a:rPr>
              <a:t>After every indexing operation: rebuild_index() is called to regenerate BM25 tokenisation + FAISS index from the full document store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9488"/>
          </a:solidFill>
          <a:ln w="12700">
            <a:solidFill>
              <a:srgbClr val="0D9488"/>
            </a:solidFill>
            <a:prstDash val="solid"/>
          </a:ln>
        </p:spPr>
      </p:sp>
      <p:sp>
        <p:nvSpPr>
          <p:cNvPr id="3" name="Shape 1"/>
          <p:cNvSpPr/>
          <p:nvPr/>
        </p:nvSpPr>
        <p:spPr>
          <a:xfrm>
            <a:off x="73152" y="0"/>
            <a:ext cx="9070848" cy="822960"/>
          </a:xfrm>
          <a:prstGeom prst="rect">
            <a:avLst/>
          </a:prstGeom>
          <a:solidFill>
            <a:srgbClr val="161B22"/>
          </a:solidFill>
          <a:ln w="12700">
            <a:solidFill>
              <a:srgbClr val="161B22"/>
            </a:solidFill>
            <a:prstDash val="solid"/>
          </a:ln>
        </p:spPr>
      </p:sp>
      <p:sp>
        <p:nvSpPr>
          <p:cNvPr id="4" name="Text 2"/>
          <p:cNvSpPr/>
          <p:nvPr/>
        </p:nvSpPr>
        <p:spPr>
          <a:xfrm>
            <a:off x="228600" y="109728"/>
            <a:ext cx="548640" cy="594360"/>
          </a:xfrm>
          <a:prstGeom prst="rect">
            <a:avLst/>
          </a:prstGeom>
          <a:noFill/>
          <a:ln/>
        </p:spPr>
        <p:txBody>
          <a:bodyPr wrap="square" lIns="0" tIns="0" rIns="0" bIns="0" rtlCol="0" anchor="ctr"/>
          <a:lstStyle/>
          <a:p>
            <a:pPr indent="0" marL="0">
              <a:buNone/>
            </a:pPr>
            <a:r>
              <a:rPr lang="en-US" sz="2800" b="1" dirty="0">
                <a:solidFill>
                  <a:srgbClr val="0D9488"/>
                </a:solidFill>
              </a:rPr>
              <a:t>08</a:t>
            </a:r>
            <a:endParaRPr lang="en-US" sz="2800" dirty="0"/>
          </a:p>
        </p:txBody>
      </p:sp>
      <p:sp>
        <p:nvSpPr>
          <p:cNvPr id="5" name="Text 3"/>
          <p:cNvSpPr/>
          <p:nvPr/>
        </p:nvSpPr>
        <p:spPr>
          <a:xfrm>
            <a:off x="822960" y="137160"/>
            <a:ext cx="7772400" cy="548640"/>
          </a:xfrm>
          <a:prstGeom prst="rect">
            <a:avLst/>
          </a:prstGeom>
          <a:noFill/>
          <a:ln/>
        </p:spPr>
        <p:txBody>
          <a:bodyPr wrap="square" lIns="0" tIns="0" rIns="0" bIns="0" rtlCol="0" anchor="ctr"/>
          <a:lstStyle/>
          <a:p>
            <a:pPr indent="0" marL="0">
              <a:buNone/>
            </a:pPr>
            <a:r>
              <a:rPr lang="en-US" sz="2600" b="1" dirty="0">
                <a:solidFill>
                  <a:srgbClr val="F8FAFC"/>
                </a:solidFill>
                <a:latin typeface="Georgia" pitchFamily="34" charset="0"/>
                <a:ea typeface="Georgia" pitchFamily="34" charset="-122"/>
                <a:cs typeface="Georgia" pitchFamily="34" charset="-120"/>
              </a:rPr>
              <a:t>Reciprocal Rank Fusion — Merging Two Rankers</a:t>
            </a:r>
            <a:endParaRPr lang="en-US" sz="2600" dirty="0"/>
          </a:p>
        </p:txBody>
      </p:sp>
      <p:sp>
        <p:nvSpPr>
          <p:cNvPr id="6" name="Shape 4"/>
          <p:cNvSpPr/>
          <p:nvPr/>
        </p:nvSpPr>
        <p:spPr>
          <a:xfrm>
            <a:off x="228600" y="960120"/>
            <a:ext cx="4937760" cy="1417320"/>
          </a:xfrm>
          <a:prstGeom prst="rect">
            <a:avLst/>
          </a:prstGeom>
          <a:solidFill>
            <a:srgbClr val="1F2937"/>
          </a:solidFill>
          <a:ln w="19050">
            <a:solidFill>
              <a:srgbClr val="0D9488"/>
            </a:solidFill>
            <a:prstDash val="solid"/>
          </a:ln>
          <a:effectLst>
            <a:outerShdw sx="100000" sy="100000" kx="0" ky="0" algn="bl" rotWithShape="0" blurRad="127000" dist="38100" dir="8100000">
              <a:srgbClr val="000000">
                <a:alpha val="25000"/>
              </a:srgbClr>
            </a:outerShdw>
          </a:effectLst>
        </p:spPr>
      </p:sp>
      <p:sp>
        <p:nvSpPr>
          <p:cNvPr id="7" name="Text 5"/>
          <p:cNvSpPr/>
          <p:nvPr/>
        </p:nvSpPr>
        <p:spPr>
          <a:xfrm>
            <a:off x="365760" y="1051560"/>
            <a:ext cx="4663440" cy="274320"/>
          </a:xfrm>
          <a:prstGeom prst="rect">
            <a:avLst/>
          </a:prstGeom>
          <a:noFill/>
          <a:ln/>
        </p:spPr>
        <p:txBody>
          <a:bodyPr wrap="square" lIns="0" tIns="0" rIns="0" bIns="0" rtlCol="0" anchor="ctr"/>
          <a:lstStyle/>
          <a:p>
            <a:pPr indent="0" marL="0">
              <a:buNone/>
            </a:pPr>
            <a:r>
              <a:rPr lang="en-US" sz="1400" b="1" dirty="0">
                <a:solidFill>
                  <a:srgbClr val="0D9488"/>
                </a:solidFill>
              </a:rPr>
              <a:t>What is RRF?</a:t>
            </a:r>
            <a:endParaRPr lang="en-US" sz="1400" dirty="0"/>
          </a:p>
        </p:txBody>
      </p:sp>
      <p:sp>
        <p:nvSpPr>
          <p:cNvPr id="8" name="Text 6"/>
          <p:cNvSpPr/>
          <p:nvPr/>
        </p:nvSpPr>
        <p:spPr>
          <a:xfrm>
            <a:off x="365760" y="1371600"/>
            <a:ext cx="4663440" cy="868680"/>
          </a:xfrm>
          <a:prstGeom prst="rect">
            <a:avLst/>
          </a:prstGeom>
          <a:noFill/>
          <a:ln/>
        </p:spPr>
        <p:txBody>
          <a:bodyPr wrap="square" lIns="0" tIns="0" rIns="0" bIns="0" rtlCol="0" anchor="ctr"/>
          <a:lstStyle/>
          <a:p>
            <a:pPr indent="0" marL="0">
              <a:lnSpc>
                <a:spcPct val="135000"/>
              </a:lnSpc>
              <a:buNone/>
            </a:pPr>
            <a:r>
              <a:rPr lang="en-US" sz="1200" dirty="0">
                <a:solidFill>
                  <a:srgbClr val="CBD5E1"/>
                </a:solidFill>
              </a:rPr>
              <a:t>Reciprocal Rank Fusion is a rank aggregation algorithm that combines multiple ranked lists into one. Instead of merging raw scores (which may be on different scales), it only uses the rank position of each document in each list.</a:t>
            </a:r>
            <a:endParaRPr lang="en-US" sz="1200" dirty="0"/>
          </a:p>
        </p:txBody>
      </p:sp>
      <p:sp>
        <p:nvSpPr>
          <p:cNvPr id="9" name="Shape 7"/>
          <p:cNvSpPr/>
          <p:nvPr/>
        </p:nvSpPr>
        <p:spPr>
          <a:xfrm>
            <a:off x="5394960" y="960120"/>
            <a:ext cx="3520440" cy="1417320"/>
          </a:xfrm>
          <a:prstGeom prst="rect">
            <a:avLst/>
          </a:prstGeom>
          <a:solidFill>
            <a:srgbClr val="161B22"/>
          </a:solidFill>
          <a:ln w="19050">
            <a:solidFill>
              <a:srgbClr val="F43F5E"/>
            </a:solidFill>
            <a:prstDash val="solid"/>
          </a:ln>
          <a:effectLst>
            <a:outerShdw sx="100000" sy="100000" kx="0" ky="0" algn="bl" rotWithShape="0" blurRad="127000" dist="38100" dir="8100000">
              <a:srgbClr val="000000">
                <a:alpha val="25000"/>
              </a:srgbClr>
            </a:outerShdw>
          </a:effectLst>
        </p:spPr>
      </p:sp>
      <p:sp>
        <p:nvSpPr>
          <p:cNvPr id="10" name="Text 8"/>
          <p:cNvSpPr/>
          <p:nvPr/>
        </p:nvSpPr>
        <p:spPr>
          <a:xfrm>
            <a:off x="5532120" y="1051560"/>
            <a:ext cx="3246120" cy="274320"/>
          </a:xfrm>
          <a:prstGeom prst="rect">
            <a:avLst/>
          </a:prstGeom>
          <a:noFill/>
          <a:ln/>
        </p:spPr>
        <p:txBody>
          <a:bodyPr wrap="square" lIns="0" tIns="0" rIns="0" bIns="0" rtlCol="0" anchor="ctr"/>
          <a:lstStyle/>
          <a:p>
            <a:pPr indent="0" marL="0">
              <a:buNone/>
            </a:pPr>
            <a:r>
              <a:rPr lang="en-US" sz="1300" b="1" dirty="0">
                <a:solidFill>
                  <a:srgbClr val="F43F5E"/>
                </a:solidFill>
              </a:rPr>
              <a:t>RRF Formula</a:t>
            </a:r>
            <a:endParaRPr lang="en-US" sz="1300" dirty="0"/>
          </a:p>
        </p:txBody>
      </p:sp>
      <p:sp>
        <p:nvSpPr>
          <p:cNvPr id="11" name="Text 9"/>
          <p:cNvSpPr/>
          <p:nvPr/>
        </p:nvSpPr>
        <p:spPr>
          <a:xfrm>
            <a:off x="5532120" y="1417320"/>
            <a:ext cx="3246120" cy="457200"/>
          </a:xfrm>
          <a:prstGeom prst="rect">
            <a:avLst/>
          </a:prstGeom>
          <a:noFill/>
          <a:ln/>
        </p:spPr>
        <p:txBody>
          <a:bodyPr wrap="square" lIns="0" tIns="0" rIns="0" bIns="0" rtlCol="0" anchor="ctr"/>
          <a:lstStyle/>
          <a:p>
            <a:pPr algn="ctr" indent="0" marL="0">
              <a:buNone/>
            </a:pPr>
            <a:r>
              <a:rPr lang="en-US" sz="1450" dirty="0">
                <a:solidFill>
                  <a:srgbClr val="FCD34D"/>
                </a:solidFill>
                <a:latin typeface="Consolas" pitchFamily="34" charset="0"/>
                <a:ea typeface="Consolas" pitchFamily="34" charset="-122"/>
                <a:cs typeface="Consolas" pitchFamily="34" charset="-120"/>
              </a:rPr>
              <a:t>RRF(d) = Σ  1 / (k + rank(d))</a:t>
            </a:r>
            <a:endParaRPr lang="en-US" sz="1450" dirty="0"/>
          </a:p>
        </p:txBody>
      </p:sp>
      <p:sp>
        <p:nvSpPr>
          <p:cNvPr id="12" name="Text 10"/>
          <p:cNvSpPr/>
          <p:nvPr/>
        </p:nvSpPr>
        <p:spPr>
          <a:xfrm>
            <a:off x="5532120" y="1920240"/>
            <a:ext cx="3246120" cy="320040"/>
          </a:xfrm>
          <a:prstGeom prst="rect">
            <a:avLst/>
          </a:prstGeom>
          <a:noFill/>
          <a:ln/>
        </p:spPr>
        <p:txBody>
          <a:bodyPr wrap="square" lIns="0" tIns="0" rIns="0" bIns="0" rtlCol="0" anchor="ctr"/>
          <a:lstStyle/>
          <a:p>
            <a:pPr algn="ctr" indent="0" marL="0">
              <a:buNone/>
            </a:pPr>
            <a:r>
              <a:rPr lang="en-US" sz="1100" dirty="0">
                <a:solidFill>
                  <a:srgbClr val="94A3B8"/>
                </a:solidFill>
              </a:rPr>
              <a:t>k = 60  (smoothing constant)</a:t>
            </a:r>
            <a:endParaRPr lang="en-US" sz="1100" dirty="0"/>
          </a:p>
        </p:txBody>
      </p:sp>
      <p:sp>
        <p:nvSpPr>
          <p:cNvPr id="13" name="Shape 11"/>
          <p:cNvSpPr/>
          <p:nvPr/>
        </p:nvSpPr>
        <p:spPr>
          <a:xfrm>
            <a:off x="228600" y="2514600"/>
            <a:ext cx="8686800" cy="384048"/>
          </a:xfrm>
          <a:prstGeom prst="rect">
            <a:avLst/>
          </a:prstGeom>
          <a:solidFill>
            <a:srgbClr val="0D9488"/>
          </a:solidFill>
          <a:ln w="12700">
            <a:solidFill>
              <a:srgbClr val="0D9488"/>
            </a:solidFill>
            <a:prstDash val="solid"/>
          </a:ln>
        </p:spPr>
      </p:sp>
      <p:sp>
        <p:nvSpPr>
          <p:cNvPr id="14" name="Text 12"/>
          <p:cNvSpPr/>
          <p:nvPr/>
        </p:nvSpPr>
        <p:spPr>
          <a:xfrm>
            <a:off x="274320" y="2542032"/>
            <a:ext cx="1371600" cy="320040"/>
          </a:xfrm>
          <a:prstGeom prst="rect">
            <a:avLst/>
          </a:prstGeom>
          <a:noFill/>
          <a:ln/>
        </p:spPr>
        <p:txBody>
          <a:bodyPr wrap="square" lIns="0" tIns="0" rIns="0" bIns="0" rtlCol="0" anchor="ctr"/>
          <a:lstStyle/>
          <a:p>
            <a:pPr indent="0" marL="0">
              <a:buNone/>
            </a:pPr>
            <a:r>
              <a:rPr lang="en-US" sz="1100" b="1" dirty="0">
                <a:solidFill>
                  <a:srgbClr val="F8FAFC"/>
                </a:solidFill>
              </a:rPr>
              <a:t>Document</a:t>
            </a:r>
            <a:endParaRPr lang="en-US" sz="1100" dirty="0"/>
          </a:p>
        </p:txBody>
      </p:sp>
      <p:sp>
        <p:nvSpPr>
          <p:cNvPr id="15" name="Text 13"/>
          <p:cNvSpPr/>
          <p:nvPr/>
        </p:nvSpPr>
        <p:spPr>
          <a:xfrm>
            <a:off x="1691640" y="2542032"/>
            <a:ext cx="1371600" cy="320040"/>
          </a:xfrm>
          <a:prstGeom prst="rect">
            <a:avLst/>
          </a:prstGeom>
          <a:noFill/>
          <a:ln/>
        </p:spPr>
        <p:txBody>
          <a:bodyPr wrap="square" lIns="0" tIns="0" rIns="0" bIns="0" rtlCol="0" anchor="ctr"/>
          <a:lstStyle/>
          <a:p>
            <a:pPr indent="0" marL="0">
              <a:buNone/>
            </a:pPr>
            <a:r>
              <a:rPr lang="en-US" sz="1100" b="1" dirty="0">
                <a:solidFill>
                  <a:srgbClr val="F8FAFC"/>
                </a:solidFill>
              </a:rPr>
              <a:t>BM25 Rank</a:t>
            </a:r>
            <a:endParaRPr lang="en-US" sz="1100" dirty="0"/>
          </a:p>
        </p:txBody>
      </p:sp>
      <p:sp>
        <p:nvSpPr>
          <p:cNvPr id="16" name="Text 14"/>
          <p:cNvSpPr/>
          <p:nvPr/>
        </p:nvSpPr>
        <p:spPr>
          <a:xfrm>
            <a:off x="3017520" y="2542032"/>
            <a:ext cx="1371600" cy="320040"/>
          </a:xfrm>
          <a:prstGeom prst="rect">
            <a:avLst/>
          </a:prstGeom>
          <a:noFill/>
          <a:ln/>
        </p:spPr>
        <p:txBody>
          <a:bodyPr wrap="square" lIns="0" tIns="0" rIns="0" bIns="0" rtlCol="0" anchor="ctr"/>
          <a:lstStyle/>
          <a:p>
            <a:pPr indent="0" marL="0">
              <a:buNone/>
            </a:pPr>
            <a:r>
              <a:rPr lang="en-US" sz="1100" b="1" dirty="0">
                <a:solidFill>
                  <a:srgbClr val="F8FAFC"/>
                </a:solidFill>
              </a:rPr>
              <a:t>BM25 Score</a:t>
            </a:r>
            <a:endParaRPr lang="en-US" sz="1100" dirty="0"/>
          </a:p>
        </p:txBody>
      </p:sp>
      <p:sp>
        <p:nvSpPr>
          <p:cNvPr id="17" name="Text 15"/>
          <p:cNvSpPr/>
          <p:nvPr/>
        </p:nvSpPr>
        <p:spPr>
          <a:xfrm>
            <a:off x="4434840" y="2542032"/>
            <a:ext cx="1371600" cy="320040"/>
          </a:xfrm>
          <a:prstGeom prst="rect">
            <a:avLst/>
          </a:prstGeom>
          <a:noFill/>
          <a:ln/>
        </p:spPr>
        <p:txBody>
          <a:bodyPr wrap="square" lIns="0" tIns="0" rIns="0" bIns="0" rtlCol="0" anchor="ctr"/>
          <a:lstStyle/>
          <a:p>
            <a:pPr indent="0" marL="0">
              <a:buNone/>
            </a:pPr>
            <a:r>
              <a:rPr lang="en-US" sz="1100" b="1" dirty="0">
                <a:solidFill>
                  <a:srgbClr val="F8FAFC"/>
                </a:solidFill>
              </a:rPr>
              <a:t>Neural Rank</a:t>
            </a:r>
            <a:endParaRPr lang="en-US" sz="1100" dirty="0"/>
          </a:p>
        </p:txBody>
      </p:sp>
      <p:sp>
        <p:nvSpPr>
          <p:cNvPr id="18" name="Text 16"/>
          <p:cNvSpPr/>
          <p:nvPr/>
        </p:nvSpPr>
        <p:spPr>
          <a:xfrm>
            <a:off x="5760720" y="2542032"/>
            <a:ext cx="1371600" cy="320040"/>
          </a:xfrm>
          <a:prstGeom prst="rect">
            <a:avLst/>
          </a:prstGeom>
          <a:noFill/>
          <a:ln/>
        </p:spPr>
        <p:txBody>
          <a:bodyPr wrap="square" lIns="0" tIns="0" rIns="0" bIns="0" rtlCol="0" anchor="ctr"/>
          <a:lstStyle/>
          <a:p>
            <a:pPr indent="0" marL="0">
              <a:buNone/>
            </a:pPr>
            <a:r>
              <a:rPr lang="en-US" sz="1100" b="1" dirty="0">
                <a:solidFill>
                  <a:srgbClr val="F8FAFC"/>
                </a:solidFill>
              </a:rPr>
              <a:t>Neural Score</a:t>
            </a:r>
            <a:endParaRPr lang="en-US" sz="1100" dirty="0"/>
          </a:p>
        </p:txBody>
      </p:sp>
      <p:sp>
        <p:nvSpPr>
          <p:cNvPr id="19" name="Text 17"/>
          <p:cNvSpPr/>
          <p:nvPr/>
        </p:nvSpPr>
        <p:spPr>
          <a:xfrm>
            <a:off x="7223760" y="2542032"/>
            <a:ext cx="1371600" cy="320040"/>
          </a:xfrm>
          <a:prstGeom prst="rect">
            <a:avLst/>
          </a:prstGeom>
          <a:noFill/>
          <a:ln/>
        </p:spPr>
        <p:txBody>
          <a:bodyPr wrap="square" lIns="0" tIns="0" rIns="0" bIns="0" rtlCol="0" anchor="ctr"/>
          <a:lstStyle/>
          <a:p>
            <a:pPr indent="0" marL="0">
              <a:buNone/>
            </a:pPr>
            <a:r>
              <a:rPr lang="en-US" sz="1100" b="1" dirty="0">
                <a:solidFill>
                  <a:srgbClr val="F8FAFC"/>
                </a:solidFill>
              </a:rPr>
              <a:t>RRF Score</a:t>
            </a:r>
            <a:endParaRPr lang="en-US" sz="1100" dirty="0"/>
          </a:p>
        </p:txBody>
      </p:sp>
      <p:sp>
        <p:nvSpPr>
          <p:cNvPr id="20" name="Shape 18"/>
          <p:cNvSpPr/>
          <p:nvPr/>
        </p:nvSpPr>
        <p:spPr>
          <a:xfrm>
            <a:off x="228600" y="2898648"/>
            <a:ext cx="8686800" cy="420624"/>
          </a:xfrm>
          <a:prstGeom prst="rect">
            <a:avLst/>
          </a:prstGeom>
          <a:solidFill>
            <a:srgbClr val="1F2937"/>
          </a:solidFill>
          <a:ln w="12700">
            <a:solidFill>
              <a:srgbClr val="1F2937"/>
            </a:solidFill>
            <a:prstDash val="solid"/>
          </a:ln>
        </p:spPr>
      </p:sp>
      <p:sp>
        <p:nvSpPr>
          <p:cNvPr id="21" name="Text 19"/>
          <p:cNvSpPr/>
          <p:nvPr/>
        </p:nvSpPr>
        <p:spPr>
          <a:xfrm>
            <a:off x="274320" y="2926080"/>
            <a:ext cx="1371600" cy="347472"/>
          </a:xfrm>
          <a:prstGeom prst="rect">
            <a:avLst/>
          </a:prstGeom>
          <a:noFill/>
          <a:ln/>
        </p:spPr>
        <p:txBody>
          <a:bodyPr wrap="square" lIns="0" tIns="0" rIns="0" bIns="0" rtlCol="0" anchor="ctr"/>
          <a:lstStyle/>
          <a:p>
            <a:pPr indent="0" marL="0">
              <a:buNone/>
            </a:pPr>
            <a:r>
              <a:rPr lang="en-US" sz="1150" dirty="0">
                <a:solidFill>
                  <a:srgbClr val="CBD5E1"/>
                </a:solidFill>
              </a:rPr>
              <a:t>Doc A</a:t>
            </a:r>
            <a:endParaRPr lang="en-US" sz="1150" dirty="0"/>
          </a:p>
        </p:txBody>
      </p:sp>
      <p:sp>
        <p:nvSpPr>
          <p:cNvPr id="22" name="Text 20"/>
          <p:cNvSpPr/>
          <p:nvPr/>
        </p:nvSpPr>
        <p:spPr>
          <a:xfrm>
            <a:off x="1691640" y="2926080"/>
            <a:ext cx="1371600" cy="347472"/>
          </a:xfrm>
          <a:prstGeom prst="rect">
            <a:avLst/>
          </a:prstGeom>
          <a:noFill/>
          <a:ln/>
        </p:spPr>
        <p:txBody>
          <a:bodyPr wrap="square" lIns="0" tIns="0" rIns="0" bIns="0" rtlCol="0" anchor="ctr"/>
          <a:lstStyle/>
          <a:p>
            <a:pPr indent="0" marL="0">
              <a:buNone/>
            </a:pPr>
            <a:r>
              <a:rPr lang="en-US" sz="1150" dirty="0">
                <a:solidFill>
                  <a:srgbClr val="CBD5E1"/>
                </a:solidFill>
              </a:rPr>
              <a:t>#1</a:t>
            </a:r>
            <a:endParaRPr lang="en-US" sz="1150" dirty="0"/>
          </a:p>
        </p:txBody>
      </p:sp>
      <p:sp>
        <p:nvSpPr>
          <p:cNvPr id="23" name="Text 21"/>
          <p:cNvSpPr/>
          <p:nvPr/>
        </p:nvSpPr>
        <p:spPr>
          <a:xfrm>
            <a:off x="3017520" y="2926080"/>
            <a:ext cx="1371600" cy="347472"/>
          </a:xfrm>
          <a:prstGeom prst="rect">
            <a:avLst/>
          </a:prstGeom>
          <a:noFill/>
          <a:ln/>
        </p:spPr>
        <p:txBody>
          <a:bodyPr wrap="square" lIns="0" tIns="0" rIns="0" bIns="0" rtlCol="0" anchor="ctr"/>
          <a:lstStyle/>
          <a:p>
            <a:pPr indent="0" marL="0">
              <a:buNone/>
            </a:pPr>
            <a:r>
              <a:rPr lang="en-US" sz="1150" dirty="0">
                <a:solidFill>
                  <a:srgbClr val="CBD5E1"/>
                </a:solidFill>
              </a:rPr>
              <a:t>0.95</a:t>
            </a:r>
            <a:endParaRPr lang="en-US" sz="1150" dirty="0"/>
          </a:p>
        </p:txBody>
      </p:sp>
      <p:sp>
        <p:nvSpPr>
          <p:cNvPr id="24" name="Text 22"/>
          <p:cNvSpPr/>
          <p:nvPr/>
        </p:nvSpPr>
        <p:spPr>
          <a:xfrm>
            <a:off x="4434840" y="2926080"/>
            <a:ext cx="1371600" cy="347472"/>
          </a:xfrm>
          <a:prstGeom prst="rect">
            <a:avLst/>
          </a:prstGeom>
          <a:noFill/>
          <a:ln/>
        </p:spPr>
        <p:txBody>
          <a:bodyPr wrap="square" lIns="0" tIns="0" rIns="0" bIns="0" rtlCol="0" anchor="ctr"/>
          <a:lstStyle/>
          <a:p>
            <a:pPr indent="0" marL="0">
              <a:buNone/>
            </a:pPr>
            <a:r>
              <a:rPr lang="en-US" sz="1150" dirty="0">
                <a:solidFill>
                  <a:srgbClr val="CBD5E1"/>
                </a:solidFill>
              </a:rPr>
              <a:t>#3</a:t>
            </a:r>
            <a:endParaRPr lang="en-US" sz="1150" dirty="0"/>
          </a:p>
        </p:txBody>
      </p:sp>
      <p:sp>
        <p:nvSpPr>
          <p:cNvPr id="25" name="Text 23"/>
          <p:cNvSpPr/>
          <p:nvPr/>
        </p:nvSpPr>
        <p:spPr>
          <a:xfrm>
            <a:off x="5760720" y="2926080"/>
            <a:ext cx="1371600" cy="347472"/>
          </a:xfrm>
          <a:prstGeom prst="rect">
            <a:avLst/>
          </a:prstGeom>
          <a:noFill/>
          <a:ln/>
        </p:spPr>
        <p:txBody>
          <a:bodyPr wrap="square" lIns="0" tIns="0" rIns="0" bIns="0" rtlCol="0" anchor="ctr"/>
          <a:lstStyle/>
          <a:p>
            <a:pPr indent="0" marL="0">
              <a:buNone/>
            </a:pPr>
            <a:r>
              <a:rPr lang="en-US" sz="1150" dirty="0">
                <a:solidFill>
                  <a:srgbClr val="CBD5E1"/>
                </a:solidFill>
              </a:rPr>
              <a:t>0.78</a:t>
            </a:r>
            <a:endParaRPr lang="en-US" sz="1150" dirty="0"/>
          </a:p>
        </p:txBody>
      </p:sp>
      <p:sp>
        <p:nvSpPr>
          <p:cNvPr id="26" name="Text 24"/>
          <p:cNvSpPr/>
          <p:nvPr/>
        </p:nvSpPr>
        <p:spPr>
          <a:xfrm>
            <a:off x="7223760" y="2926080"/>
            <a:ext cx="1371600" cy="347472"/>
          </a:xfrm>
          <a:prstGeom prst="rect">
            <a:avLst/>
          </a:prstGeom>
          <a:noFill/>
          <a:ln/>
        </p:spPr>
        <p:txBody>
          <a:bodyPr wrap="square" lIns="0" tIns="0" rIns="0" bIns="0" rtlCol="0" anchor="ctr"/>
          <a:lstStyle/>
          <a:p>
            <a:pPr indent="0" marL="0">
              <a:buNone/>
            </a:pPr>
            <a:r>
              <a:rPr lang="en-US" sz="1150" dirty="0">
                <a:solidFill>
                  <a:srgbClr val="CBD5E1"/>
                </a:solidFill>
              </a:rPr>
              <a:t>0.0310</a:t>
            </a:r>
            <a:endParaRPr lang="en-US" sz="1150" dirty="0"/>
          </a:p>
        </p:txBody>
      </p:sp>
      <p:sp>
        <p:nvSpPr>
          <p:cNvPr id="27" name="Shape 25"/>
          <p:cNvSpPr/>
          <p:nvPr/>
        </p:nvSpPr>
        <p:spPr>
          <a:xfrm>
            <a:off x="228600" y="3337560"/>
            <a:ext cx="8686800" cy="420624"/>
          </a:xfrm>
          <a:prstGeom prst="rect">
            <a:avLst/>
          </a:prstGeom>
          <a:solidFill>
            <a:srgbClr val="161B22"/>
          </a:solidFill>
          <a:ln w="12700">
            <a:solidFill>
              <a:srgbClr val="161B22"/>
            </a:solidFill>
            <a:prstDash val="solid"/>
          </a:ln>
        </p:spPr>
      </p:sp>
      <p:sp>
        <p:nvSpPr>
          <p:cNvPr id="28" name="Text 26"/>
          <p:cNvSpPr/>
          <p:nvPr/>
        </p:nvSpPr>
        <p:spPr>
          <a:xfrm>
            <a:off x="274320" y="3364992"/>
            <a:ext cx="1371600" cy="347472"/>
          </a:xfrm>
          <a:prstGeom prst="rect">
            <a:avLst/>
          </a:prstGeom>
          <a:noFill/>
          <a:ln/>
        </p:spPr>
        <p:txBody>
          <a:bodyPr wrap="square" lIns="0" tIns="0" rIns="0" bIns="0" rtlCol="0" anchor="ctr"/>
          <a:lstStyle/>
          <a:p>
            <a:pPr indent="0" marL="0">
              <a:buNone/>
            </a:pPr>
            <a:r>
              <a:rPr lang="en-US" sz="1150" dirty="0">
                <a:solidFill>
                  <a:srgbClr val="CBD5E1"/>
                </a:solidFill>
              </a:rPr>
              <a:t>Doc B</a:t>
            </a:r>
            <a:endParaRPr lang="en-US" sz="1150" dirty="0"/>
          </a:p>
        </p:txBody>
      </p:sp>
      <p:sp>
        <p:nvSpPr>
          <p:cNvPr id="29" name="Text 27"/>
          <p:cNvSpPr/>
          <p:nvPr/>
        </p:nvSpPr>
        <p:spPr>
          <a:xfrm>
            <a:off x="1691640" y="3364992"/>
            <a:ext cx="1371600" cy="347472"/>
          </a:xfrm>
          <a:prstGeom prst="rect">
            <a:avLst/>
          </a:prstGeom>
          <a:noFill/>
          <a:ln/>
        </p:spPr>
        <p:txBody>
          <a:bodyPr wrap="square" lIns="0" tIns="0" rIns="0" bIns="0" rtlCol="0" anchor="ctr"/>
          <a:lstStyle/>
          <a:p>
            <a:pPr indent="0" marL="0">
              <a:buNone/>
            </a:pPr>
            <a:r>
              <a:rPr lang="en-US" sz="1150" dirty="0">
                <a:solidFill>
                  <a:srgbClr val="CBD5E1"/>
                </a:solidFill>
              </a:rPr>
              <a:t>#3</a:t>
            </a:r>
            <a:endParaRPr lang="en-US" sz="1150" dirty="0"/>
          </a:p>
        </p:txBody>
      </p:sp>
      <p:sp>
        <p:nvSpPr>
          <p:cNvPr id="30" name="Text 28"/>
          <p:cNvSpPr/>
          <p:nvPr/>
        </p:nvSpPr>
        <p:spPr>
          <a:xfrm>
            <a:off x="3017520" y="3364992"/>
            <a:ext cx="1371600" cy="347472"/>
          </a:xfrm>
          <a:prstGeom prst="rect">
            <a:avLst/>
          </a:prstGeom>
          <a:noFill/>
          <a:ln/>
        </p:spPr>
        <p:txBody>
          <a:bodyPr wrap="square" lIns="0" tIns="0" rIns="0" bIns="0" rtlCol="0" anchor="ctr"/>
          <a:lstStyle/>
          <a:p>
            <a:pPr indent="0" marL="0">
              <a:buNone/>
            </a:pPr>
            <a:r>
              <a:rPr lang="en-US" sz="1150" dirty="0">
                <a:solidFill>
                  <a:srgbClr val="CBD5E1"/>
                </a:solidFill>
              </a:rPr>
              <a:t>0.72</a:t>
            </a:r>
            <a:endParaRPr lang="en-US" sz="1150" dirty="0"/>
          </a:p>
        </p:txBody>
      </p:sp>
      <p:sp>
        <p:nvSpPr>
          <p:cNvPr id="31" name="Text 29"/>
          <p:cNvSpPr/>
          <p:nvPr/>
        </p:nvSpPr>
        <p:spPr>
          <a:xfrm>
            <a:off x="4434840" y="3364992"/>
            <a:ext cx="1371600" cy="347472"/>
          </a:xfrm>
          <a:prstGeom prst="rect">
            <a:avLst/>
          </a:prstGeom>
          <a:noFill/>
          <a:ln/>
        </p:spPr>
        <p:txBody>
          <a:bodyPr wrap="square" lIns="0" tIns="0" rIns="0" bIns="0" rtlCol="0" anchor="ctr"/>
          <a:lstStyle/>
          <a:p>
            <a:pPr indent="0" marL="0">
              <a:buNone/>
            </a:pPr>
            <a:r>
              <a:rPr lang="en-US" sz="1150" dirty="0">
                <a:solidFill>
                  <a:srgbClr val="CBD5E1"/>
                </a:solidFill>
              </a:rPr>
              <a:t>#1</a:t>
            </a:r>
            <a:endParaRPr lang="en-US" sz="1150" dirty="0"/>
          </a:p>
        </p:txBody>
      </p:sp>
      <p:sp>
        <p:nvSpPr>
          <p:cNvPr id="32" name="Text 30"/>
          <p:cNvSpPr/>
          <p:nvPr/>
        </p:nvSpPr>
        <p:spPr>
          <a:xfrm>
            <a:off x="5760720" y="3364992"/>
            <a:ext cx="1371600" cy="347472"/>
          </a:xfrm>
          <a:prstGeom prst="rect">
            <a:avLst/>
          </a:prstGeom>
          <a:noFill/>
          <a:ln/>
        </p:spPr>
        <p:txBody>
          <a:bodyPr wrap="square" lIns="0" tIns="0" rIns="0" bIns="0" rtlCol="0" anchor="ctr"/>
          <a:lstStyle/>
          <a:p>
            <a:pPr indent="0" marL="0">
              <a:buNone/>
            </a:pPr>
            <a:r>
              <a:rPr lang="en-US" sz="1150" dirty="0">
                <a:solidFill>
                  <a:srgbClr val="CBD5E1"/>
                </a:solidFill>
              </a:rPr>
              <a:t>0.91</a:t>
            </a:r>
            <a:endParaRPr lang="en-US" sz="1150" dirty="0"/>
          </a:p>
        </p:txBody>
      </p:sp>
      <p:sp>
        <p:nvSpPr>
          <p:cNvPr id="33" name="Text 31"/>
          <p:cNvSpPr/>
          <p:nvPr/>
        </p:nvSpPr>
        <p:spPr>
          <a:xfrm>
            <a:off x="7223760" y="3364992"/>
            <a:ext cx="1371600" cy="347472"/>
          </a:xfrm>
          <a:prstGeom prst="rect">
            <a:avLst/>
          </a:prstGeom>
          <a:noFill/>
          <a:ln/>
        </p:spPr>
        <p:txBody>
          <a:bodyPr wrap="square" lIns="0" tIns="0" rIns="0" bIns="0" rtlCol="0" anchor="ctr"/>
          <a:lstStyle/>
          <a:p>
            <a:pPr indent="0" marL="0">
              <a:buNone/>
            </a:pPr>
            <a:r>
              <a:rPr lang="en-US" sz="1150" dirty="0">
                <a:solidFill>
                  <a:srgbClr val="CBD5E1"/>
                </a:solidFill>
              </a:rPr>
              <a:t>0.0309</a:t>
            </a:r>
            <a:endParaRPr lang="en-US" sz="1150" dirty="0"/>
          </a:p>
        </p:txBody>
      </p:sp>
      <p:sp>
        <p:nvSpPr>
          <p:cNvPr id="34" name="Shape 32"/>
          <p:cNvSpPr/>
          <p:nvPr/>
        </p:nvSpPr>
        <p:spPr>
          <a:xfrm>
            <a:off x="228600" y="3776472"/>
            <a:ext cx="8686800" cy="420624"/>
          </a:xfrm>
          <a:prstGeom prst="rect">
            <a:avLst/>
          </a:prstGeom>
          <a:solidFill>
            <a:srgbClr val="1F2937"/>
          </a:solidFill>
          <a:ln w="12700">
            <a:solidFill>
              <a:srgbClr val="1F2937"/>
            </a:solidFill>
            <a:prstDash val="solid"/>
          </a:ln>
        </p:spPr>
      </p:sp>
      <p:sp>
        <p:nvSpPr>
          <p:cNvPr id="35" name="Text 33"/>
          <p:cNvSpPr/>
          <p:nvPr/>
        </p:nvSpPr>
        <p:spPr>
          <a:xfrm>
            <a:off x="274320" y="3803904"/>
            <a:ext cx="1371600" cy="347472"/>
          </a:xfrm>
          <a:prstGeom prst="rect">
            <a:avLst/>
          </a:prstGeom>
          <a:noFill/>
          <a:ln/>
        </p:spPr>
        <p:txBody>
          <a:bodyPr wrap="square" lIns="0" tIns="0" rIns="0" bIns="0" rtlCol="0" anchor="ctr"/>
          <a:lstStyle/>
          <a:p>
            <a:pPr indent="0" marL="0">
              <a:buNone/>
            </a:pPr>
            <a:r>
              <a:rPr lang="en-US" sz="1150" dirty="0">
                <a:solidFill>
                  <a:srgbClr val="CBD5E1"/>
                </a:solidFill>
              </a:rPr>
              <a:t>Doc C</a:t>
            </a:r>
            <a:endParaRPr lang="en-US" sz="1150" dirty="0"/>
          </a:p>
        </p:txBody>
      </p:sp>
      <p:sp>
        <p:nvSpPr>
          <p:cNvPr id="36" name="Text 34"/>
          <p:cNvSpPr/>
          <p:nvPr/>
        </p:nvSpPr>
        <p:spPr>
          <a:xfrm>
            <a:off x="1691640" y="3803904"/>
            <a:ext cx="1371600" cy="347472"/>
          </a:xfrm>
          <a:prstGeom prst="rect">
            <a:avLst/>
          </a:prstGeom>
          <a:noFill/>
          <a:ln/>
        </p:spPr>
        <p:txBody>
          <a:bodyPr wrap="square" lIns="0" tIns="0" rIns="0" bIns="0" rtlCol="0" anchor="ctr"/>
          <a:lstStyle/>
          <a:p>
            <a:pPr indent="0" marL="0">
              <a:buNone/>
            </a:pPr>
            <a:r>
              <a:rPr lang="en-US" sz="1150" dirty="0">
                <a:solidFill>
                  <a:srgbClr val="CBD5E1"/>
                </a:solidFill>
              </a:rPr>
              <a:t>#2</a:t>
            </a:r>
            <a:endParaRPr lang="en-US" sz="1150" dirty="0"/>
          </a:p>
        </p:txBody>
      </p:sp>
      <p:sp>
        <p:nvSpPr>
          <p:cNvPr id="37" name="Text 35"/>
          <p:cNvSpPr/>
          <p:nvPr/>
        </p:nvSpPr>
        <p:spPr>
          <a:xfrm>
            <a:off x="3017520" y="3803904"/>
            <a:ext cx="1371600" cy="347472"/>
          </a:xfrm>
          <a:prstGeom prst="rect">
            <a:avLst/>
          </a:prstGeom>
          <a:noFill/>
          <a:ln/>
        </p:spPr>
        <p:txBody>
          <a:bodyPr wrap="square" lIns="0" tIns="0" rIns="0" bIns="0" rtlCol="0" anchor="ctr"/>
          <a:lstStyle/>
          <a:p>
            <a:pPr indent="0" marL="0">
              <a:buNone/>
            </a:pPr>
            <a:r>
              <a:rPr lang="en-US" sz="1150" dirty="0">
                <a:solidFill>
                  <a:srgbClr val="CBD5E1"/>
                </a:solidFill>
              </a:rPr>
              <a:t>0.88</a:t>
            </a:r>
            <a:endParaRPr lang="en-US" sz="1150" dirty="0"/>
          </a:p>
        </p:txBody>
      </p:sp>
      <p:sp>
        <p:nvSpPr>
          <p:cNvPr id="38" name="Text 36"/>
          <p:cNvSpPr/>
          <p:nvPr/>
        </p:nvSpPr>
        <p:spPr>
          <a:xfrm>
            <a:off x="4434840" y="3803904"/>
            <a:ext cx="1371600" cy="347472"/>
          </a:xfrm>
          <a:prstGeom prst="rect">
            <a:avLst/>
          </a:prstGeom>
          <a:noFill/>
          <a:ln/>
        </p:spPr>
        <p:txBody>
          <a:bodyPr wrap="square" lIns="0" tIns="0" rIns="0" bIns="0" rtlCol="0" anchor="ctr"/>
          <a:lstStyle/>
          <a:p>
            <a:pPr indent="0" marL="0">
              <a:buNone/>
            </a:pPr>
            <a:r>
              <a:rPr lang="en-US" sz="1150" dirty="0">
                <a:solidFill>
                  <a:srgbClr val="CBD5E1"/>
                </a:solidFill>
              </a:rPr>
              <a:t>#2</a:t>
            </a:r>
            <a:endParaRPr lang="en-US" sz="1150" dirty="0"/>
          </a:p>
        </p:txBody>
      </p:sp>
      <p:sp>
        <p:nvSpPr>
          <p:cNvPr id="39" name="Text 37"/>
          <p:cNvSpPr/>
          <p:nvPr/>
        </p:nvSpPr>
        <p:spPr>
          <a:xfrm>
            <a:off x="5760720" y="3803904"/>
            <a:ext cx="1371600" cy="347472"/>
          </a:xfrm>
          <a:prstGeom prst="rect">
            <a:avLst/>
          </a:prstGeom>
          <a:noFill/>
          <a:ln/>
        </p:spPr>
        <p:txBody>
          <a:bodyPr wrap="square" lIns="0" tIns="0" rIns="0" bIns="0" rtlCol="0" anchor="ctr"/>
          <a:lstStyle/>
          <a:p>
            <a:pPr indent="0" marL="0">
              <a:buNone/>
            </a:pPr>
            <a:r>
              <a:rPr lang="en-US" sz="1150" dirty="0">
                <a:solidFill>
                  <a:srgbClr val="CBD5E1"/>
                </a:solidFill>
              </a:rPr>
              <a:t>0.85</a:t>
            </a:r>
            <a:endParaRPr lang="en-US" sz="1150" dirty="0"/>
          </a:p>
        </p:txBody>
      </p:sp>
      <p:sp>
        <p:nvSpPr>
          <p:cNvPr id="40" name="Text 38"/>
          <p:cNvSpPr/>
          <p:nvPr/>
        </p:nvSpPr>
        <p:spPr>
          <a:xfrm>
            <a:off x="7223760" y="3803904"/>
            <a:ext cx="1371600" cy="347472"/>
          </a:xfrm>
          <a:prstGeom prst="rect">
            <a:avLst/>
          </a:prstGeom>
          <a:noFill/>
          <a:ln/>
        </p:spPr>
        <p:txBody>
          <a:bodyPr wrap="square" lIns="0" tIns="0" rIns="0" bIns="0" rtlCol="0" anchor="ctr"/>
          <a:lstStyle/>
          <a:p>
            <a:pPr indent="0" marL="0">
              <a:buNone/>
            </a:pPr>
            <a:r>
              <a:rPr lang="en-US" sz="1150" dirty="0">
                <a:solidFill>
                  <a:srgbClr val="F59E0B"/>
                </a:solidFill>
              </a:rPr>
              <a:t>0.0323 ★</a:t>
            </a:r>
            <a:endParaRPr lang="en-US" sz="1150" dirty="0"/>
          </a:p>
        </p:txBody>
      </p:sp>
      <p:sp>
        <p:nvSpPr>
          <p:cNvPr id="41" name="Shape 39"/>
          <p:cNvSpPr/>
          <p:nvPr/>
        </p:nvSpPr>
        <p:spPr>
          <a:xfrm>
            <a:off x="228600" y="4242816"/>
            <a:ext cx="8686800" cy="621792"/>
          </a:xfrm>
          <a:prstGeom prst="rect">
            <a:avLst/>
          </a:prstGeom>
          <a:solidFill>
            <a:srgbClr val="161B22"/>
          </a:solidFill>
          <a:ln w="12700">
            <a:solidFill>
              <a:srgbClr val="161B22"/>
            </a:solidFill>
            <a:prstDash val="solid"/>
          </a:ln>
        </p:spPr>
      </p:sp>
      <p:sp>
        <p:nvSpPr>
          <p:cNvPr id="42" name="Text 40"/>
          <p:cNvSpPr/>
          <p:nvPr/>
        </p:nvSpPr>
        <p:spPr>
          <a:xfrm>
            <a:off x="365760" y="4297680"/>
            <a:ext cx="8412480" cy="502920"/>
          </a:xfrm>
          <a:prstGeom prst="rect">
            <a:avLst/>
          </a:prstGeom>
          <a:noFill/>
          <a:ln/>
        </p:spPr>
        <p:txBody>
          <a:bodyPr wrap="square" lIns="0" tIns="0" rIns="0" bIns="0" rtlCol="0" anchor="ctr"/>
          <a:lstStyle/>
          <a:p>
            <a:pPr algn="ctr" indent="0" marL="0">
              <a:lnSpc>
                <a:spcPct val="130000"/>
              </a:lnSpc>
              <a:buNone/>
            </a:pPr>
            <a:r>
              <a:rPr lang="en-US" sz="1200" i="1" dirty="0">
                <a:solidFill>
                  <a:srgbClr val="FCD34D"/>
                </a:solidFill>
              </a:rPr>
              <a:t>Doc C wins despite not being #1 in either list — because it ranks consistently high in BOTH retrieval systems. That's the power of RRF.</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9488"/>
          </a:solidFill>
          <a:ln w="12700">
            <a:solidFill>
              <a:srgbClr val="0D9488"/>
            </a:solidFill>
            <a:prstDash val="solid"/>
          </a:ln>
        </p:spPr>
      </p:sp>
      <p:sp>
        <p:nvSpPr>
          <p:cNvPr id="3" name="Shape 1"/>
          <p:cNvSpPr/>
          <p:nvPr/>
        </p:nvSpPr>
        <p:spPr>
          <a:xfrm>
            <a:off x="73152" y="0"/>
            <a:ext cx="9070848" cy="822960"/>
          </a:xfrm>
          <a:prstGeom prst="rect">
            <a:avLst/>
          </a:prstGeom>
          <a:solidFill>
            <a:srgbClr val="161B22"/>
          </a:solidFill>
          <a:ln w="12700">
            <a:solidFill>
              <a:srgbClr val="161B22"/>
            </a:solidFill>
            <a:prstDash val="solid"/>
          </a:ln>
        </p:spPr>
      </p:sp>
      <p:sp>
        <p:nvSpPr>
          <p:cNvPr id="4" name="Text 2"/>
          <p:cNvSpPr/>
          <p:nvPr/>
        </p:nvSpPr>
        <p:spPr>
          <a:xfrm>
            <a:off x="228600" y="109728"/>
            <a:ext cx="548640" cy="594360"/>
          </a:xfrm>
          <a:prstGeom prst="rect">
            <a:avLst/>
          </a:prstGeom>
          <a:noFill/>
          <a:ln/>
        </p:spPr>
        <p:txBody>
          <a:bodyPr wrap="square" lIns="0" tIns="0" rIns="0" bIns="0" rtlCol="0" anchor="ctr"/>
          <a:lstStyle/>
          <a:p>
            <a:pPr indent="0" marL="0">
              <a:buNone/>
            </a:pPr>
            <a:r>
              <a:rPr lang="en-US" sz="2800" b="1" dirty="0">
                <a:solidFill>
                  <a:srgbClr val="0D9488"/>
                </a:solidFill>
              </a:rPr>
              <a:t>09</a:t>
            </a:r>
            <a:endParaRPr lang="en-US" sz="2800" dirty="0"/>
          </a:p>
        </p:txBody>
      </p:sp>
      <p:sp>
        <p:nvSpPr>
          <p:cNvPr id="5" name="Text 3"/>
          <p:cNvSpPr/>
          <p:nvPr/>
        </p:nvSpPr>
        <p:spPr>
          <a:xfrm>
            <a:off x="822960" y="137160"/>
            <a:ext cx="7772400" cy="548640"/>
          </a:xfrm>
          <a:prstGeom prst="rect">
            <a:avLst/>
          </a:prstGeom>
          <a:noFill/>
          <a:ln/>
        </p:spPr>
        <p:txBody>
          <a:bodyPr wrap="square" lIns="0" tIns="0" rIns="0" bIns="0" rtlCol="0" anchor="ctr"/>
          <a:lstStyle/>
          <a:p>
            <a:pPr indent="0" marL="0">
              <a:buNone/>
            </a:pPr>
            <a:r>
              <a:rPr lang="en-US" sz="2600" b="1" dirty="0">
                <a:solidFill>
                  <a:srgbClr val="F8FAFC"/>
                </a:solidFill>
                <a:latin typeface="Georgia" pitchFamily="34" charset="0"/>
                <a:ea typeface="Georgia" pitchFamily="34" charset="-122"/>
                <a:cs typeface="Georgia" pitchFamily="34" charset="-120"/>
              </a:rPr>
              <a:t>The Explorer Frontend — Search Result UI</a:t>
            </a:r>
            <a:endParaRPr lang="en-US" sz="2600" dirty="0"/>
          </a:p>
        </p:txBody>
      </p:sp>
      <p:sp>
        <p:nvSpPr>
          <p:cNvPr id="6" name="Shape 4"/>
          <p:cNvSpPr/>
          <p:nvPr/>
        </p:nvSpPr>
        <p:spPr>
          <a:xfrm>
            <a:off x="228600" y="960120"/>
            <a:ext cx="8686800" cy="594360"/>
          </a:xfrm>
          <a:prstGeom prst="rect">
            <a:avLst/>
          </a:prstGeom>
          <a:solidFill>
            <a:srgbClr val="161B22"/>
          </a:solidFill>
          <a:ln w="19050">
            <a:solidFill>
              <a:srgbClr val="0D9488"/>
            </a:solidFill>
            <a:prstDash val="solid"/>
          </a:ln>
          <a:effectLst>
            <a:outerShdw sx="100000" sy="100000" kx="0" ky="0" algn="bl" rotWithShape="0" blurRad="127000" dist="38100" dir="8100000">
              <a:srgbClr val="000000">
                <a:alpha val="25000"/>
              </a:srgbClr>
            </a:outerShdw>
          </a:effectLst>
        </p:spPr>
      </p:sp>
      <p:sp>
        <p:nvSpPr>
          <p:cNvPr id="7" name="Shape 5"/>
          <p:cNvSpPr/>
          <p:nvPr/>
        </p:nvSpPr>
        <p:spPr>
          <a:xfrm>
            <a:off x="411480" y="1115568"/>
            <a:ext cx="274320" cy="274320"/>
          </a:xfrm>
          <a:prstGeom prst="ellipse">
            <a:avLst/>
          </a:prstGeom>
          <a:solidFill>
            <a:srgbClr val="0D9488"/>
          </a:solidFill>
          <a:ln w="12700">
            <a:solidFill>
              <a:srgbClr val="0D9488"/>
            </a:solidFill>
            <a:prstDash val="solid"/>
          </a:ln>
        </p:spPr>
      </p:sp>
      <p:sp>
        <p:nvSpPr>
          <p:cNvPr id="8" name="Text 6"/>
          <p:cNvSpPr/>
          <p:nvPr/>
        </p:nvSpPr>
        <p:spPr>
          <a:xfrm>
            <a:off x="777240" y="1005840"/>
            <a:ext cx="6400800" cy="594360"/>
          </a:xfrm>
          <a:prstGeom prst="rect">
            <a:avLst/>
          </a:prstGeom>
          <a:noFill/>
          <a:ln/>
        </p:spPr>
        <p:txBody>
          <a:bodyPr wrap="square" lIns="0" tIns="0" rIns="0" bIns="0" rtlCol="0" anchor="ctr"/>
          <a:lstStyle/>
          <a:p>
            <a:pPr indent="0" marL="0">
              <a:buNone/>
            </a:pPr>
            <a:r>
              <a:rPr lang="en-US" sz="1600" dirty="0">
                <a:solidFill>
                  <a:srgbClr val="F8FAFC"/>
                </a:solidFill>
              </a:rPr>
              <a:t>machine learning</a:t>
            </a:r>
            <a:endParaRPr lang="en-US" sz="1600" dirty="0"/>
          </a:p>
        </p:txBody>
      </p:sp>
      <p:sp>
        <p:nvSpPr>
          <p:cNvPr id="9" name="Shape 7"/>
          <p:cNvSpPr/>
          <p:nvPr/>
        </p:nvSpPr>
        <p:spPr>
          <a:xfrm>
            <a:off x="7452360" y="1051560"/>
            <a:ext cx="1280160" cy="411480"/>
          </a:xfrm>
          <a:prstGeom prst="roundRect">
            <a:avLst>
              <a:gd name="adj" fmla="val 22222"/>
            </a:avLst>
          </a:prstGeom>
          <a:solidFill>
            <a:srgbClr val="F59E0B"/>
          </a:solidFill>
          <a:ln w="12700">
            <a:solidFill>
              <a:srgbClr val="F59E0B"/>
            </a:solidFill>
            <a:prstDash val="solid"/>
          </a:ln>
        </p:spPr>
      </p:sp>
      <p:sp>
        <p:nvSpPr>
          <p:cNvPr id="10" name="Text 8"/>
          <p:cNvSpPr/>
          <p:nvPr/>
        </p:nvSpPr>
        <p:spPr>
          <a:xfrm>
            <a:off x="7452360" y="1051560"/>
            <a:ext cx="1280160" cy="411480"/>
          </a:xfrm>
          <a:prstGeom prst="rect">
            <a:avLst/>
          </a:prstGeom>
          <a:noFill/>
          <a:ln/>
        </p:spPr>
        <p:txBody>
          <a:bodyPr wrap="square" lIns="0" tIns="0" rIns="0" bIns="0" rtlCol="0" anchor="ctr"/>
          <a:lstStyle/>
          <a:p>
            <a:pPr algn="ctr" indent="0" marL="0">
              <a:buNone/>
            </a:pPr>
            <a:r>
              <a:rPr lang="en-US" sz="1300" b="1" dirty="0">
                <a:solidFill>
                  <a:srgbClr val="0D1117"/>
                </a:solidFill>
              </a:rPr>
              <a:t>Search</a:t>
            </a:r>
            <a:endParaRPr lang="en-US" sz="1300" dirty="0"/>
          </a:p>
        </p:txBody>
      </p:sp>
      <p:sp>
        <p:nvSpPr>
          <p:cNvPr id="11" name="Shape 9"/>
          <p:cNvSpPr/>
          <p:nvPr/>
        </p:nvSpPr>
        <p:spPr>
          <a:xfrm>
            <a:off x="228600" y="1737360"/>
            <a:ext cx="8686800" cy="1188720"/>
          </a:xfrm>
          <a:prstGeom prst="rect">
            <a:avLst/>
          </a:prstGeom>
          <a:solidFill>
            <a:srgbClr val="1F2937"/>
          </a:solidFill>
          <a:ln w="12700">
            <a:solidFill>
              <a:srgbClr val="1F2937"/>
            </a:solidFill>
            <a:prstDash val="solid"/>
          </a:ln>
          <a:effectLst>
            <a:outerShdw sx="100000" sy="100000" kx="0" ky="0" algn="bl" rotWithShape="0" blurRad="127000" dist="38100" dir="8100000">
              <a:srgbClr val="000000">
                <a:alpha val="25000"/>
              </a:srgbClr>
            </a:outerShdw>
          </a:effectLst>
        </p:spPr>
      </p:sp>
      <p:sp>
        <p:nvSpPr>
          <p:cNvPr id="12" name="Shape 10"/>
          <p:cNvSpPr/>
          <p:nvPr/>
        </p:nvSpPr>
        <p:spPr>
          <a:xfrm>
            <a:off x="8458200" y="1810512"/>
            <a:ext cx="384048" cy="274320"/>
          </a:xfrm>
          <a:prstGeom prst="roundRect">
            <a:avLst>
              <a:gd name="adj" fmla="val 10000"/>
            </a:avLst>
          </a:prstGeom>
          <a:solidFill>
            <a:srgbClr val="0D1117"/>
          </a:solidFill>
          <a:ln w="12700">
            <a:solidFill>
              <a:srgbClr val="0D9488"/>
            </a:solidFill>
            <a:prstDash val="solid"/>
          </a:ln>
        </p:spPr>
      </p:sp>
      <p:sp>
        <p:nvSpPr>
          <p:cNvPr id="13" name="Text 11"/>
          <p:cNvSpPr/>
          <p:nvPr/>
        </p:nvSpPr>
        <p:spPr>
          <a:xfrm>
            <a:off x="8458200" y="1810512"/>
            <a:ext cx="384048" cy="274320"/>
          </a:xfrm>
          <a:prstGeom prst="rect">
            <a:avLst/>
          </a:prstGeom>
          <a:noFill/>
          <a:ln/>
        </p:spPr>
        <p:txBody>
          <a:bodyPr wrap="square" lIns="0" tIns="0" rIns="0" bIns="0" rtlCol="0" anchor="ctr"/>
          <a:lstStyle/>
          <a:p>
            <a:pPr algn="ctr" indent="0" marL="0">
              <a:buNone/>
            </a:pPr>
            <a:r>
              <a:rPr lang="en-US" sz="1000" dirty="0">
                <a:solidFill>
                  <a:srgbClr val="0D9488"/>
                </a:solidFill>
              </a:rPr>
              <a:t>#1</a:t>
            </a:r>
            <a:endParaRPr lang="en-US" sz="1000" dirty="0"/>
          </a:p>
        </p:txBody>
      </p:sp>
      <p:sp>
        <p:nvSpPr>
          <p:cNvPr id="14" name="Shape 12"/>
          <p:cNvSpPr/>
          <p:nvPr/>
        </p:nvSpPr>
        <p:spPr>
          <a:xfrm>
            <a:off x="411480" y="1828800"/>
            <a:ext cx="228600" cy="228600"/>
          </a:xfrm>
          <a:prstGeom prst="roundRect">
            <a:avLst>
              <a:gd name="adj" fmla="val 12000"/>
            </a:avLst>
          </a:prstGeom>
          <a:solidFill>
            <a:srgbClr val="0D9488"/>
          </a:solidFill>
          <a:ln w="12700">
            <a:solidFill>
              <a:srgbClr val="0D9488"/>
            </a:solidFill>
            <a:prstDash val="solid"/>
          </a:ln>
        </p:spPr>
      </p:sp>
      <p:sp>
        <p:nvSpPr>
          <p:cNvPr id="15" name="Text 13"/>
          <p:cNvSpPr/>
          <p:nvPr/>
        </p:nvSpPr>
        <p:spPr>
          <a:xfrm>
            <a:off x="411480" y="1828800"/>
            <a:ext cx="228600" cy="228600"/>
          </a:xfrm>
          <a:prstGeom prst="rect">
            <a:avLst/>
          </a:prstGeom>
          <a:noFill/>
          <a:ln/>
        </p:spPr>
        <p:txBody>
          <a:bodyPr wrap="square" lIns="0" tIns="0" rIns="0" bIns="0" rtlCol="0" anchor="ctr"/>
          <a:lstStyle/>
          <a:p>
            <a:pPr algn="ctr" indent="0" marL="0">
              <a:buNone/>
            </a:pPr>
            <a:r>
              <a:rPr lang="en-US" sz="1000" b="1" dirty="0">
                <a:solidFill>
                  <a:srgbClr val="F8FAFC"/>
                </a:solidFill>
              </a:rPr>
              <a:t>E</a:t>
            </a:r>
            <a:endParaRPr lang="en-US" sz="1000" dirty="0"/>
          </a:p>
        </p:txBody>
      </p:sp>
      <p:sp>
        <p:nvSpPr>
          <p:cNvPr id="16" name="Text 14"/>
          <p:cNvSpPr/>
          <p:nvPr/>
        </p:nvSpPr>
        <p:spPr>
          <a:xfrm>
            <a:off x="713232" y="1828800"/>
            <a:ext cx="4572000" cy="228600"/>
          </a:xfrm>
          <a:prstGeom prst="rect">
            <a:avLst/>
          </a:prstGeom>
          <a:noFill/>
          <a:ln/>
        </p:spPr>
        <p:txBody>
          <a:bodyPr wrap="square" lIns="0" tIns="0" rIns="0" bIns="0" rtlCol="0" anchor="ctr"/>
          <a:lstStyle/>
          <a:p>
            <a:pPr indent="0" marL="0">
              <a:buNone/>
            </a:pPr>
            <a:r>
              <a:rPr lang="en-US" sz="1000" dirty="0">
                <a:solidFill>
                  <a:srgbClr val="94A3B8"/>
                </a:solidFill>
              </a:rPr>
              <a:t>example.com › /ml-intro</a:t>
            </a:r>
            <a:endParaRPr lang="en-US" sz="1000" dirty="0"/>
          </a:p>
        </p:txBody>
      </p:sp>
      <p:sp>
        <p:nvSpPr>
          <p:cNvPr id="17" name="Text 15"/>
          <p:cNvSpPr/>
          <p:nvPr/>
        </p:nvSpPr>
        <p:spPr>
          <a:xfrm>
            <a:off x="411480" y="2084832"/>
            <a:ext cx="7772400" cy="347472"/>
          </a:xfrm>
          <a:prstGeom prst="rect">
            <a:avLst/>
          </a:prstGeom>
          <a:noFill/>
          <a:ln/>
        </p:spPr>
        <p:txBody>
          <a:bodyPr wrap="square" lIns="0" tIns="0" rIns="0" bIns="0" rtlCol="0" anchor="ctr"/>
          <a:lstStyle/>
          <a:p>
            <a:pPr indent="0" marL="0">
              <a:buNone/>
            </a:pPr>
            <a:r>
              <a:rPr lang="en-US" sz="1600" dirty="0">
                <a:solidFill>
                  <a:srgbClr val="0D9488"/>
                </a:solidFill>
                <a:latin typeface="Georgia" pitchFamily="34" charset="0"/>
                <a:ea typeface="Georgia" pitchFamily="34" charset="-122"/>
                <a:cs typeface="Georgia" pitchFamily="34" charset="-120"/>
              </a:rPr>
              <a:t>Introduction to Machine Learning</a:t>
            </a:r>
            <a:endParaRPr lang="en-US" sz="1600" dirty="0"/>
          </a:p>
        </p:txBody>
      </p:sp>
      <p:sp>
        <p:nvSpPr>
          <p:cNvPr id="18" name="Text 16"/>
          <p:cNvSpPr/>
          <p:nvPr/>
        </p:nvSpPr>
        <p:spPr>
          <a:xfrm>
            <a:off x="411480" y="2450592"/>
            <a:ext cx="6858000" cy="256032"/>
          </a:xfrm>
          <a:prstGeom prst="rect">
            <a:avLst/>
          </a:prstGeom>
          <a:noFill/>
          <a:ln/>
        </p:spPr>
        <p:txBody>
          <a:bodyPr wrap="square" lIns="0" tIns="0" rIns="0" bIns="0" rtlCol="0" anchor="ctr"/>
          <a:lstStyle/>
          <a:p>
            <a:pPr indent="0" marL="0">
              <a:buNone/>
            </a:pPr>
            <a:r>
              <a:rPr lang="en-US" sz="1100" dirty="0">
                <a:solidFill>
                  <a:srgbClr val="CBD5E1"/>
                </a:solidFill>
              </a:rPr>
              <a:t>…Supervised learning uses labelled training data. Unsupervised learning finds hidden patterns…</a:t>
            </a:r>
            <a:endParaRPr lang="en-US" sz="1100" dirty="0"/>
          </a:p>
        </p:txBody>
      </p:sp>
      <p:sp>
        <p:nvSpPr>
          <p:cNvPr id="19" name="Shape 17"/>
          <p:cNvSpPr/>
          <p:nvPr/>
        </p:nvSpPr>
        <p:spPr>
          <a:xfrm>
            <a:off x="411480" y="2651760"/>
            <a:ext cx="1234440" cy="201168"/>
          </a:xfrm>
          <a:prstGeom prst="roundRect">
            <a:avLst>
              <a:gd name="adj" fmla="val 13636"/>
            </a:avLst>
          </a:prstGeom>
          <a:solidFill>
            <a:srgbClr val="0D1117"/>
          </a:solidFill>
          <a:ln w="12700">
            <a:solidFill>
              <a:srgbClr val="94A3B8"/>
            </a:solidFill>
            <a:prstDash val="solid"/>
          </a:ln>
        </p:spPr>
      </p:sp>
      <p:sp>
        <p:nvSpPr>
          <p:cNvPr id="20" name="Text 18"/>
          <p:cNvSpPr/>
          <p:nvPr/>
        </p:nvSpPr>
        <p:spPr>
          <a:xfrm>
            <a:off x="411480" y="2651760"/>
            <a:ext cx="1234440" cy="201168"/>
          </a:xfrm>
          <a:prstGeom prst="rect">
            <a:avLst/>
          </a:prstGeom>
          <a:noFill/>
          <a:ln/>
        </p:spPr>
        <p:txBody>
          <a:bodyPr wrap="square" lIns="0" tIns="0" rIns="0" bIns="0" rtlCol="0" anchor="ctr"/>
          <a:lstStyle/>
          <a:p>
            <a:pPr algn="ctr" indent="0" marL="0">
              <a:buNone/>
            </a:pPr>
            <a:r>
              <a:rPr lang="en-US" sz="900" dirty="0">
                <a:solidFill>
                  <a:srgbClr val="14B8A6"/>
                </a:solidFill>
              </a:rPr>
              <a:t>0.03279</a:t>
            </a:r>
            <a:endParaRPr lang="en-US" sz="900" dirty="0"/>
          </a:p>
        </p:txBody>
      </p:sp>
      <p:sp>
        <p:nvSpPr>
          <p:cNvPr id="21" name="Shape 19"/>
          <p:cNvSpPr/>
          <p:nvPr/>
        </p:nvSpPr>
        <p:spPr>
          <a:xfrm>
            <a:off x="1737360" y="2651760"/>
            <a:ext cx="1371600" cy="201168"/>
          </a:xfrm>
          <a:prstGeom prst="roundRect">
            <a:avLst>
              <a:gd name="adj" fmla="val 13636"/>
            </a:avLst>
          </a:prstGeom>
          <a:solidFill>
            <a:srgbClr val="0D1117"/>
          </a:solidFill>
          <a:ln w="12700">
            <a:solidFill>
              <a:srgbClr val="94A3B8"/>
            </a:solidFill>
            <a:prstDash val="solid"/>
          </a:ln>
        </p:spPr>
      </p:sp>
      <p:sp>
        <p:nvSpPr>
          <p:cNvPr id="22" name="Text 20"/>
          <p:cNvSpPr/>
          <p:nvPr/>
        </p:nvSpPr>
        <p:spPr>
          <a:xfrm>
            <a:off x="1737360" y="2651760"/>
            <a:ext cx="1371600" cy="201168"/>
          </a:xfrm>
          <a:prstGeom prst="rect">
            <a:avLst/>
          </a:prstGeom>
          <a:noFill/>
          <a:ln/>
        </p:spPr>
        <p:txBody>
          <a:bodyPr wrap="square" lIns="0" tIns="0" rIns="0" bIns="0" rtlCol="0" anchor="ctr"/>
          <a:lstStyle/>
          <a:p>
            <a:pPr algn="ctr" indent="0" marL="0">
              <a:buNone/>
            </a:pPr>
            <a:r>
              <a:rPr lang="en-US" sz="850" dirty="0">
                <a:solidFill>
                  <a:srgbClr val="94A3B8"/>
                </a:solidFill>
              </a:rPr>
              <a:t>BM25:1.000  Neural:0.627</a:t>
            </a:r>
            <a:endParaRPr lang="en-US" sz="850" dirty="0"/>
          </a:p>
        </p:txBody>
      </p:sp>
      <p:sp>
        <p:nvSpPr>
          <p:cNvPr id="23" name="Shape 21"/>
          <p:cNvSpPr/>
          <p:nvPr/>
        </p:nvSpPr>
        <p:spPr>
          <a:xfrm>
            <a:off x="228600" y="3108960"/>
            <a:ext cx="8686800" cy="1188720"/>
          </a:xfrm>
          <a:prstGeom prst="rect">
            <a:avLst/>
          </a:prstGeom>
          <a:solidFill>
            <a:srgbClr val="1F2937"/>
          </a:solidFill>
          <a:ln w="12700">
            <a:solidFill>
              <a:srgbClr val="1F2937"/>
            </a:solidFill>
            <a:prstDash val="solid"/>
          </a:ln>
          <a:effectLst>
            <a:outerShdw sx="100000" sy="100000" kx="0" ky="0" algn="bl" rotWithShape="0" blurRad="127000" dist="38100" dir="8100000">
              <a:srgbClr val="000000">
                <a:alpha val="25000"/>
              </a:srgbClr>
            </a:outerShdw>
          </a:effectLst>
        </p:spPr>
      </p:sp>
      <p:sp>
        <p:nvSpPr>
          <p:cNvPr id="24" name="Shape 22"/>
          <p:cNvSpPr/>
          <p:nvPr/>
        </p:nvSpPr>
        <p:spPr>
          <a:xfrm>
            <a:off x="8458200" y="3182112"/>
            <a:ext cx="384048" cy="274320"/>
          </a:xfrm>
          <a:prstGeom prst="roundRect">
            <a:avLst>
              <a:gd name="adj" fmla="val 10000"/>
            </a:avLst>
          </a:prstGeom>
          <a:solidFill>
            <a:srgbClr val="0D1117"/>
          </a:solidFill>
          <a:ln w="12700">
            <a:solidFill>
              <a:srgbClr val="F59E0B"/>
            </a:solidFill>
            <a:prstDash val="solid"/>
          </a:ln>
        </p:spPr>
      </p:sp>
      <p:sp>
        <p:nvSpPr>
          <p:cNvPr id="25" name="Text 23"/>
          <p:cNvSpPr/>
          <p:nvPr/>
        </p:nvSpPr>
        <p:spPr>
          <a:xfrm>
            <a:off x="8458200" y="3182112"/>
            <a:ext cx="384048" cy="274320"/>
          </a:xfrm>
          <a:prstGeom prst="rect">
            <a:avLst/>
          </a:prstGeom>
          <a:noFill/>
          <a:ln/>
        </p:spPr>
        <p:txBody>
          <a:bodyPr wrap="square" lIns="0" tIns="0" rIns="0" bIns="0" rtlCol="0" anchor="ctr"/>
          <a:lstStyle/>
          <a:p>
            <a:pPr algn="ctr" indent="0" marL="0">
              <a:buNone/>
            </a:pPr>
            <a:r>
              <a:rPr lang="en-US" sz="1000" dirty="0">
                <a:solidFill>
                  <a:srgbClr val="F59E0B"/>
                </a:solidFill>
              </a:rPr>
              <a:t>#2</a:t>
            </a:r>
            <a:endParaRPr lang="en-US" sz="1000" dirty="0"/>
          </a:p>
        </p:txBody>
      </p:sp>
      <p:sp>
        <p:nvSpPr>
          <p:cNvPr id="26" name="Shape 24"/>
          <p:cNvSpPr/>
          <p:nvPr/>
        </p:nvSpPr>
        <p:spPr>
          <a:xfrm>
            <a:off x="411480" y="3200400"/>
            <a:ext cx="228600" cy="228600"/>
          </a:xfrm>
          <a:prstGeom prst="roundRect">
            <a:avLst>
              <a:gd name="adj" fmla="val 12000"/>
            </a:avLst>
          </a:prstGeom>
          <a:solidFill>
            <a:srgbClr val="0D9488"/>
          </a:solidFill>
          <a:ln w="12700">
            <a:solidFill>
              <a:srgbClr val="0D9488"/>
            </a:solidFill>
            <a:prstDash val="solid"/>
          </a:ln>
        </p:spPr>
      </p:sp>
      <p:sp>
        <p:nvSpPr>
          <p:cNvPr id="27" name="Text 25"/>
          <p:cNvSpPr/>
          <p:nvPr/>
        </p:nvSpPr>
        <p:spPr>
          <a:xfrm>
            <a:off x="411480" y="3200400"/>
            <a:ext cx="228600" cy="228600"/>
          </a:xfrm>
          <a:prstGeom prst="rect">
            <a:avLst/>
          </a:prstGeom>
          <a:noFill/>
          <a:ln/>
        </p:spPr>
        <p:txBody>
          <a:bodyPr wrap="square" lIns="0" tIns="0" rIns="0" bIns="0" rtlCol="0" anchor="ctr"/>
          <a:lstStyle/>
          <a:p>
            <a:pPr algn="ctr" indent="0" marL="0">
              <a:buNone/>
            </a:pPr>
            <a:r>
              <a:rPr lang="en-US" sz="1000" b="1" dirty="0">
                <a:solidFill>
                  <a:srgbClr val="F8FAFC"/>
                </a:solidFill>
              </a:rPr>
              <a:t>E</a:t>
            </a:r>
            <a:endParaRPr lang="en-US" sz="1000" dirty="0"/>
          </a:p>
        </p:txBody>
      </p:sp>
      <p:sp>
        <p:nvSpPr>
          <p:cNvPr id="28" name="Text 26"/>
          <p:cNvSpPr/>
          <p:nvPr/>
        </p:nvSpPr>
        <p:spPr>
          <a:xfrm>
            <a:off x="713232" y="3200400"/>
            <a:ext cx="4572000" cy="228600"/>
          </a:xfrm>
          <a:prstGeom prst="rect">
            <a:avLst/>
          </a:prstGeom>
          <a:noFill/>
          <a:ln/>
        </p:spPr>
        <p:txBody>
          <a:bodyPr wrap="square" lIns="0" tIns="0" rIns="0" bIns="0" rtlCol="0" anchor="ctr"/>
          <a:lstStyle/>
          <a:p>
            <a:pPr indent="0" marL="0">
              <a:buNone/>
            </a:pPr>
            <a:r>
              <a:rPr lang="en-US" sz="1000" dirty="0">
                <a:solidFill>
                  <a:srgbClr val="94A3B8"/>
                </a:solidFill>
              </a:rPr>
              <a:t>example.com › /reinforcement-learning</a:t>
            </a:r>
            <a:endParaRPr lang="en-US" sz="1000" dirty="0"/>
          </a:p>
        </p:txBody>
      </p:sp>
      <p:sp>
        <p:nvSpPr>
          <p:cNvPr id="29" name="Text 27"/>
          <p:cNvSpPr/>
          <p:nvPr/>
        </p:nvSpPr>
        <p:spPr>
          <a:xfrm>
            <a:off x="411480" y="3456432"/>
            <a:ext cx="7772400" cy="347472"/>
          </a:xfrm>
          <a:prstGeom prst="rect">
            <a:avLst/>
          </a:prstGeom>
          <a:noFill/>
          <a:ln/>
        </p:spPr>
        <p:txBody>
          <a:bodyPr wrap="square" lIns="0" tIns="0" rIns="0" bIns="0" rtlCol="0" anchor="ctr"/>
          <a:lstStyle/>
          <a:p>
            <a:pPr indent="0" marL="0">
              <a:buNone/>
            </a:pPr>
            <a:r>
              <a:rPr lang="en-US" sz="1600" dirty="0">
                <a:solidFill>
                  <a:srgbClr val="F59E0B"/>
                </a:solidFill>
                <a:latin typeface="Georgia" pitchFamily="34" charset="0"/>
                <a:ea typeface="Georgia" pitchFamily="34" charset="-122"/>
                <a:cs typeface="Georgia" pitchFamily="34" charset="-120"/>
              </a:rPr>
              <a:t>Reinforcement Learning</a:t>
            </a:r>
            <a:endParaRPr lang="en-US" sz="1600" dirty="0"/>
          </a:p>
        </p:txBody>
      </p:sp>
      <p:sp>
        <p:nvSpPr>
          <p:cNvPr id="30" name="Text 28"/>
          <p:cNvSpPr/>
          <p:nvPr/>
        </p:nvSpPr>
        <p:spPr>
          <a:xfrm>
            <a:off x="411480" y="3822192"/>
            <a:ext cx="6858000" cy="256032"/>
          </a:xfrm>
          <a:prstGeom prst="rect">
            <a:avLst/>
          </a:prstGeom>
          <a:noFill/>
          <a:ln/>
        </p:spPr>
        <p:txBody>
          <a:bodyPr wrap="square" lIns="0" tIns="0" rIns="0" bIns="0" rtlCol="0" anchor="ctr"/>
          <a:lstStyle/>
          <a:p>
            <a:pPr indent="0" marL="0">
              <a:buNone/>
            </a:pPr>
            <a:r>
              <a:rPr lang="en-US" sz="1100" dirty="0">
                <a:solidFill>
                  <a:srgbClr val="CBD5E1"/>
                </a:solidFill>
              </a:rPr>
              <a:t>…Reinforcement learning is an area of machine learning concerned with how intelligent agents…</a:t>
            </a:r>
            <a:endParaRPr lang="en-US" sz="1100" dirty="0"/>
          </a:p>
        </p:txBody>
      </p:sp>
      <p:sp>
        <p:nvSpPr>
          <p:cNvPr id="31" name="Shape 29"/>
          <p:cNvSpPr/>
          <p:nvPr/>
        </p:nvSpPr>
        <p:spPr>
          <a:xfrm>
            <a:off x="411480" y="4023360"/>
            <a:ext cx="1234440" cy="201168"/>
          </a:xfrm>
          <a:prstGeom prst="roundRect">
            <a:avLst>
              <a:gd name="adj" fmla="val 13636"/>
            </a:avLst>
          </a:prstGeom>
          <a:solidFill>
            <a:srgbClr val="0D1117"/>
          </a:solidFill>
          <a:ln w="12700">
            <a:solidFill>
              <a:srgbClr val="94A3B8"/>
            </a:solidFill>
            <a:prstDash val="solid"/>
          </a:ln>
        </p:spPr>
      </p:sp>
      <p:sp>
        <p:nvSpPr>
          <p:cNvPr id="32" name="Text 30"/>
          <p:cNvSpPr/>
          <p:nvPr/>
        </p:nvSpPr>
        <p:spPr>
          <a:xfrm>
            <a:off x="411480" y="4023360"/>
            <a:ext cx="1234440" cy="201168"/>
          </a:xfrm>
          <a:prstGeom prst="rect">
            <a:avLst/>
          </a:prstGeom>
          <a:noFill/>
          <a:ln/>
        </p:spPr>
        <p:txBody>
          <a:bodyPr wrap="square" lIns="0" tIns="0" rIns="0" bIns="0" rtlCol="0" anchor="ctr"/>
          <a:lstStyle/>
          <a:p>
            <a:pPr algn="ctr" indent="0" marL="0">
              <a:buNone/>
            </a:pPr>
            <a:r>
              <a:rPr lang="en-US" sz="900" dirty="0">
                <a:solidFill>
                  <a:srgbClr val="14B8A6"/>
                </a:solidFill>
              </a:rPr>
              <a:t>0.03226</a:t>
            </a:r>
            <a:endParaRPr lang="en-US" sz="900" dirty="0"/>
          </a:p>
        </p:txBody>
      </p:sp>
      <p:sp>
        <p:nvSpPr>
          <p:cNvPr id="33" name="Shape 31"/>
          <p:cNvSpPr/>
          <p:nvPr/>
        </p:nvSpPr>
        <p:spPr>
          <a:xfrm>
            <a:off x="1737360" y="4023360"/>
            <a:ext cx="1371600" cy="201168"/>
          </a:xfrm>
          <a:prstGeom prst="roundRect">
            <a:avLst>
              <a:gd name="adj" fmla="val 13636"/>
            </a:avLst>
          </a:prstGeom>
          <a:solidFill>
            <a:srgbClr val="0D1117"/>
          </a:solidFill>
          <a:ln w="12700">
            <a:solidFill>
              <a:srgbClr val="94A3B8"/>
            </a:solidFill>
            <a:prstDash val="solid"/>
          </a:ln>
        </p:spPr>
      </p:sp>
      <p:sp>
        <p:nvSpPr>
          <p:cNvPr id="34" name="Text 32"/>
          <p:cNvSpPr/>
          <p:nvPr/>
        </p:nvSpPr>
        <p:spPr>
          <a:xfrm>
            <a:off x="1737360" y="4023360"/>
            <a:ext cx="1371600" cy="201168"/>
          </a:xfrm>
          <a:prstGeom prst="rect">
            <a:avLst/>
          </a:prstGeom>
          <a:noFill/>
          <a:ln/>
        </p:spPr>
        <p:txBody>
          <a:bodyPr wrap="square" lIns="0" tIns="0" rIns="0" bIns="0" rtlCol="0" anchor="ctr"/>
          <a:lstStyle/>
          <a:p>
            <a:pPr algn="ctr" indent="0" marL="0">
              <a:buNone/>
            </a:pPr>
            <a:r>
              <a:rPr lang="en-US" sz="850" dirty="0">
                <a:solidFill>
                  <a:srgbClr val="94A3B8"/>
                </a:solidFill>
              </a:rPr>
              <a:t>BM25:0.899  Neural:0.442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9488"/>
          </a:solidFill>
          <a:ln w="12700">
            <a:solidFill>
              <a:srgbClr val="0D9488"/>
            </a:solidFill>
            <a:prstDash val="solid"/>
          </a:ln>
        </p:spPr>
      </p:sp>
      <p:sp>
        <p:nvSpPr>
          <p:cNvPr id="3" name="Shape 1"/>
          <p:cNvSpPr/>
          <p:nvPr/>
        </p:nvSpPr>
        <p:spPr>
          <a:xfrm>
            <a:off x="73152" y="0"/>
            <a:ext cx="9070848" cy="822960"/>
          </a:xfrm>
          <a:prstGeom prst="rect">
            <a:avLst/>
          </a:prstGeom>
          <a:solidFill>
            <a:srgbClr val="161B22"/>
          </a:solidFill>
          <a:ln w="12700">
            <a:solidFill>
              <a:srgbClr val="161B22"/>
            </a:solidFill>
            <a:prstDash val="solid"/>
          </a:ln>
        </p:spPr>
      </p:sp>
      <p:sp>
        <p:nvSpPr>
          <p:cNvPr id="4" name="Text 2"/>
          <p:cNvSpPr/>
          <p:nvPr/>
        </p:nvSpPr>
        <p:spPr>
          <a:xfrm>
            <a:off x="228600" y="109728"/>
            <a:ext cx="548640" cy="594360"/>
          </a:xfrm>
          <a:prstGeom prst="rect">
            <a:avLst/>
          </a:prstGeom>
          <a:noFill/>
          <a:ln/>
        </p:spPr>
        <p:txBody>
          <a:bodyPr wrap="square" lIns="0" tIns="0" rIns="0" bIns="0" rtlCol="0" anchor="ctr"/>
          <a:lstStyle/>
          <a:p>
            <a:pPr indent="0" marL="0">
              <a:buNone/>
            </a:pPr>
            <a:r>
              <a:rPr lang="en-US" sz="2800" b="1" dirty="0">
                <a:solidFill>
                  <a:srgbClr val="0D9488"/>
                </a:solidFill>
              </a:rPr>
              <a:t>10</a:t>
            </a:r>
            <a:endParaRPr lang="en-US" sz="2800" dirty="0"/>
          </a:p>
        </p:txBody>
      </p:sp>
      <p:sp>
        <p:nvSpPr>
          <p:cNvPr id="5" name="Text 3"/>
          <p:cNvSpPr/>
          <p:nvPr/>
        </p:nvSpPr>
        <p:spPr>
          <a:xfrm>
            <a:off x="822960" y="137160"/>
            <a:ext cx="7772400" cy="548640"/>
          </a:xfrm>
          <a:prstGeom prst="rect">
            <a:avLst/>
          </a:prstGeom>
          <a:noFill/>
          <a:ln/>
        </p:spPr>
        <p:txBody>
          <a:bodyPr wrap="square" lIns="0" tIns="0" rIns="0" bIns="0" rtlCol="0" anchor="ctr"/>
          <a:lstStyle/>
          <a:p>
            <a:pPr indent="0" marL="0">
              <a:buNone/>
            </a:pPr>
            <a:r>
              <a:rPr lang="en-US" sz="2600" b="1" dirty="0">
                <a:solidFill>
                  <a:srgbClr val="F8FAFC"/>
                </a:solidFill>
                <a:latin typeface="Georgia" pitchFamily="34" charset="0"/>
                <a:ea typeface="Georgia" pitchFamily="34" charset="-122"/>
                <a:cs typeface="Georgia" pitchFamily="34" charset="-120"/>
              </a:rPr>
              <a:t>API Endpoints — FastAPI REST Interface</a:t>
            </a:r>
            <a:endParaRPr lang="en-US" sz="2600" dirty="0"/>
          </a:p>
        </p:txBody>
      </p:sp>
      <p:sp>
        <p:nvSpPr>
          <p:cNvPr id="6" name="Shape 4"/>
          <p:cNvSpPr/>
          <p:nvPr/>
        </p:nvSpPr>
        <p:spPr>
          <a:xfrm>
            <a:off x="228600" y="987552"/>
            <a:ext cx="2743200" cy="1097280"/>
          </a:xfrm>
          <a:prstGeom prst="rect">
            <a:avLst/>
          </a:prstGeom>
          <a:solidFill>
            <a:srgbClr val="1F2937"/>
          </a:solidFill>
          <a:ln w="12700">
            <a:solidFill>
              <a:srgbClr val="0D9488"/>
            </a:solidFill>
            <a:prstDash val="solid"/>
          </a:ln>
          <a:effectLst>
            <a:outerShdw sx="100000" sy="100000" kx="0" ky="0" algn="bl" rotWithShape="0" blurRad="127000" dist="38100" dir="8100000">
              <a:srgbClr val="000000">
                <a:alpha val="25000"/>
              </a:srgbClr>
            </a:outerShdw>
          </a:effectLst>
        </p:spPr>
      </p:sp>
      <p:sp>
        <p:nvSpPr>
          <p:cNvPr id="7" name="Shape 5"/>
          <p:cNvSpPr/>
          <p:nvPr/>
        </p:nvSpPr>
        <p:spPr>
          <a:xfrm>
            <a:off x="320040" y="1078992"/>
            <a:ext cx="594360" cy="246888"/>
          </a:xfrm>
          <a:prstGeom prst="roundRect">
            <a:avLst>
              <a:gd name="adj" fmla="val 14815"/>
            </a:avLst>
          </a:prstGeom>
          <a:solidFill>
            <a:srgbClr val="0D9488"/>
          </a:solidFill>
          <a:ln w="12700">
            <a:solidFill>
              <a:srgbClr val="0D9488"/>
            </a:solidFill>
            <a:prstDash val="solid"/>
          </a:ln>
        </p:spPr>
      </p:sp>
      <p:sp>
        <p:nvSpPr>
          <p:cNvPr id="8" name="Text 6"/>
          <p:cNvSpPr/>
          <p:nvPr/>
        </p:nvSpPr>
        <p:spPr>
          <a:xfrm>
            <a:off x="320040" y="1078992"/>
            <a:ext cx="594360" cy="246888"/>
          </a:xfrm>
          <a:prstGeom prst="rect">
            <a:avLst/>
          </a:prstGeom>
          <a:noFill/>
          <a:ln/>
        </p:spPr>
        <p:txBody>
          <a:bodyPr wrap="square" lIns="0" tIns="0" rIns="0" bIns="0" rtlCol="0" anchor="ctr"/>
          <a:lstStyle/>
          <a:p>
            <a:pPr algn="ctr" indent="0" marL="0">
              <a:buNone/>
            </a:pPr>
            <a:r>
              <a:rPr lang="en-US" sz="1000" b="1" dirty="0">
                <a:solidFill>
                  <a:srgbClr val="0D1117"/>
                </a:solidFill>
              </a:rPr>
              <a:t>GET</a:t>
            </a:r>
            <a:endParaRPr lang="en-US" sz="1000" dirty="0"/>
          </a:p>
        </p:txBody>
      </p:sp>
      <p:sp>
        <p:nvSpPr>
          <p:cNvPr id="9" name="Text 7"/>
          <p:cNvSpPr/>
          <p:nvPr/>
        </p:nvSpPr>
        <p:spPr>
          <a:xfrm>
            <a:off x="1005840" y="1078992"/>
            <a:ext cx="1874520" cy="246888"/>
          </a:xfrm>
          <a:prstGeom prst="rect">
            <a:avLst/>
          </a:prstGeom>
          <a:noFill/>
          <a:ln/>
        </p:spPr>
        <p:txBody>
          <a:bodyPr wrap="square" lIns="0" tIns="0" rIns="0" bIns="0" rtlCol="0" anchor="ctr"/>
          <a:lstStyle/>
          <a:p>
            <a:pPr indent="0" marL="0">
              <a:buNone/>
            </a:pPr>
            <a:r>
              <a:rPr lang="en-US" sz="950" dirty="0">
                <a:solidFill>
                  <a:srgbClr val="0D9488"/>
                </a:solidFill>
                <a:latin typeface="Consolas" pitchFamily="34" charset="0"/>
                <a:ea typeface="Consolas" pitchFamily="34" charset="-122"/>
                <a:cs typeface="Consolas" pitchFamily="34" charset="-120"/>
              </a:rPr>
              <a:t>/search?q=...&amp;page=1</a:t>
            </a:r>
            <a:endParaRPr lang="en-US" sz="950" dirty="0"/>
          </a:p>
        </p:txBody>
      </p:sp>
      <p:sp>
        <p:nvSpPr>
          <p:cNvPr id="10" name="Text 8"/>
          <p:cNvSpPr/>
          <p:nvPr/>
        </p:nvSpPr>
        <p:spPr>
          <a:xfrm>
            <a:off x="320040" y="1426464"/>
            <a:ext cx="2560320" cy="566928"/>
          </a:xfrm>
          <a:prstGeom prst="rect">
            <a:avLst/>
          </a:prstGeom>
          <a:noFill/>
          <a:ln/>
        </p:spPr>
        <p:txBody>
          <a:bodyPr wrap="square" lIns="0" tIns="0" rIns="0" bIns="0" rtlCol="0" anchor="ctr"/>
          <a:lstStyle/>
          <a:p>
            <a:pPr indent="0" marL="0">
              <a:lnSpc>
                <a:spcPct val="130000"/>
              </a:lnSpc>
              <a:buNone/>
            </a:pPr>
            <a:r>
              <a:rPr lang="en-US" sz="1050" dirty="0">
                <a:solidFill>
                  <a:srgbClr val="CBD5E1"/>
                </a:solidFill>
              </a:rPr>
              <a:t>Main search — hybrid retrieval with BM25 + neural + RRF</a:t>
            </a:r>
            <a:endParaRPr lang="en-US" sz="1050" dirty="0"/>
          </a:p>
        </p:txBody>
      </p:sp>
      <p:sp>
        <p:nvSpPr>
          <p:cNvPr id="11" name="Shape 9"/>
          <p:cNvSpPr/>
          <p:nvPr/>
        </p:nvSpPr>
        <p:spPr>
          <a:xfrm>
            <a:off x="3172968" y="987552"/>
            <a:ext cx="2743200" cy="1097280"/>
          </a:xfrm>
          <a:prstGeom prst="rect">
            <a:avLst/>
          </a:prstGeom>
          <a:solidFill>
            <a:srgbClr val="1F2937"/>
          </a:solidFill>
          <a:ln w="12700">
            <a:solidFill>
              <a:srgbClr val="0D9488"/>
            </a:solidFill>
            <a:prstDash val="solid"/>
          </a:ln>
          <a:effectLst>
            <a:outerShdw sx="100000" sy="100000" kx="0" ky="0" algn="bl" rotWithShape="0" blurRad="127000" dist="38100" dir="8100000">
              <a:srgbClr val="000000">
                <a:alpha val="25000"/>
              </a:srgbClr>
            </a:outerShdw>
          </a:effectLst>
        </p:spPr>
      </p:sp>
      <p:sp>
        <p:nvSpPr>
          <p:cNvPr id="12" name="Shape 10"/>
          <p:cNvSpPr/>
          <p:nvPr/>
        </p:nvSpPr>
        <p:spPr>
          <a:xfrm>
            <a:off x="3264408" y="1078992"/>
            <a:ext cx="594360" cy="246888"/>
          </a:xfrm>
          <a:prstGeom prst="roundRect">
            <a:avLst>
              <a:gd name="adj" fmla="val 14815"/>
            </a:avLst>
          </a:prstGeom>
          <a:solidFill>
            <a:srgbClr val="0D9488"/>
          </a:solidFill>
          <a:ln w="12700">
            <a:solidFill>
              <a:srgbClr val="0D9488"/>
            </a:solidFill>
            <a:prstDash val="solid"/>
          </a:ln>
        </p:spPr>
      </p:sp>
      <p:sp>
        <p:nvSpPr>
          <p:cNvPr id="13" name="Text 11"/>
          <p:cNvSpPr/>
          <p:nvPr/>
        </p:nvSpPr>
        <p:spPr>
          <a:xfrm>
            <a:off x="3264408" y="1078992"/>
            <a:ext cx="594360" cy="246888"/>
          </a:xfrm>
          <a:prstGeom prst="rect">
            <a:avLst/>
          </a:prstGeom>
          <a:noFill/>
          <a:ln/>
        </p:spPr>
        <p:txBody>
          <a:bodyPr wrap="square" lIns="0" tIns="0" rIns="0" bIns="0" rtlCol="0" anchor="ctr"/>
          <a:lstStyle/>
          <a:p>
            <a:pPr algn="ctr" indent="0" marL="0">
              <a:buNone/>
            </a:pPr>
            <a:r>
              <a:rPr lang="en-US" sz="1000" b="1" dirty="0">
                <a:solidFill>
                  <a:srgbClr val="0D1117"/>
                </a:solidFill>
              </a:rPr>
              <a:t>POST</a:t>
            </a:r>
            <a:endParaRPr lang="en-US" sz="1000" dirty="0"/>
          </a:p>
        </p:txBody>
      </p:sp>
      <p:sp>
        <p:nvSpPr>
          <p:cNvPr id="14" name="Text 12"/>
          <p:cNvSpPr/>
          <p:nvPr/>
        </p:nvSpPr>
        <p:spPr>
          <a:xfrm>
            <a:off x="3950208" y="1078992"/>
            <a:ext cx="1874520" cy="246888"/>
          </a:xfrm>
          <a:prstGeom prst="rect">
            <a:avLst/>
          </a:prstGeom>
          <a:noFill/>
          <a:ln/>
        </p:spPr>
        <p:txBody>
          <a:bodyPr wrap="square" lIns="0" tIns="0" rIns="0" bIns="0" rtlCol="0" anchor="ctr"/>
          <a:lstStyle/>
          <a:p>
            <a:pPr indent="0" marL="0">
              <a:buNone/>
            </a:pPr>
            <a:r>
              <a:rPr lang="en-US" sz="950" dirty="0">
                <a:solidFill>
                  <a:srgbClr val="0D9488"/>
                </a:solidFill>
                <a:latin typeface="Consolas" pitchFamily="34" charset="0"/>
                <a:ea typeface="Consolas" pitchFamily="34" charset="-122"/>
                <a:cs typeface="Consolas" pitchFamily="34" charset="-120"/>
              </a:rPr>
              <a:t>/search</a:t>
            </a:r>
            <a:endParaRPr lang="en-US" sz="950" dirty="0"/>
          </a:p>
        </p:txBody>
      </p:sp>
      <p:sp>
        <p:nvSpPr>
          <p:cNvPr id="15" name="Text 13"/>
          <p:cNvSpPr/>
          <p:nvPr/>
        </p:nvSpPr>
        <p:spPr>
          <a:xfrm>
            <a:off x="3264408" y="1426464"/>
            <a:ext cx="2560320" cy="566928"/>
          </a:xfrm>
          <a:prstGeom prst="rect">
            <a:avLst/>
          </a:prstGeom>
          <a:noFill/>
          <a:ln/>
        </p:spPr>
        <p:txBody>
          <a:bodyPr wrap="square" lIns="0" tIns="0" rIns="0" bIns="0" rtlCol="0" anchor="ctr"/>
          <a:lstStyle/>
          <a:p>
            <a:pPr indent="0" marL="0">
              <a:lnSpc>
                <a:spcPct val="130000"/>
              </a:lnSpc>
              <a:buNone/>
            </a:pPr>
            <a:r>
              <a:rPr lang="en-US" sz="1050" dirty="0">
                <a:solidFill>
                  <a:srgbClr val="CBD5E1"/>
                </a:solidFill>
              </a:rPr>
              <a:t>Search via JSON body: { query, page, top_k }</a:t>
            </a:r>
            <a:endParaRPr lang="en-US" sz="1050" dirty="0"/>
          </a:p>
        </p:txBody>
      </p:sp>
      <p:sp>
        <p:nvSpPr>
          <p:cNvPr id="16" name="Shape 14"/>
          <p:cNvSpPr/>
          <p:nvPr/>
        </p:nvSpPr>
        <p:spPr>
          <a:xfrm>
            <a:off x="6117336" y="987552"/>
            <a:ext cx="2743200" cy="1097280"/>
          </a:xfrm>
          <a:prstGeom prst="rect">
            <a:avLst/>
          </a:prstGeom>
          <a:solidFill>
            <a:srgbClr val="1F2937"/>
          </a:solidFill>
          <a:ln w="12700">
            <a:solidFill>
              <a:srgbClr val="F59E0B"/>
            </a:solidFill>
            <a:prstDash val="solid"/>
          </a:ln>
          <a:effectLst>
            <a:outerShdw sx="100000" sy="100000" kx="0" ky="0" algn="bl" rotWithShape="0" blurRad="127000" dist="38100" dir="8100000">
              <a:srgbClr val="000000">
                <a:alpha val="25000"/>
              </a:srgbClr>
            </a:outerShdw>
          </a:effectLst>
        </p:spPr>
      </p:sp>
      <p:sp>
        <p:nvSpPr>
          <p:cNvPr id="17" name="Shape 15"/>
          <p:cNvSpPr/>
          <p:nvPr/>
        </p:nvSpPr>
        <p:spPr>
          <a:xfrm>
            <a:off x="6208776" y="1078992"/>
            <a:ext cx="594360" cy="246888"/>
          </a:xfrm>
          <a:prstGeom prst="roundRect">
            <a:avLst>
              <a:gd name="adj" fmla="val 14815"/>
            </a:avLst>
          </a:prstGeom>
          <a:solidFill>
            <a:srgbClr val="F59E0B"/>
          </a:solidFill>
          <a:ln w="12700">
            <a:solidFill>
              <a:srgbClr val="F59E0B"/>
            </a:solidFill>
            <a:prstDash val="solid"/>
          </a:ln>
        </p:spPr>
      </p:sp>
      <p:sp>
        <p:nvSpPr>
          <p:cNvPr id="18" name="Text 16"/>
          <p:cNvSpPr/>
          <p:nvPr/>
        </p:nvSpPr>
        <p:spPr>
          <a:xfrm>
            <a:off x="6208776" y="1078992"/>
            <a:ext cx="594360" cy="246888"/>
          </a:xfrm>
          <a:prstGeom prst="rect">
            <a:avLst/>
          </a:prstGeom>
          <a:noFill/>
          <a:ln/>
        </p:spPr>
        <p:txBody>
          <a:bodyPr wrap="square" lIns="0" tIns="0" rIns="0" bIns="0" rtlCol="0" anchor="ctr"/>
          <a:lstStyle/>
          <a:p>
            <a:pPr algn="ctr" indent="0" marL="0">
              <a:buNone/>
            </a:pPr>
            <a:r>
              <a:rPr lang="en-US" sz="1000" b="1" dirty="0">
                <a:solidFill>
                  <a:srgbClr val="0D1117"/>
                </a:solidFill>
              </a:rPr>
              <a:t>POST</a:t>
            </a:r>
            <a:endParaRPr lang="en-US" sz="1000" dirty="0"/>
          </a:p>
        </p:txBody>
      </p:sp>
      <p:sp>
        <p:nvSpPr>
          <p:cNvPr id="19" name="Text 17"/>
          <p:cNvSpPr/>
          <p:nvPr/>
        </p:nvSpPr>
        <p:spPr>
          <a:xfrm>
            <a:off x="6894576" y="1078992"/>
            <a:ext cx="1874520" cy="246888"/>
          </a:xfrm>
          <a:prstGeom prst="rect">
            <a:avLst/>
          </a:prstGeom>
          <a:noFill/>
          <a:ln/>
        </p:spPr>
        <p:txBody>
          <a:bodyPr wrap="square" lIns="0" tIns="0" rIns="0" bIns="0" rtlCol="0" anchor="ctr"/>
          <a:lstStyle/>
          <a:p>
            <a:pPr indent="0" marL="0">
              <a:buNone/>
            </a:pPr>
            <a:r>
              <a:rPr lang="en-US" sz="950" dirty="0">
                <a:solidFill>
                  <a:srgbClr val="F59E0B"/>
                </a:solidFill>
                <a:latin typeface="Consolas" pitchFamily="34" charset="0"/>
                <a:ea typeface="Consolas" pitchFamily="34" charset="-122"/>
                <a:cs typeface="Consolas" pitchFamily="34" charset="-120"/>
              </a:rPr>
              <a:t>/index</a:t>
            </a:r>
            <a:endParaRPr lang="en-US" sz="950" dirty="0"/>
          </a:p>
        </p:txBody>
      </p:sp>
      <p:sp>
        <p:nvSpPr>
          <p:cNvPr id="20" name="Text 18"/>
          <p:cNvSpPr/>
          <p:nvPr/>
        </p:nvSpPr>
        <p:spPr>
          <a:xfrm>
            <a:off x="6208776" y="1426464"/>
            <a:ext cx="2560320" cy="566928"/>
          </a:xfrm>
          <a:prstGeom prst="rect">
            <a:avLst/>
          </a:prstGeom>
          <a:noFill/>
          <a:ln/>
        </p:spPr>
        <p:txBody>
          <a:bodyPr wrap="square" lIns="0" tIns="0" rIns="0" bIns="0" rtlCol="0" anchor="ctr"/>
          <a:lstStyle/>
          <a:p>
            <a:pPr indent="0" marL="0">
              <a:lnSpc>
                <a:spcPct val="130000"/>
              </a:lnSpc>
              <a:buNone/>
            </a:pPr>
            <a:r>
              <a:rPr lang="en-US" sz="1050" dirty="0">
                <a:solidFill>
                  <a:srgbClr val="CBD5E1"/>
                </a:solidFill>
              </a:rPr>
              <a:t>Manually index a single document (url, title, body, snippet)</a:t>
            </a:r>
            <a:endParaRPr lang="en-US" sz="1050" dirty="0"/>
          </a:p>
        </p:txBody>
      </p:sp>
      <p:sp>
        <p:nvSpPr>
          <p:cNvPr id="21" name="Shape 19"/>
          <p:cNvSpPr/>
          <p:nvPr/>
        </p:nvSpPr>
        <p:spPr>
          <a:xfrm>
            <a:off x="228600" y="2249424"/>
            <a:ext cx="2743200" cy="1097280"/>
          </a:xfrm>
          <a:prstGeom prst="rect">
            <a:avLst/>
          </a:prstGeom>
          <a:solidFill>
            <a:srgbClr val="1F2937"/>
          </a:solidFill>
          <a:ln w="12700">
            <a:solidFill>
              <a:srgbClr val="F59E0B"/>
            </a:solidFill>
            <a:prstDash val="solid"/>
          </a:ln>
          <a:effectLst>
            <a:outerShdw sx="100000" sy="100000" kx="0" ky="0" algn="bl" rotWithShape="0" blurRad="127000" dist="38100" dir="8100000">
              <a:srgbClr val="000000">
                <a:alpha val="25000"/>
              </a:srgbClr>
            </a:outerShdw>
          </a:effectLst>
        </p:spPr>
      </p:sp>
      <p:sp>
        <p:nvSpPr>
          <p:cNvPr id="22" name="Shape 20"/>
          <p:cNvSpPr/>
          <p:nvPr/>
        </p:nvSpPr>
        <p:spPr>
          <a:xfrm>
            <a:off x="320040" y="2340864"/>
            <a:ext cx="594360" cy="246888"/>
          </a:xfrm>
          <a:prstGeom prst="roundRect">
            <a:avLst>
              <a:gd name="adj" fmla="val 14815"/>
            </a:avLst>
          </a:prstGeom>
          <a:solidFill>
            <a:srgbClr val="F59E0B"/>
          </a:solidFill>
          <a:ln w="12700">
            <a:solidFill>
              <a:srgbClr val="F59E0B"/>
            </a:solidFill>
            <a:prstDash val="solid"/>
          </a:ln>
        </p:spPr>
      </p:sp>
      <p:sp>
        <p:nvSpPr>
          <p:cNvPr id="23" name="Text 21"/>
          <p:cNvSpPr/>
          <p:nvPr/>
        </p:nvSpPr>
        <p:spPr>
          <a:xfrm>
            <a:off x="320040" y="2340864"/>
            <a:ext cx="594360" cy="246888"/>
          </a:xfrm>
          <a:prstGeom prst="rect">
            <a:avLst/>
          </a:prstGeom>
          <a:noFill/>
          <a:ln/>
        </p:spPr>
        <p:txBody>
          <a:bodyPr wrap="square" lIns="0" tIns="0" rIns="0" bIns="0" rtlCol="0" anchor="ctr"/>
          <a:lstStyle/>
          <a:p>
            <a:pPr algn="ctr" indent="0" marL="0">
              <a:buNone/>
            </a:pPr>
            <a:r>
              <a:rPr lang="en-US" sz="1000" b="1" dirty="0">
                <a:solidFill>
                  <a:srgbClr val="0D1117"/>
                </a:solidFill>
              </a:rPr>
              <a:t>POST</a:t>
            </a:r>
            <a:endParaRPr lang="en-US" sz="1000" dirty="0"/>
          </a:p>
        </p:txBody>
      </p:sp>
      <p:sp>
        <p:nvSpPr>
          <p:cNvPr id="24" name="Text 22"/>
          <p:cNvSpPr/>
          <p:nvPr/>
        </p:nvSpPr>
        <p:spPr>
          <a:xfrm>
            <a:off x="1005840" y="2340864"/>
            <a:ext cx="1874520" cy="246888"/>
          </a:xfrm>
          <a:prstGeom prst="rect">
            <a:avLst/>
          </a:prstGeom>
          <a:noFill/>
          <a:ln/>
        </p:spPr>
        <p:txBody>
          <a:bodyPr wrap="square" lIns="0" tIns="0" rIns="0" bIns="0" rtlCol="0" anchor="ctr"/>
          <a:lstStyle/>
          <a:p>
            <a:pPr indent="0" marL="0">
              <a:buNone/>
            </a:pPr>
            <a:r>
              <a:rPr lang="en-US" sz="950" dirty="0">
                <a:solidFill>
                  <a:srgbClr val="F59E0B"/>
                </a:solidFill>
                <a:latin typeface="Consolas" pitchFamily="34" charset="0"/>
                <a:ea typeface="Consolas" pitchFamily="34" charset="-122"/>
                <a:cs typeface="Consolas" pitchFamily="34" charset="-120"/>
              </a:rPr>
              <a:t>/index/wikipedia</a:t>
            </a:r>
            <a:endParaRPr lang="en-US" sz="950" dirty="0"/>
          </a:p>
        </p:txBody>
      </p:sp>
      <p:sp>
        <p:nvSpPr>
          <p:cNvPr id="25" name="Text 23"/>
          <p:cNvSpPr/>
          <p:nvPr/>
        </p:nvSpPr>
        <p:spPr>
          <a:xfrm>
            <a:off x="320040" y="2688336"/>
            <a:ext cx="2560320" cy="566928"/>
          </a:xfrm>
          <a:prstGeom prst="rect">
            <a:avLst/>
          </a:prstGeom>
          <a:noFill/>
          <a:ln/>
        </p:spPr>
        <p:txBody>
          <a:bodyPr wrap="square" lIns="0" tIns="0" rIns="0" bIns="0" rtlCol="0" anchor="ctr"/>
          <a:lstStyle/>
          <a:p>
            <a:pPr indent="0" marL="0">
              <a:lnSpc>
                <a:spcPct val="130000"/>
              </a:lnSpc>
              <a:buNone/>
            </a:pPr>
            <a:r>
              <a:rPr lang="en-US" sz="1050" dirty="0">
                <a:solidFill>
                  <a:srgbClr val="CBD5E1"/>
                </a:solidFill>
              </a:rPr>
              <a:t>Batch index Wikipedia articles by topic list in background</a:t>
            </a:r>
            <a:endParaRPr lang="en-US" sz="1050" dirty="0"/>
          </a:p>
        </p:txBody>
      </p:sp>
      <p:sp>
        <p:nvSpPr>
          <p:cNvPr id="26" name="Shape 24"/>
          <p:cNvSpPr/>
          <p:nvPr/>
        </p:nvSpPr>
        <p:spPr>
          <a:xfrm>
            <a:off x="3172968" y="2249424"/>
            <a:ext cx="2743200" cy="1097280"/>
          </a:xfrm>
          <a:prstGeom prst="rect">
            <a:avLst/>
          </a:prstGeom>
          <a:solidFill>
            <a:srgbClr val="1F2937"/>
          </a:solidFill>
          <a:ln w="12700">
            <a:solidFill>
              <a:srgbClr val="10B981"/>
            </a:solidFill>
            <a:prstDash val="solid"/>
          </a:ln>
          <a:effectLst>
            <a:outerShdw sx="100000" sy="100000" kx="0" ky="0" algn="bl" rotWithShape="0" blurRad="127000" dist="38100" dir="8100000">
              <a:srgbClr val="000000">
                <a:alpha val="25000"/>
              </a:srgbClr>
            </a:outerShdw>
          </a:effectLst>
        </p:spPr>
      </p:sp>
      <p:sp>
        <p:nvSpPr>
          <p:cNvPr id="27" name="Shape 25"/>
          <p:cNvSpPr/>
          <p:nvPr/>
        </p:nvSpPr>
        <p:spPr>
          <a:xfrm>
            <a:off x="3264408" y="2340864"/>
            <a:ext cx="594360" cy="246888"/>
          </a:xfrm>
          <a:prstGeom prst="roundRect">
            <a:avLst>
              <a:gd name="adj" fmla="val 14815"/>
            </a:avLst>
          </a:prstGeom>
          <a:solidFill>
            <a:srgbClr val="10B981"/>
          </a:solidFill>
          <a:ln w="12700">
            <a:solidFill>
              <a:srgbClr val="10B981"/>
            </a:solidFill>
            <a:prstDash val="solid"/>
          </a:ln>
        </p:spPr>
      </p:sp>
      <p:sp>
        <p:nvSpPr>
          <p:cNvPr id="28" name="Text 26"/>
          <p:cNvSpPr/>
          <p:nvPr/>
        </p:nvSpPr>
        <p:spPr>
          <a:xfrm>
            <a:off x="3264408" y="2340864"/>
            <a:ext cx="594360" cy="246888"/>
          </a:xfrm>
          <a:prstGeom prst="rect">
            <a:avLst/>
          </a:prstGeom>
          <a:noFill/>
          <a:ln/>
        </p:spPr>
        <p:txBody>
          <a:bodyPr wrap="square" lIns="0" tIns="0" rIns="0" bIns="0" rtlCol="0" anchor="ctr"/>
          <a:lstStyle/>
          <a:p>
            <a:pPr algn="ctr" indent="0" marL="0">
              <a:buNone/>
            </a:pPr>
            <a:r>
              <a:rPr lang="en-US" sz="1000" b="1" dirty="0">
                <a:solidFill>
                  <a:srgbClr val="0D1117"/>
                </a:solidFill>
              </a:rPr>
              <a:t>POST</a:t>
            </a:r>
            <a:endParaRPr lang="en-US" sz="1000" dirty="0"/>
          </a:p>
        </p:txBody>
      </p:sp>
      <p:sp>
        <p:nvSpPr>
          <p:cNvPr id="29" name="Text 27"/>
          <p:cNvSpPr/>
          <p:nvPr/>
        </p:nvSpPr>
        <p:spPr>
          <a:xfrm>
            <a:off x="3950208" y="2340864"/>
            <a:ext cx="1874520" cy="246888"/>
          </a:xfrm>
          <a:prstGeom prst="rect">
            <a:avLst/>
          </a:prstGeom>
          <a:noFill/>
          <a:ln/>
        </p:spPr>
        <p:txBody>
          <a:bodyPr wrap="square" lIns="0" tIns="0" rIns="0" bIns="0" rtlCol="0" anchor="ctr"/>
          <a:lstStyle/>
          <a:p>
            <a:pPr indent="0" marL="0">
              <a:buNone/>
            </a:pPr>
            <a:r>
              <a:rPr lang="en-US" sz="950" dirty="0">
                <a:solidFill>
                  <a:srgbClr val="10B981"/>
                </a:solidFill>
                <a:latin typeface="Consolas" pitchFamily="34" charset="0"/>
                <a:ea typeface="Consolas" pitchFamily="34" charset="-122"/>
                <a:cs typeface="Consolas" pitchFamily="34" charset="-120"/>
              </a:rPr>
              <a:t>/crawl</a:t>
            </a:r>
            <a:endParaRPr lang="en-US" sz="950" dirty="0"/>
          </a:p>
        </p:txBody>
      </p:sp>
      <p:sp>
        <p:nvSpPr>
          <p:cNvPr id="30" name="Text 28"/>
          <p:cNvSpPr/>
          <p:nvPr/>
        </p:nvSpPr>
        <p:spPr>
          <a:xfrm>
            <a:off x="3264408" y="2688336"/>
            <a:ext cx="2560320" cy="566928"/>
          </a:xfrm>
          <a:prstGeom prst="rect">
            <a:avLst/>
          </a:prstGeom>
          <a:noFill/>
          <a:ln/>
        </p:spPr>
        <p:txBody>
          <a:bodyPr wrap="square" lIns="0" tIns="0" rIns="0" bIns="0" rtlCol="0" anchor="ctr"/>
          <a:lstStyle/>
          <a:p>
            <a:pPr indent="0" marL="0">
              <a:lnSpc>
                <a:spcPct val="130000"/>
              </a:lnSpc>
              <a:buNone/>
            </a:pPr>
            <a:r>
              <a:rPr lang="en-US" sz="1050" dirty="0">
                <a:solidFill>
                  <a:srgbClr val="CBD5E1"/>
                </a:solidFill>
              </a:rPr>
              <a:t>BFS web crawl from seed URLs — up to 50 pages async</a:t>
            </a:r>
            <a:endParaRPr lang="en-US" sz="1050" dirty="0"/>
          </a:p>
        </p:txBody>
      </p:sp>
      <p:sp>
        <p:nvSpPr>
          <p:cNvPr id="31" name="Shape 29"/>
          <p:cNvSpPr/>
          <p:nvPr/>
        </p:nvSpPr>
        <p:spPr>
          <a:xfrm>
            <a:off x="6117336" y="2249424"/>
            <a:ext cx="2743200" cy="1097280"/>
          </a:xfrm>
          <a:prstGeom prst="rect">
            <a:avLst/>
          </a:prstGeom>
          <a:solidFill>
            <a:srgbClr val="1F2937"/>
          </a:solidFill>
          <a:ln w="12700">
            <a:solidFill>
              <a:srgbClr val="5EEAD4"/>
            </a:solidFill>
            <a:prstDash val="solid"/>
          </a:ln>
          <a:effectLst>
            <a:outerShdw sx="100000" sy="100000" kx="0" ky="0" algn="bl" rotWithShape="0" blurRad="127000" dist="38100" dir="8100000">
              <a:srgbClr val="000000">
                <a:alpha val="25000"/>
              </a:srgbClr>
            </a:outerShdw>
          </a:effectLst>
        </p:spPr>
      </p:sp>
      <p:sp>
        <p:nvSpPr>
          <p:cNvPr id="32" name="Shape 30"/>
          <p:cNvSpPr/>
          <p:nvPr/>
        </p:nvSpPr>
        <p:spPr>
          <a:xfrm>
            <a:off x="6208776" y="2340864"/>
            <a:ext cx="594360" cy="246888"/>
          </a:xfrm>
          <a:prstGeom prst="roundRect">
            <a:avLst>
              <a:gd name="adj" fmla="val 14815"/>
            </a:avLst>
          </a:prstGeom>
          <a:solidFill>
            <a:srgbClr val="5EEAD4"/>
          </a:solidFill>
          <a:ln w="12700">
            <a:solidFill>
              <a:srgbClr val="5EEAD4"/>
            </a:solidFill>
            <a:prstDash val="solid"/>
          </a:ln>
        </p:spPr>
      </p:sp>
      <p:sp>
        <p:nvSpPr>
          <p:cNvPr id="33" name="Text 31"/>
          <p:cNvSpPr/>
          <p:nvPr/>
        </p:nvSpPr>
        <p:spPr>
          <a:xfrm>
            <a:off x="6208776" y="2340864"/>
            <a:ext cx="594360" cy="246888"/>
          </a:xfrm>
          <a:prstGeom prst="rect">
            <a:avLst/>
          </a:prstGeom>
          <a:noFill/>
          <a:ln/>
        </p:spPr>
        <p:txBody>
          <a:bodyPr wrap="square" lIns="0" tIns="0" rIns="0" bIns="0" rtlCol="0" anchor="ctr"/>
          <a:lstStyle/>
          <a:p>
            <a:pPr algn="ctr" indent="0" marL="0">
              <a:buNone/>
            </a:pPr>
            <a:r>
              <a:rPr lang="en-US" sz="1000" b="1" dirty="0">
                <a:solidFill>
                  <a:srgbClr val="0D1117"/>
                </a:solidFill>
              </a:rPr>
              <a:t>GET</a:t>
            </a:r>
            <a:endParaRPr lang="en-US" sz="1000" dirty="0"/>
          </a:p>
        </p:txBody>
      </p:sp>
      <p:sp>
        <p:nvSpPr>
          <p:cNvPr id="34" name="Text 32"/>
          <p:cNvSpPr/>
          <p:nvPr/>
        </p:nvSpPr>
        <p:spPr>
          <a:xfrm>
            <a:off x="6894576" y="2340864"/>
            <a:ext cx="1874520" cy="246888"/>
          </a:xfrm>
          <a:prstGeom prst="rect">
            <a:avLst/>
          </a:prstGeom>
          <a:noFill/>
          <a:ln/>
        </p:spPr>
        <p:txBody>
          <a:bodyPr wrap="square" lIns="0" tIns="0" rIns="0" bIns="0" rtlCol="0" anchor="ctr"/>
          <a:lstStyle/>
          <a:p>
            <a:pPr indent="0" marL="0">
              <a:buNone/>
            </a:pPr>
            <a:r>
              <a:rPr lang="en-US" sz="950" dirty="0">
                <a:solidFill>
                  <a:srgbClr val="5EEAD4"/>
                </a:solidFill>
                <a:latin typeface="Consolas" pitchFamily="34" charset="0"/>
                <a:ea typeface="Consolas" pitchFamily="34" charset="-122"/>
                <a:cs typeface="Consolas" pitchFamily="34" charset="-120"/>
              </a:rPr>
              <a:t>/stats</a:t>
            </a:r>
            <a:endParaRPr lang="en-US" sz="950" dirty="0"/>
          </a:p>
        </p:txBody>
      </p:sp>
      <p:sp>
        <p:nvSpPr>
          <p:cNvPr id="35" name="Text 33"/>
          <p:cNvSpPr/>
          <p:nvPr/>
        </p:nvSpPr>
        <p:spPr>
          <a:xfrm>
            <a:off x="6208776" y="2688336"/>
            <a:ext cx="2560320" cy="566928"/>
          </a:xfrm>
          <a:prstGeom prst="rect">
            <a:avLst/>
          </a:prstGeom>
          <a:noFill/>
          <a:ln/>
        </p:spPr>
        <p:txBody>
          <a:bodyPr wrap="square" lIns="0" tIns="0" rIns="0" bIns="0" rtlCol="0" anchor="ctr"/>
          <a:lstStyle/>
          <a:p>
            <a:pPr indent="0" marL="0">
              <a:lnSpc>
                <a:spcPct val="130000"/>
              </a:lnSpc>
              <a:buNone/>
            </a:pPr>
            <a:r>
              <a:rPr lang="en-US" sz="1050" dirty="0">
                <a:solidFill>
                  <a:srgbClr val="CBD5E1"/>
                </a:solidFill>
              </a:rPr>
              <a:t>Engine stats: docs indexed, top queries, avg latency</a:t>
            </a:r>
            <a:endParaRPr lang="en-US" sz="1050" dirty="0"/>
          </a:p>
        </p:txBody>
      </p:sp>
      <p:sp>
        <p:nvSpPr>
          <p:cNvPr id="36" name="Shape 34"/>
          <p:cNvSpPr/>
          <p:nvPr/>
        </p:nvSpPr>
        <p:spPr>
          <a:xfrm>
            <a:off x="228600" y="3511296"/>
            <a:ext cx="2743200" cy="1097280"/>
          </a:xfrm>
          <a:prstGeom prst="rect">
            <a:avLst/>
          </a:prstGeom>
          <a:solidFill>
            <a:srgbClr val="1F2937"/>
          </a:solidFill>
          <a:ln w="12700">
            <a:solidFill>
              <a:srgbClr val="5EEAD4"/>
            </a:solidFill>
            <a:prstDash val="solid"/>
          </a:ln>
          <a:effectLst>
            <a:outerShdw sx="100000" sy="100000" kx="0" ky="0" algn="bl" rotWithShape="0" blurRad="127000" dist="38100" dir="8100000">
              <a:srgbClr val="000000">
                <a:alpha val="25000"/>
              </a:srgbClr>
            </a:outerShdw>
          </a:effectLst>
        </p:spPr>
      </p:sp>
      <p:sp>
        <p:nvSpPr>
          <p:cNvPr id="37" name="Shape 35"/>
          <p:cNvSpPr/>
          <p:nvPr/>
        </p:nvSpPr>
        <p:spPr>
          <a:xfrm>
            <a:off x="320040" y="3602736"/>
            <a:ext cx="594360" cy="246888"/>
          </a:xfrm>
          <a:prstGeom prst="roundRect">
            <a:avLst>
              <a:gd name="adj" fmla="val 14815"/>
            </a:avLst>
          </a:prstGeom>
          <a:solidFill>
            <a:srgbClr val="5EEAD4"/>
          </a:solidFill>
          <a:ln w="12700">
            <a:solidFill>
              <a:srgbClr val="5EEAD4"/>
            </a:solidFill>
            <a:prstDash val="solid"/>
          </a:ln>
        </p:spPr>
      </p:sp>
      <p:sp>
        <p:nvSpPr>
          <p:cNvPr id="38" name="Text 36"/>
          <p:cNvSpPr/>
          <p:nvPr/>
        </p:nvSpPr>
        <p:spPr>
          <a:xfrm>
            <a:off x="320040" y="3602736"/>
            <a:ext cx="594360" cy="246888"/>
          </a:xfrm>
          <a:prstGeom prst="rect">
            <a:avLst/>
          </a:prstGeom>
          <a:noFill/>
          <a:ln/>
        </p:spPr>
        <p:txBody>
          <a:bodyPr wrap="square" lIns="0" tIns="0" rIns="0" bIns="0" rtlCol="0" anchor="ctr"/>
          <a:lstStyle/>
          <a:p>
            <a:pPr algn="ctr" indent="0" marL="0">
              <a:buNone/>
            </a:pPr>
            <a:r>
              <a:rPr lang="en-US" sz="1000" b="1" dirty="0">
                <a:solidFill>
                  <a:srgbClr val="0D1117"/>
                </a:solidFill>
              </a:rPr>
              <a:t>GET</a:t>
            </a:r>
            <a:endParaRPr lang="en-US" sz="1000" dirty="0"/>
          </a:p>
        </p:txBody>
      </p:sp>
      <p:sp>
        <p:nvSpPr>
          <p:cNvPr id="39" name="Text 37"/>
          <p:cNvSpPr/>
          <p:nvPr/>
        </p:nvSpPr>
        <p:spPr>
          <a:xfrm>
            <a:off x="1005840" y="3602736"/>
            <a:ext cx="1874520" cy="246888"/>
          </a:xfrm>
          <a:prstGeom prst="rect">
            <a:avLst/>
          </a:prstGeom>
          <a:noFill/>
          <a:ln/>
        </p:spPr>
        <p:txBody>
          <a:bodyPr wrap="square" lIns="0" tIns="0" rIns="0" bIns="0" rtlCol="0" anchor="ctr"/>
          <a:lstStyle/>
          <a:p>
            <a:pPr indent="0" marL="0">
              <a:buNone/>
            </a:pPr>
            <a:r>
              <a:rPr lang="en-US" sz="950" dirty="0">
                <a:solidFill>
                  <a:srgbClr val="5EEAD4"/>
                </a:solidFill>
                <a:latin typeface="Consolas" pitchFamily="34" charset="0"/>
                <a:ea typeface="Consolas" pitchFamily="34" charset="-122"/>
                <a:cs typeface="Consolas" pitchFamily="34" charset="-120"/>
              </a:rPr>
              <a:t>/suggest?q=...</a:t>
            </a:r>
            <a:endParaRPr lang="en-US" sz="950" dirty="0"/>
          </a:p>
        </p:txBody>
      </p:sp>
      <p:sp>
        <p:nvSpPr>
          <p:cNvPr id="40" name="Text 38"/>
          <p:cNvSpPr/>
          <p:nvPr/>
        </p:nvSpPr>
        <p:spPr>
          <a:xfrm>
            <a:off x="320040" y="3950208"/>
            <a:ext cx="2560320" cy="566928"/>
          </a:xfrm>
          <a:prstGeom prst="rect">
            <a:avLst/>
          </a:prstGeom>
          <a:noFill/>
          <a:ln/>
        </p:spPr>
        <p:txBody>
          <a:bodyPr wrap="square" lIns="0" tIns="0" rIns="0" bIns="0" rtlCol="0" anchor="ctr"/>
          <a:lstStyle/>
          <a:p>
            <a:pPr indent="0" marL="0">
              <a:lnSpc>
                <a:spcPct val="130000"/>
              </a:lnSpc>
              <a:buNone/>
            </a:pPr>
            <a:r>
              <a:rPr lang="en-US" sz="1050" dirty="0">
                <a:solidFill>
                  <a:srgbClr val="CBD5E1"/>
                </a:solidFill>
              </a:rPr>
              <a:t>Autocomplete from search history (query prefix match)</a:t>
            </a:r>
            <a:endParaRPr lang="en-US" sz="1050" dirty="0"/>
          </a:p>
        </p:txBody>
      </p:sp>
      <p:sp>
        <p:nvSpPr>
          <p:cNvPr id="41" name="Shape 39"/>
          <p:cNvSpPr/>
          <p:nvPr/>
        </p:nvSpPr>
        <p:spPr>
          <a:xfrm>
            <a:off x="3172968" y="3511296"/>
            <a:ext cx="2743200" cy="1097280"/>
          </a:xfrm>
          <a:prstGeom prst="rect">
            <a:avLst/>
          </a:prstGeom>
          <a:solidFill>
            <a:srgbClr val="1F2937"/>
          </a:solidFill>
          <a:ln w="12700">
            <a:solidFill>
              <a:srgbClr val="94A3B8"/>
            </a:solidFill>
            <a:prstDash val="solid"/>
          </a:ln>
          <a:effectLst>
            <a:outerShdw sx="100000" sy="100000" kx="0" ky="0" algn="bl" rotWithShape="0" blurRad="127000" dist="38100" dir="8100000">
              <a:srgbClr val="000000">
                <a:alpha val="25000"/>
              </a:srgbClr>
            </a:outerShdw>
          </a:effectLst>
        </p:spPr>
      </p:sp>
      <p:sp>
        <p:nvSpPr>
          <p:cNvPr id="42" name="Shape 40"/>
          <p:cNvSpPr/>
          <p:nvPr/>
        </p:nvSpPr>
        <p:spPr>
          <a:xfrm>
            <a:off x="3264408" y="3602736"/>
            <a:ext cx="594360" cy="246888"/>
          </a:xfrm>
          <a:prstGeom prst="roundRect">
            <a:avLst>
              <a:gd name="adj" fmla="val 14815"/>
            </a:avLst>
          </a:prstGeom>
          <a:solidFill>
            <a:srgbClr val="94A3B8"/>
          </a:solidFill>
          <a:ln w="12700">
            <a:solidFill>
              <a:srgbClr val="94A3B8"/>
            </a:solidFill>
            <a:prstDash val="solid"/>
          </a:ln>
        </p:spPr>
      </p:sp>
      <p:sp>
        <p:nvSpPr>
          <p:cNvPr id="43" name="Text 41"/>
          <p:cNvSpPr/>
          <p:nvPr/>
        </p:nvSpPr>
        <p:spPr>
          <a:xfrm>
            <a:off x="3264408" y="3602736"/>
            <a:ext cx="594360" cy="246888"/>
          </a:xfrm>
          <a:prstGeom prst="rect">
            <a:avLst/>
          </a:prstGeom>
          <a:noFill/>
          <a:ln/>
        </p:spPr>
        <p:txBody>
          <a:bodyPr wrap="square" lIns="0" tIns="0" rIns="0" bIns="0" rtlCol="0" anchor="ctr"/>
          <a:lstStyle/>
          <a:p>
            <a:pPr algn="ctr" indent="0" marL="0">
              <a:buNone/>
            </a:pPr>
            <a:r>
              <a:rPr lang="en-US" sz="1000" b="1" dirty="0">
                <a:solidFill>
                  <a:srgbClr val="0D1117"/>
                </a:solidFill>
              </a:rPr>
              <a:t>GET</a:t>
            </a:r>
            <a:endParaRPr lang="en-US" sz="1000" dirty="0"/>
          </a:p>
        </p:txBody>
      </p:sp>
      <p:sp>
        <p:nvSpPr>
          <p:cNvPr id="44" name="Text 42"/>
          <p:cNvSpPr/>
          <p:nvPr/>
        </p:nvSpPr>
        <p:spPr>
          <a:xfrm>
            <a:off x="3950208" y="3602736"/>
            <a:ext cx="1874520" cy="246888"/>
          </a:xfrm>
          <a:prstGeom prst="rect">
            <a:avLst/>
          </a:prstGeom>
          <a:noFill/>
          <a:ln/>
        </p:spPr>
        <p:txBody>
          <a:bodyPr wrap="square" lIns="0" tIns="0" rIns="0" bIns="0" rtlCol="0" anchor="ctr"/>
          <a:lstStyle/>
          <a:p>
            <a:pPr indent="0" marL="0">
              <a:buNone/>
            </a:pPr>
            <a:r>
              <a:rPr lang="en-US" sz="950" dirty="0">
                <a:solidFill>
                  <a:srgbClr val="94A3B8"/>
                </a:solidFill>
                <a:latin typeface="Consolas" pitchFamily="34" charset="0"/>
                <a:ea typeface="Consolas" pitchFamily="34" charset="-122"/>
                <a:cs typeface="Consolas" pitchFamily="34" charset="-120"/>
              </a:rPr>
              <a:t>/health</a:t>
            </a:r>
            <a:endParaRPr lang="en-US" sz="950" dirty="0"/>
          </a:p>
        </p:txBody>
      </p:sp>
      <p:sp>
        <p:nvSpPr>
          <p:cNvPr id="45" name="Text 43"/>
          <p:cNvSpPr/>
          <p:nvPr/>
        </p:nvSpPr>
        <p:spPr>
          <a:xfrm>
            <a:off x="3264408" y="3950208"/>
            <a:ext cx="2560320" cy="566928"/>
          </a:xfrm>
          <a:prstGeom prst="rect">
            <a:avLst/>
          </a:prstGeom>
          <a:noFill/>
          <a:ln/>
        </p:spPr>
        <p:txBody>
          <a:bodyPr wrap="square" lIns="0" tIns="0" rIns="0" bIns="0" rtlCol="0" anchor="ctr"/>
          <a:lstStyle/>
          <a:p>
            <a:pPr indent="0" marL="0">
              <a:lnSpc>
                <a:spcPct val="130000"/>
              </a:lnSpc>
              <a:buNone/>
            </a:pPr>
            <a:r>
              <a:rPr lang="en-US" sz="1050" dirty="0">
                <a:solidFill>
                  <a:srgbClr val="CBD5E1"/>
                </a:solidFill>
              </a:rPr>
              <a:t>Health check — model name, FAISS status, WordNet flag</a:t>
            </a:r>
            <a:endParaRPr lang="en-US" sz="1050" dirty="0"/>
          </a:p>
        </p:txBody>
      </p:sp>
      <p:sp>
        <p:nvSpPr>
          <p:cNvPr id="46" name="Shape 44"/>
          <p:cNvSpPr/>
          <p:nvPr/>
        </p:nvSpPr>
        <p:spPr>
          <a:xfrm>
            <a:off x="6117336" y="3511296"/>
            <a:ext cx="2743200" cy="1097280"/>
          </a:xfrm>
          <a:prstGeom prst="rect">
            <a:avLst/>
          </a:prstGeom>
          <a:solidFill>
            <a:srgbClr val="1F2937"/>
          </a:solidFill>
          <a:ln w="12700">
            <a:solidFill>
              <a:srgbClr val="F43F5E"/>
            </a:solidFill>
            <a:prstDash val="solid"/>
          </a:ln>
          <a:effectLst>
            <a:outerShdw sx="100000" sy="100000" kx="0" ky="0" algn="bl" rotWithShape="0" blurRad="127000" dist="38100" dir="8100000">
              <a:srgbClr val="000000">
                <a:alpha val="25000"/>
              </a:srgbClr>
            </a:outerShdw>
          </a:effectLst>
        </p:spPr>
      </p:sp>
      <p:sp>
        <p:nvSpPr>
          <p:cNvPr id="47" name="Shape 45"/>
          <p:cNvSpPr/>
          <p:nvPr/>
        </p:nvSpPr>
        <p:spPr>
          <a:xfrm>
            <a:off x="6208776" y="3602736"/>
            <a:ext cx="594360" cy="246888"/>
          </a:xfrm>
          <a:prstGeom prst="roundRect">
            <a:avLst>
              <a:gd name="adj" fmla="val 14815"/>
            </a:avLst>
          </a:prstGeom>
          <a:solidFill>
            <a:srgbClr val="F43F5E"/>
          </a:solidFill>
          <a:ln w="12700">
            <a:solidFill>
              <a:srgbClr val="F43F5E"/>
            </a:solidFill>
            <a:prstDash val="solid"/>
          </a:ln>
        </p:spPr>
      </p:sp>
      <p:sp>
        <p:nvSpPr>
          <p:cNvPr id="48" name="Text 46"/>
          <p:cNvSpPr/>
          <p:nvPr/>
        </p:nvSpPr>
        <p:spPr>
          <a:xfrm>
            <a:off x="6208776" y="3602736"/>
            <a:ext cx="594360" cy="246888"/>
          </a:xfrm>
          <a:prstGeom prst="rect">
            <a:avLst/>
          </a:prstGeom>
          <a:noFill/>
          <a:ln/>
        </p:spPr>
        <p:txBody>
          <a:bodyPr wrap="square" lIns="0" tIns="0" rIns="0" bIns="0" rtlCol="0" anchor="ctr"/>
          <a:lstStyle/>
          <a:p>
            <a:pPr algn="ctr" indent="0" marL="0">
              <a:buNone/>
            </a:pPr>
            <a:r>
              <a:rPr lang="en-US" sz="1000" b="1" dirty="0">
                <a:solidFill>
                  <a:srgbClr val="0D1117"/>
                </a:solidFill>
              </a:rPr>
              <a:t>DELETE</a:t>
            </a:r>
            <a:endParaRPr lang="en-US" sz="1000" dirty="0"/>
          </a:p>
        </p:txBody>
      </p:sp>
      <p:sp>
        <p:nvSpPr>
          <p:cNvPr id="49" name="Text 47"/>
          <p:cNvSpPr/>
          <p:nvPr/>
        </p:nvSpPr>
        <p:spPr>
          <a:xfrm>
            <a:off x="6894576" y="3602736"/>
            <a:ext cx="1874520" cy="246888"/>
          </a:xfrm>
          <a:prstGeom prst="rect">
            <a:avLst/>
          </a:prstGeom>
          <a:noFill/>
          <a:ln/>
        </p:spPr>
        <p:txBody>
          <a:bodyPr wrap="square" lIns="0" tIns="0" rIns="0" bIns="0" rtlCol="0" anchor="ctr"/>
          <a:lstStyle/>
          <a:p>
            <a:pPr indent="0" marL="0">
              <a:buNone/>
            </a:pPr>
            <a:r>
              <a:rPr lang="en-US" sz="950" dirty="0">
                <a:solidFill>
                  <a:srgbClr val="F43F5E"/>
                </a:solidFill>
                <a:latin typeface="Consolas" pitchFamily="34" charset="0"/>
                <a:ea typeface="Consolas" pitchFamily="34" charset="-122"/>
                <a:cs typeface="Consolas" pitchFamily="34" charset="-120"/>
              </a:rPr>
              <a:t>/index</a:t>
            </a:r>
            <a:endParaRPr lang="en-US" sz="950" dirty="0"/>
          </a:p>
        </p:txBody>
      </p:sp>
      <p:sp>
        <p:nvSpPr>
          <p:cNvPr id="50" name="Text 48"/>
          <p:cNvSpPr/>
          <p:nvPr/>
        </p:nvSpPr>
        <p:spPr>
          <a:xfrm>
            <a:off x="6208776" y="3950208"/>
            <a:ext cx="2560320" cy="566928"/>
          </a:xfrm>
          <a:prstGeom prst="rect">
            <a:avLst/>
          </a:prstGeom>
          <a:noFill/>
          <a:ln/>
        </p:spPr>
        <p:txBody>
          <a:bodyPr wrap="square" lIns="0" tIns="0" rIns="0" bIns="0" rtlCol="0" anchor="ctr"/>
          <a:lstStyle/>
          <a:p>
            <a:pPr indent="0" marL="0">
              <a:lnSpc>
                <a:spcPct val="130000"/>
              </a:lnSpc>
              <a:buNone/>
            </a:pPr>
            <a:r>
              <a:rPr lang="en-US" sz="1050" dirty="0">
                <a:solidFill>
                  <a:srgbClr val="CBD5E1"/>
                </a:solidFill>
              </a:rPr>
              <a:t>Clear all indexed documents and rebuild empty index</a:t>
            </a:r>
            <a:endParaRPr lang="en-US" sz="1050" dirty="0"/>
          </a:p>
        </p:txBody>
      </p:sp>
      <p:sp>
        <p:nvSpPr>
          <p:cNvPr id="51" name="Shape 49"/>
          <p:cNvSpPr/>
          <p:nvPr/>
        </p:nvSpPr>
        <p:spPr>
          <a:xfrm>
            <a:off x="228600" y="4617720"/>
            <a:ext cx="8686800" cy="320040"/>
          </a:xfrm>
          <a:prstGeom prst="rect">
            <a:avLst/>
          </a:prstGeom>
          <a:solidFill>
            <a:srgbClr val="161B22"/>
          </a:solidFill>
          <a:ln w="12700">
            <a:solidFill>
              <a:srgbClr val="161B22"/>
            </a:solidFill>
            <a:prstDash val="solid"/>
          </a:ln>
        </p:spPr>
      </p:sp>
      <p:sp>
        <p:nvSpPr>
          <p:cNvPr id="52" name="Text 50"/>
          <p:cNvSpPr/>
          <p:nvPr/>
        </p:nvSpPr>
        <p:spPr>
          <a:xfrm>
            <a:off x="365760" y="4645152"/>
            <a:ext cx="8412480" cy="256032"/>
          </a:xfrm>
          <a:prstGeom prst="rect">
            <a:avLst/>
          </a:prstGeom>
          <a:noFill/>
          <a:ln/>
        </p:spPr>
        <p:txBody>
          <a:bodyPr wrap="square" lIns="0" tIns="0" rIns="0" bIns="0" rtlCol="0" anchor="ctr"/>
          <a:lstStyle/>
          <a:p>
            <a:pPr algn="ctr" indent="0" marL="0">
              <a:buNone/>
            </a:pPr>
            <a:r>
              <a:rPr lang="en-US" sz="1050" dirty="0">
                <a:solidFill>
                  <a:srgbClr val="14B8A6"/>
                </a:solidFill>
                <a:latin typeface="Consolas" pitchFamily="34" charset="0"/>
                <a:ea typeface="Consolas" pitchFamily="34" charset="-122"/>
                <a:cs typeface="Consolas" pitchFamily="34" charset="-120"/>
              </a:rPr>
              <a:t>Run locally:  uvicorn backend:app --host 0.0.0.0 --port 8000 --reload   ·   Interactive docs at  /docs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9488"/>
          </a:solidFill>
          <a:ln w="12700">
            <a:solidFill>
              <a:srgbClr val="0D9488"/>
            </a:solidFill>
            <a:prstDash val="solid"/>
          </a:ln>
        </p:spPr>
      </p:sp>
      <p:sp>
        <p:nvSpPr>
          <p:cNvPr id="3" name="Shape 1"/>
          <p:cNvSpPr/>
          <p:nvPr/>
        </p:nvSpPr>
        <p:spPr>
          <a:xfrm>
            <a:off x="9070848" y="0"/>
            <a:ext cx="73152" cy="5143500"/>
          </a:xfrm>
          <a:prstGeom prst="rect">
            <a:avLst/>
          </a:prstGeom>
          <a:solidFill>
            <a:srgbClr val="F59E0B"/>
          </a:solidFill>
          <a:ln w="12700">
            <a:solidFill>
              <a:srgbClr val="F59E0B"/>
            </a:solidFill>
            <a:prstDash val="solid"/>
          </a:ln>
        </p:spPr>
      </p:sp>
      <p:sp>
        <p:nvSpPr>
          <p:cNvPr id="4" name="Shape 2"/>
          <p:cNvSpPr/>
          <p:nvPr/>
        </p:nvSpPr>
        <p:spPr>
          <a:xfrm>
            <a:off x="73152" y="0"/>
            <a:ext cx="8997696" cy="914400"/>
          </a:xfrm>
          <a:prstGeom prst="rect">
            <a:avLst/>
          </a:prstGeom>
          <a:solidFill>
            <a:srgbClr val="161B22"/>
          </a:solidFill>
          <a:ln w="12700">
            <a:solidFill>
              <a:srgbClr val="161B22"/>
            </a:solidFill>
            <a:prstDash val="solid"/>
          </a:ln>
        </p:spPr>
      </p:sp>
      <p:sp>
        <p:nvSpPr>
          <p:cNvPr id="5" name="Text 3"/>
          <p:cNvSpPr/>
          <p:nvPr/>
        </p:nvSpPr>
        <p:spPr>
          <a:xfrm>
            <a:off x="274320" y="73152"/>
            <a:ext cx="8595360" cy="777240"/>
          </a:xfrm>
          <a:prstGeom prst="rect">
            <a:avLst/>
          </a:prstGeom>
          <a:noFill/>
          <a:ln/>
        </p:spPr>
        <p:txBody>
          <a:bodyPr wrap="square" lIns="0" tIns="0" rIns="0" bIns="0" rtlCol="0" anchor="ctr"/>
          <a:lstStyle/>
          <a:p>
            <a:pPr algn="ctr" indent="0" marL="0">
              <a:buNone/>
            </a:pPr>
            <a:r>
              <a:rPr lang="en-US" sz="3400" b="1" dirty="0">
                <a:solidFill>
                  <a:srgbClr val="F8FAFC"/>
                </a:solidFill>
                <a:latin typeface="Georgia" pitchFamily="34" charset="0"/>
                <a:ea typeface="Georgia" pitchFamily="34" charset="-122"/>
                <a:cs typeface="Georgia" pitchFamily="34" charset="-120"/>
              </a:rPr>
              <a:t>Key Takeaways</a:t>
            </a:r>
            <a:endParaRPr lang="en-US" sz="3400" dirty="0"/>
          </a:p>
        </p:txBody>
      </p:sp>
      <p:sp>
        <p:nvSpPr>
          <p:cNvPr id="6" name="Shape 4"/>
          <p:cNvSpPr/>
          <p:nvPr/>
        </p:nvSpPr>
        <p:spPr>
          <a:xfrm>
            <a:off x="228600" y="1051560"/>
            <a:ext cx="2743200" cy="1755648"/>
          </a:xfrm>
          <a:prstGeom prst="rect">
            <a:avLst/>
          </a:prstGeom>
          <a:solidFill>
            <a:srgbClr val="1F2937"/>
          </a:solidFill>
          <a:ln w="19050">
            <a:solidFill>
              <a:srgbClr val="0D9488"/>
            </a:solidFill>
            <a:prstDash val="solid"/>
          </a:ln>
          <a:effectLst>
            <a:outerShdw sx="100000" sy="100000" kx="0" ky="0" algn="bl" rotWithShape="0" blurRad="127000" dist="38100" dir="8100000">
              <a:srgbClr val="000000">
                <a:alpha val="25000"/>
              </a:srgbClr>
            </a:outerShdw>
          </a:effectLst>
        </p:spPr>
      </p:sp>
      <p:sp>
        <p:nvSpPr>
          <p:cNvPr id="7" name="Shape 5"/>
          <p:cNvSpPr/>
          <p:nvPr/>
        </p:nvSpPr>
        <p:spPr>
          <a:xfrm>
            <a:off x="228600" y="1051560"/>
            <a:ext cx="2743200" cy="64008"/>
          </a:xfrm>
          <a:prstGeom prst="rect">
            <a:avLst/>
          </a:prstGeom>
          <a:solidFill>
            <a:srgbClr val="0D9488"/>
          </a:solidFill>
          <a:ln w="12700">
            <a:solidFill>
              <a:srgbClr val="0D9488"/>
            </a:solidFill>
            <a:prstDash val="solid"/>
          </a:ln>
        </p:spPr>
      </p:sp>
      <p:sp>
        <p:nvSpPr>
          <p:cNvPr id="8" name="Text 6"/>
          <p:cNvSpPr/>
          <p:nvPr/>
        </p:nvSpPr>
        <p:spPr>
          <a:xfrm>
            <a:off x="320040" y="1161288"/>
            <a:ext cx="502920" cy="365760"/>
          </a:xfrm>
          <a:prstGeom prst="rect">
            <a:avLst/>
          </a:prstGeom>
          <a:noFill/>
          <a:ln/>
        </p:spPr>
        <p:txBody>
          <a:bodyPr wrap="square" lIns="0" tIns="0" rIns="0" bIns="0" rtlCol="0" anchor="ctr"/>
          <a:lstStyle/>
          <a:p>
            <a:pPr indent="0" marL="0">
              <a:buNone/>
            </a:pPr>
            <a:r>
              <a:rPr lang="en-US" sz="2200" b="1" dirty="0">
                <a:solidFill>
                  <a:srgbClr val="0D9488"/>
                </a:solidFill>
              </a:rPr>
              <a:t>01</a:t>
            </a:r>
            <a:endParaRPr lang="en-US" sz="2200" dirty="0"/>
          </a:p>
        </p:txBody>
      </p:sp>
      <p:sp>
        <p:nvSpPr>
          <p:cNvPr id="9" name="Text 7"/>
          <p:cNvSpPr/>
          <p:nvPr/>
        </p:nvSpPr>
        <p:spPr>
          <a:xfrm>
            <a:off x="868680" y="1161288"/>
            <a:ext cx="2011680" cy="365760"/>
          </a:xfrm>
          <a:prstGeom prst="rect">
            <a:avLst/>
          </a:prstGeom>
          <a:noFill/>
          <a:ln/>
        </p:spPr>
        <p:txBody>
          <a:bodyPr wrap="square" lIns="0" tIns="0" rIns="0" bIns="0" rtlCol="0" anchor="ctr"/>
          <a:lstStyle/>
          <a:p>
            <a:pPr indent="0" marL="0">
              <a:buNone/>
            </a:pPr>
            <a:r>
              <a:rPr lang="en-US" sz="1300" b="1" dirty="0">
                <a:solidFill>
                  <a:srgbClr val="0D9488"/>
                </a:solidFill>
              </a:rPr>
              <a:t>VSM: Geometry of Language</a:t>
            </a:r>
            <a:endParaRPr lang="en-US" sz="1300" dirty="0"/>
          </a:p>
        </p:txBody>
      </p:sp>
      <p:sp>
        <p:nvSpPr>
          <p:cNvPr id="10" name="Text 8"/>
          <p:cNvSpPr/>
          <p:nvPr/>
        </p:nvSpPr>
        <p:spPr>
          <a:xfrm>
            <a:off x="320040" y="1645920"/>
            <a:ext cx="2560320" cy="1024128"/>
          </a:xfrm>
          <a:prstGeom prst="rect">
            <a:avLst/>
          </a:prstGeom>
          <a:noFill/>
          <a:ln/>
        </p:spPr>
        <p:txBody>
          <a:bodyPr wrap="square" lIns="0" tIns="0" rIns="0" bIns="0" rtlCol="0" anchor="ctr"/>
          <a:lstStyle/>
          <a:p>
            <a:pPr indent="0" marL="0">
              <a:lnSpc>
                <a:spcPct val="135000"/>
              </a:lnSpc>
              <a:buNone/>
            </a:pPr>
            <a:r>
              <a:rPr lang="en-US" sz="1150" dirty="0">
                <a:solidFill>
                  <a:srgbClr val="CBD5E1"/>
                </a:solidFill>
              </a:rPr>
              <a:t>Documents and queries live as vectors in term-space. Cosine similarity = relevance.</a:t>
            </a:r>
            <a:endParaRPr lang="en-US" sz="1150" dirty="0"/>
          </a:p>
        </p:txBody>
      </p:sp>
      <p:sp>
        <p:nvSpPr>
          <p:cNvPr id="11" name="Shape 9"/>
          <p:cNvSpPr/>
          <p:nvPr/>
        </p:nvSpPr>
        <p:spPr>
          <a:xfrm>
            <a:off x="3172968" y="1051560"/>
            <a:ext cx="2743200" cy="1755648"/>
          </a:xfrm>
          <a:prstGeom prst="rect">
            <a:avLst/>
          </a:prstGeom>
          <a:solidFill>
            <a:srgbClr val="1F2937"/>
          </a:solidFill>
          <a:ln w="19050">
            <a:solidFill>
              <a:srgbClr val="F59E0B"/>
            </a:solidFill>
            <a:prstDash val="solid"/>
          </a:ln>
          <a:effectLst>
            <a:outerShdw sx="100000" sy="100000" kx="0" ky="0" algn="bl" rotWithShape="0" blurRad="127000" dist="38100" dir="8100000">
              <a:srgbClr val="000000">
                <a:alpha val="25000"/>
              </a:srgbClr>
            </a:outerShdw>
          </a:effectLst>
        </p:spPr>
      </p:sp>
      <p:sp>
        <p:nvSpPr>
          <p:cNvPr id="12" name="Shape 10"/>
          <p:cNvSpPr/>
          <p:nvPr/>
        </p:nvSpPr>
        <p:spPr>
          <a:xfrm>
            <a:off x="3172968" y="1051560"/>
            <a:ext cx="2743200" cy="64008"/>
          </a:xfrm>
          <a:prstGeom prst="rect">
            <a:avLst/>
          </a:prstGeom>
          <a:solidFill>
            <a:srgbClr val="F59E0B"/>
          </a:solidFill>
          <a:ln w="12700">
            <a:solidFill>
              <a:srgbClr val="F59E0B"/>
            </a:solidFill>
            <a:prstDash val="solid"/>
          </a:ln>
        </p:spPr>
      </p:sp>
      <p:sp>
        <p:nvSpPr>
          <p:cNvPr id="13" name="Text 11"/>
          <p:cNvSpPr/>
          <p:nvPr/>
        </p:nvSpPr>
        <p:spPr>
          <a:xfrm>
            <a:off x="3264408" y="1161288"/>
            <a:ext cx="502920" cy="365760"/>
          </a:xfrm>
          <a:prstGeom prst="rect">
            <a:avLst/>
          </a:prstGeom>
          <a:noFill/>
          <a:ln/>
        </p:spPr>
        <p:txBody>
          <a:bodyPr wrap="square" lIns="0" tIns="0" rIns="0" bIns="0" rtlCol="0" anchor="ctr"/>
          <a:lstStyle/>
          <a:p>
            <a:pPr indent="0" marL="0">
              <a:buNone/>
            </a:pPr>
            <a:r>
              <a:rPr lang="en-US" sz="2200" b="1" dirty="0">
                <a:solidFill>
                  <a:srgbClr val="F59E0B"/>
                </a:solidFill>
              </a:rPr>
              <a:t>02</a:t>
            </a:r>
            <a:endParaRPr lang="en-US" sz="2200" dirty="0"/>
          </a:p>
        </p:txBody>
      </p:sp>
      <p:sp>
        <p:nvSpPr>
          <p:cNvPr id="14" name="Text 12"/>
          <p:cNvSpPr/>
          <p:nvPr/>
        </p:nvSpPr>
        <p:spPr>
          <a:xfrm>
            <a:off x="3813048" y="1161288"/>
            <a:ext cx="2011680" cy="365760"/>
          </a:xfrm>
          <a:prstGeom prst="rect">
            <a:avLst/>
          </a:prstGeom>
          <a:noFill/>
          <a:ln/>
        </p:spPr>
        <p:txBody>
          <a:bodyPr wrap="square" lIns="0" tIns="0" rIns="0" bIns="0" rtlCol="0" anchor="ctr"/>
          <a:lstStyle/>
          <a:p>
            <a:pPr indent="0" marL="0">
              <a:buNone/>
            </a:pPr>
            <a:r>
              <a:rPr lang="en-US" sz="1300" b="1" dirty="0">
                <a:solidFill>
                  <a:srgbClr val="F59E0B"/>
                </a:solidFill>
              </a:rPr>
              <a:t>TF-IDF / BM25 — Lexical Power</a:t>
            </a:r>
            <a:endParaRPr lang="en-US" sz="1300" dirty="0"/>
          </a:p>
        </p:txBody>
      </p:sp>
      <p:sp>
        <p:nvSpPr>
          <p:cNvPr id="15" name="Text 13"/>
          <p:cNvSpPr/>
          <p:nvPr/>
        </p:nvSpPr>
        <p:spPr>
          <a:xfrm>
            <a:off x="3264408" y="1645920"/>
            <a:ext cx="2560320" cy="1024128"/>
          </a:xfrm>
          <a:prstGeom prst="rect">
            <a:avLst/>
          </a:prstGeom>
          <a:noFill/>
          <a:ln/>
        </p:spPr>
        <p:txBody>
          <a:bodyPr wrap="square" lIns="0" tIns="0" rIns="0" bIns="0" rtlCol="0" anchor="ctr"/>
          <a:lstStyle/>
          <a:p>
            <a:pPr indent="0" marL="0">
              <a:lnSpc>
                <a:spcPct val="135000"/>
              </a:lnSpc>
              <a:buNone/>
            </a:pPr>
            <a:r>
              <a:rPr lang="en-US" sz="1150" dirty="0">
                <a:solidFill>
                  <a:srgbClr val="CBD5E1"/>
                </a:solidFill>
              </a:rPr>
              <a:t>Sparse vectors weighted by term importance. BM25 adds document-length normalisation.</a:t>
            </a:r>
            <a:endParaRPr lang="en-US" sz="1150" dirty="0"/>
          </a:p>
        </p:txBody>
      </p:sp>
      <p:sp>
        <p:nvSpPr>
          <p:cNvPr id="16" name="Shape 14"/>
          <p:cNvSpPr/>
          <p:nvPr/>
        </p:nvSpPr>
        <p:spPr>
          <a:xfrm>
            <a:off x="6117336" y="1051560"/>
            <a:ext cx="2743200" cy="1755648"/>
          </a:xfrm>
          <a:prstGeom prst="rect">
            <a:avLst/>
          </a:prstGeom>
          <a:solidFill>
            <a:srgbClr val="1F2937"/>
          </a:solidFill>
          <a:ln w="19050">
            <a:solidFill>
              <a:srgbClr val="10B981"/>
            </a:solidFill>
            <a:prstDash val="solid"/>
          </a:ln>
          <a:effectLst>
            <a:outerShdw sx="100000" sy="100000" kx="0" ky="0" algn="bl" rotWithShape="0" blurRad="127000" dist="38100" dir="8100000">
              <a:srgbClr val="000000">
                <a:alpha val="25000"/>
              </a:srgbClr>
            </a:outerShdw>
          </a:effectLst>
        </p:spPr>
      </p:sp>
      <p:sp>
        <p:nvSpPr>
          <p:cNvPr id="17" name="Shape 15"/>
          <p:cNvSpPr/>
          <p:nvPr/>
        </p:nvSpPr>
        <p:spPr>
          <a:xfrm>
            <a:off x="6117336" y="1051560"/>
            <a:ext cx="2743200" cy="64008"/>
          </a:xfrm>
          <a:prstGeom prst="rect">
            <a:avLst/>
          </a:prstGeom>
          <a:solidFill>
            <a:srgbClr val="10B981"/>
          </a:solidFill>
          <a:ln w="12700">
            <a:solidFill>
              <a:srgbClr val="10B981"/>
            </a:solidFill>
            <a:prstDash val="solid"/>
          </a:ln>
        </p:spPr>
      </p:sp>
      <p:sp>
        <p:nvSpPr>
          <p:cNvPr id="18" name="Text 16"/>
          <p:cNvSpPr/>
          <p:nvPr/>
        </p:nvSpPr>
        <p:spPr>
          <a:xfrm>
            <a:off x="6208776" y="1161288"/>
            <a:ext cx="502920" cy="365760"/>
          </a:xfrm>
          <a:prstGeom prst="rect">
            <a:avLst/>
          </a:prstGeom>
          <a:noFill/>
          <a:ln/>
        </p:spPr>
        <p:txBody>
          <a:bodyPr wrap="square" lIns="0" tIns="0" rIns="0" bIns="0" rtlCol="0" anchor="ctr"/>
          <a:lstStyle/>
          <a:p>
            <a:pPr indent="0" marL="0">
              <a:buNone/>
            </a:pPr>
            <a:r>
              <a:rPr lang="en-US" sz="2200" b="1" dirty="0">
                <a:solidFill>
                  <a:srgbClr val="10B981"/>
                </a:solidFill>
              </a:rPr>
              <a:t>03</a:t>
            </a:r>
            <a:endParaRPr lang="en-US" sz="2200" dirty="0"/>
          </a:p>
        </p:txBody>
      </p:sp>
      <p:sp>
        <p:nvSpPr>
          <p:cNvPr id="19" name="Text 17"/>
          <p:cNvSpPr/>
          <p:nvPr/>
        </p:nvSpPr>
        <p:spPr>
          <a:xfrm>
            <a:off x="6757416" y="1161288"/>
            <a:ext cx="2011680" cy="365760"/>
          </a:xfrm>
          <a:prstGeom prst="rect">
            <a:avLst/>
          </a:prstGeom>
          <a:noFill/>
          <a:ln/>
        </p:spPr>
        <p:txBody>
          <a:bodyPr wrap="square" lIns="0" tIns="0" rIns="0" bIns="0" rtlCol="0" anchor="ctr"/>
          <a:lstStyle/>
          <a:p>
            <a:pPr indent="0" marL="0">
              <a:buNone/>
            </a:pPr>
            <a:r>
              <a:rPr lang="en-US" sz="1300" b="1" dirty="0">
                <a:solidFill>
                  <a:srgbClr val="10B981"/>
                </a:solidFill>
              </a:rPr>
              <a:t>Neural Embeddings — Dense &amp; Semantic</a:t>
            </a:r>
            <a:endParaRPr lang="en-US" sz="1300" dirty="0"/>
          </a:p>
        </p:txBody>
      </p:sp>
      <p:sp>
        <p:nvSpPr>
          <p:cNvPr id="20" name="Text 18"/>
          <p:cNvSpPr/>
          <p:nvPr/>
        </p:nvSpPr>
        <p:spPr>
          <a:xfrm>
            <a:off x="6208776" y="1645920"/>
            <a:ext cx="2560320" cy="1024128"/>
          </a:xfrm>
          <a:prstGeom prst="rect">
            <a:avLst/>
          </a:prstGeom>
          <a:noFill/>
          <a:ln/>
        </p:spPr>
        <p:txBody>
          <a:bodyPr wrap="square" lIns="0" tIns="0" rIns="0" bIns="0" rtlCol="0" anchor="ctr"/>
          <a:lstStyle/>
          <a:p>
            <a:pPr indent="0" marL="0">
              <a:lnSpc>
                <a:spcPct val="135000"/>
              </a:lnSpc>
              <a:buNone/>
            </a:pPr>
            <a:r>
              <a:rPr lang="en-US" sz="1150" dirty="0">
                <a:solidFill>
                  <a:srgbClr val="CBD5E1"/>
                </a:solidFill>
              </a:rPr>
              <a:t>all-MiniLM-L6-v2 encodes meaning, not just words. Synonyms, context, intent — all captured.</a:t>
            </a:r>
            <a:endParaRPr lang="en-US" sz="1150" dirty="0"/>
          </a:p>
        </p:txBody>
      </p:sp>
      <p:sp>
        <p:nvSpPr>
          <p:cNvPr id="21" name="Shape 19"/>
          <p:cNvSpPr/>
          <p:nvPr/>
        </p:nvSpPr>
        <p:spPr>
          <a:xfrm>
            <a:off x="228600" y="2990088"/>
            <a:ext cx="2743200" cy="1755648"/>
          </a:xfrm>
          <a:prstGeom prst="rect">
            <a:avLst/>
          </a:prstGeom>
          <a:solidFill>
            <a:srgbClr val="1F2937"/>
          </a:solidFill>
          <a:ln w="19050">
            <a:solidFill>
              <a:srgbClr val="F43F5E"/>
            </a:solidFill>
            <a:prstDash val="solid"/>
          </a:ln>
          <a:effectLst>
            <a:outerShdw sx="100000" sy="100000" kx="0" ky="0" algn="bl" rotWithShape="0" blurRad="127000" dist="38100" dir="8100000">
              <a:srgbClr val="000000">
                <a:alpha val="25000"/>
              </a:srgbClr>
            </a:outerShdw>
          </a:effectLst>
        </p:spPr>
      </p:sp>
      <p:sp>
        <p:nvSpPr>
          <p:cNvPr id="22" name="Shape 20"/>
          <p:cNvSpPr/>
          <p:nvPr/>
        </p:nvSpPr>
        <p:spPr>
          <a:xfrm>
            <a:off x="228600" y="2990088"/>
            <a:ext cx="2743200" cy="64008"/>
          </a:xfrm>
          <a:prstGeom prst="rect">
            <a:avLst/>
          </a:prstGeom>
          <a:solidFill>
            <a:srgbClr val="F43F5E"/>
          </a:solidFill>
          <a:ln w="12700">
            <a:solidFill>
              <a:srgbClr val="F43F5E"/>
            </a:solidFill>
            <a:prstDash val="solid"/>
          </a:ln>
        </p:spPr>
      </p:sp>
      <p:sp>
        <p:nvSpPr>
          <p:cNvPr id="23" name="Text 21"/>
          <p:cNvSpPr/>
          <p:nvPr/>
        </p:nvSpPr>
        <p:spPr>
          <a:xfrm>
            <a:off x="320040" y="3099816"/>
            <a:ext cx="502920" cy="365760"/>
          </a:xfrm>
          <a:prstGeom prst="rect">
            <a:avLst/>
          </a:prstGeom>
          <a:noFill/>
          <a:ln/>
        </p:spPr>
        <p:txBody>
          <a:bodyPr wrap="square" lIns="0" tIns="0" rIns="0" bIns="0" rtlCol="0" anchor="ctr"/>
          <a:lstStyle/>
          <a:p>
            <a:pPr indent="0" marL="0">
              <a:buNone/>
            </a:pPr>
            <a:r>
              <a:rPr lang="en-US" sz="2200" b="1" dirty="0">
                <a:solidFill>
                  <a:srgbClr val="F43F5E"/>
                </a:solidFill>
              </a:rPr>
              <a:t>04</a:t>
            </a:r>
            <a:endParaRPr lang="en-US" sz="2200" dirty="0"/>
          </a:p>
        </p:txBody>
      </p:sp>
      <p:sp>
        <p:nvSpPr>
          <p:cNvPr id="24" name="Text 22"/>
          <p:cNvSpPr/>
          <p:nvPr/>
        </p:nvSpPr>
        <p:spPr>
          <a:xfrm>
            <a:off x="868680" y="3099816"/>
            <a:ext cx="2011680" cy="365760"/>
          </a:xfrm>
          <a:prstGeom prst="rect">
            <a:avLst/>
          </a:prstGeom>
          <a:noFill/>
          <a:ln/>
        </p:spPr>
        <p:txBody>
          <a:bodyPr wrap="square" lIns="0" tIns="0" rIns="0" bIns="0" rtlCol="0" anchor="ctr"/>
          <a:lstStyle/>
          <a:p>
            <a:pPr indent="0" marL="0">
              <a:buNone/>
            </a:pPr>
            <a:r>
              <a:rPr lang="en-US" sz="1300" b="1" dirty="0">
                <a:solidFill>
                  <a:srgbClr val="F43F5E"/>
                </a:solidFill>
              </a:rPr>
              <a:t>Hybrid = Best of Both Worlds</a:t>
            </a:r>
            <a:endParaRPr lang="en-US" sz="1300" dirty="0"/>
          </a:p>
        </p:txBody>
      </p:sp>
      <p:sp>
        <p:nvSpPr>
          <p:cNvPr id="25" name="Text 23"/>
          <p:cNvSpPr/>
          <p:nvPr/>
        </p:nvSpPr>
        <p:spPr>
          <a:xfrm>
            <a:off x="320040" y="3584448"/>
            <a:ext cx="2560320" cy="1024128"/>
          </a:xfrm>
          <a:prstGeom prst="rect">
            <a:avLst/>
          </a:prstGeom>
          <a:noFill/>
          <a:ln/>
        </p:spPr>
        <p:txBody>
          <a:bodyPr wrap="square" lIns="0" tIns="0" rIns="0" bIns="0" rtlCol="0" anchor="ctr"/>
          <a:lstStyle/>
          <a:p>
            <a:pPr indent="0" marL="0">
              <a:lnSpc>
                <a:spcPct val="135000"/>
              </a:lnSpc>
              <a:buNone/>
            </a:pPr>
            <a:r>
              <a:rPr lang="en-US" sz="1150" dirty="0">
                <a:solidFill>
                  <a:srgbClr val="CBD5E1"/>
                </a:solidFill>
              </a:rPr>
              <a:t>BM25 handles precision; neural handles recall. RRF blends both rankings without score rescaling.</a:t>
            </a:r>
            <a:endParaRPr lang="en-US" sz="1150" dirty="0"/>
          </a:p>
        </p:txBody>
      </p:sp>
      <p:sp>
        <p:nvSpPr>
          <p:cNvPr id="26" name="Shape 24"/>
          <p:cNvSpPr/>
          <p:nvPr/>
        </p:nvSpPr>
        <p:spPr>
          <a:xfrm>
            <a:off x="3172968" y="2990088"/>
            <a:ext cx="2743200" cy="1755648"/>
          </a:xfrm>
          <a:prstGeom prst="rect">
            <a:avLst/>
          </a:prstGeom>
          <a:solidFill>
            <a:srgbClr val="1F2937"/>
          </a:solidFill>
          <a:ln w="19050">
            <a:solidFill>
              <a:srgbClr val="5EEAD4"/>
            </a:solidFill>
            <a:prstDash val="solid"/>
          </a:ln>
          <a:effectLst>
            <a:outerShdw sx="100000" sy="100000" kx="0" ky="0" algn="bl" rotWithShape="0" blurRad="127000" dist="38100" dir="8100000">
              <a:srgbClr val="000000">
                <a:alpha val="25000"/>
              </a:srgbClr>
            </a:outerShdw>
          </a:effectLst>
        </p:spPr>
      </p:sp>
      <p:sp>
        <p:nvSpPr>
          <p:cNvPr id="27" name="Shape 25"/>
          <p:cNvSpPr/>
          <p:nvPr/>
        </p:nvSpPr>
        <p:spPr>
          <a:xfrm>
            <a:off x="3172968" y="2990088"/>
            <a:ext cx="2743200" cy="64008"/>
          </a:xfrm>
          <a:prstGeom prst="rect">
            <a:avLst/>
          </a:prstGeom>
          <a:solidFill>
            <a:srgbClr val="5EEAD4"/>
          </a:solidFill>
          <a:ln w="12700">
            <a:solidFill>
              <a:srgbClr val="5EEAD4"/>
            </a:solidFill>
            <a:prstDash val="solid"/>
          </a:ln>
        </p:spPr>
      </p:sp>
      <p:sp>
        <p:nvSpPr>
          <p:cNvPr id="28" name="Text 26"/>
          <p:cNvSpPr/>
          <p:nvPr/>
        </p:nvSpPr>
        <p:spPr>
          <a:xfrm>
            <a:off x="3264408" y="3099816"/>
            <a:ext cx="502920" cy="365760"/>
          </a:xfrm>
          <a:prstGeom prst="rect">
            <a:avLst/>
          </a:prstGeom>
          <a:noFill/>
          <a:ln/>
        </p:spPr>
        <p:txBody>
          <a:bodyPr wrap="square" lIns="0" tIns="0" rIns="0" bIns="0" rtlCol="0" anchor="ctr"/>
          <a:lstStyle/>
          <a:p>
            <a:pPr indent="0" marL="0">
              <a:buNone/>
            </a:pPr>
            <a:r>
              <a:rPr lang="en-US" sz="2200" b="1" dirty="0">
                <a:solidFill>
                  <a:srgbClr val="5EEAD4"/>
                </a:solidFill>
              </a:rPr>
              <a:t>05</a:t>
            </a:r>
            <a:endParaRPr lang="en-US" sz="2200" dirty="0"/>
          </a:p>
        </p:txBody>
      </p:sp>
      <p:sp>
        <p:nvSpPr>
          <p:cNvPr id="29" name="Text 27"/>
          <p:cNvSpPr/>
          <p:nvPr/>
        </p:nvSpPr>
        <p:spPr>
          <a:xfrm>
            <a:off x="3813048" y="3099816"/>
            <a:ext cx="2011680" cy="365760"/>
          </a:xfrm>
          <a:prstGeom prst="rect">
            <a:avLst/>
          </a:prstGeom>
          <a:noFill/>
          <a:ln/>
        </p:spPr>
        <p:txBody>
          <a:bodyPr wrap="square" lIns="0" tIns="0" rIns="0" bIns="0" rtlCol="0" anchor="ctr"/>
          <a:lstStyle/>
          <a:p>
            <a:pPr indent="0" marL="0">
              <a:buNone/>
            </a:pPr>
            <a:r>
              <a:rPr lang="en-US" sz="1300" b="1" dirty="0">
                <a:solidFill>
                  <a:srgbClr val="5EEAD4"/>
                </a:solidFill>
              </a:rPr>
              <a:t>FAISS = Sub-millisecond Search</a:t>
            </a:r>
            <a:endParaRPr lang="en-US" sz="1300" dirty="0"/>
          </a:p>
        </p:txBody>
      </p:sp>
      <p:sp>
        <p:nvSpPr>
          <p:cNvPr id="30" name="Text 28"/>
          <p:cNvSpPr/>
          <p:nvPr/>
        </p:nvSpPr>
        <p:spPr>
          <a:xfrm>
            <a:off x="3264408" y="3584448"/>
            <a:ext cx="2560320" cy="1024128"/>
          </a:xfrm>
          <a:prstGeom prst="rect">
            <a:avLst/>
          </a:prstGeom>
          <a:noFill/>
          <a:ln/>
        </p:spPr>
        <p:txBody>
          <a:bodyPr wrap="square" lIns="0" tIns="0" rIns="0" bIns="0" rtlCol="0" anchor="ctr"/>
          <a:lstStyle/>
          <a:p>
            <a:pPr indent="0" marL="0">
              <a:lnSpc>
                <a:spcPct val="135000"/>
              </a:lnSpc>
              <a:buNone/>
            </a:pPr>
            <a:r>
              <a:rPr lang="en-US" sz="1150" dirty="0">
                <a:solidFill>
                  <a:srgbClr val="CBD5E1"/>
                </a:solidFill>
              </a:rPr>
              <a:t>Approximate nearest-neighbour at scale. Dot product search over 384-dim normalised vectors.</a:t>
            </a:r>
            <a:endParaRPr lang="en-US" sz="1150" dirty="0"/>
          </a:p>
        </p:txBody>
      </p:sp>
      <p:sp>
        <p:nvSpPr>
          <p:cNvPr id="31" name="Shape 29"/>
          <p:cNvSpPr/>
          <p:nvPr/>
        </p:nvSpPr>
        <p:spPr>
          <a:xfrm>
            <a:off x="6117336" y="2990088"/>
            <a:ext cx="2743200" cy="1755648"/>
          </a:xfrm>
          <a:prstGeom prst="rect">
            <a:avLst/>
          </a:prstGeom>
          <a:solidFill>
            <a:srgbClr val="1F2937"/>
          </a:solidFill>
          <a:ln w="19050">
            <a:solidFill>
              <a:srgbClr val="D97706"/>
            </a:solidFill>
            <a:prstDash val="solid"/>
          </a:ln>
          <a:effectLst>
            <a:outerShdw sx="100000" sy="100000" kx="0" ky="0" algn="bl" rotWithShape="0" blurRad="127000" dist="38100" dir="8100000">
              <a:srgbClr val="000000">
                <a:alpha val="25000"/>
              </a:srgbClr>
            </a:outerShdw>
          </a:effectLst>
        </p:spPr>
      </p:sp>
      <p:sp>
        <p:nvSpPr>
          <p:cNvPr id="32" name="Shape 30"/>
          <p:cNvSpPr/>
          <p:nvPr/>
        </p:nvSpPr>
        <p:spPr>
          <a:xfrm>
            <a:off x="6117336" y="2990088"/>
            <a:ext cx="2743200" cy="64008"/>
          </a:xfrm>
          <a:prstGeom prst="rect">
            <a:avLst/>
          </a:prstGeom>
          <a:solidFill>
            <a:srgbClr val="D97706"/>
          </a:solidFill>
          <a:ln w="12700">
            <a:solidFill>
              <a:srgbClr val="D97706"/>
            </a:solidFill>
            <a:prstDash val="solid"/>
          </a:ln>
        </p:spPr>
      </p:sp>
      <p:sp>
        <p:nvSpPr>
          <p:cNvPr id="33" name="Text 31"/>
          <p:cNvSpPr/>
          <p:nvPr/>
        </p:nvSpPr>
        <p:spPr>
          <a:xfrm>
            <a:off x="6208776" y="3099816"/>
            <a:ext cx="502920" cy="365760"/>
          </a:xfrm>
          <a:prstGeom prst="rect">
            <a:avLst/>
          </a:prstGeom>
          <a:noFill/>
          <a:ln/>
        </p:spPr>
        <p:txBody>
          <a:bodyPr wrap="square" lIns="0" tIns="0" rIns="0" bIns="0" rtlCol="0" anchor="ctr"/>
          <a:lstStyle/>
          <a:p>
            <a:pPr indent="0" marL="0">
              <a:buNone/>
            </a:pPr>
            <a:r>
              <a:rPr lang="en-US" sz="2200" b="1" dirty="0">
                <a:solidFill>
                  <a:srgbClr val="D97706"/>
                </a:solidFill>
              </a:rPr>
              <a:t>06</a:t>
            </a:r>
            <a:endParaRPr lang="en-US" sz="2200" dirty="0"/>
          </a:p>
        </p:txBody>
      </p:sp>
      <p:sp>
        <p:nvSpPr>
          <p:cNvPr id="34" name="Text 32"/>
          <p:cNvSpPr/>
          <p:nvPr/>
        </p:nvSpPr>
        <p:spPr>
          <a:xfrm>
            <a:off x="6757416" y="3099816"/>
            <a:ext cx="2011680" cy="365760"/>
          </a:xfrm>
          <a:prstGeom prst="rect">
            <a:avLst/>
          </a:prstGeom>
          <a:noFill/>
          <a:ln/>
        </p:spPr>
        <p:txBody>
          <a:bodyPr wrap="square" lIns="0" tIns="0" rIns="0" bIns="0" rtlCol="0" anchor="ctr"/>
          <a:lstStyle/>
          <a:p>
            <a:pPr indent="0" marL="0">
              <a:buNone/>
            </a:pPr>
            <a:r>
              <a:rPr lang="en-US" sz="1300" b="1" dirty="0">
                <a:solidFill>
                  <a:srgbClr val="D97706"/>
                </a:solidFill>
              </a:rPr>
              <a:t>The Explorer — Full-stack IR System</a:t>
            </a:r>
            <a:endParaRPr lang="en-US" sz="1300" dirty="0"/>
          </a:p>
        </p:txBody>
      </p:sp>
      <p:sp>
        <p:nvSpPr>
          <p:cNvPr id="35" name="Text 33"/>
          <p:cNvSpPr/>
          <p:nvPr/>
        </p:nvSpPr>
        <p:spPr>
          <a:xfrm>
            <a:off x="6208776" y="3584448"/>
            <a:ext cx="2560320" cy="1024128"/>
          </a:xfrm>
          <a:prstGeom prst="rect">
            <a:avLst/>
          </a:prstGeom>
          <a:noFill/>
          <a:ln/>
        </p:spPr>
        <p:txBody>
          <a:bodyPr wrap="square" lIns="0" tIns="0" rIns="0" bIns="0" rtlCol="0" anchor="ctr"/>
          <a:lstStyle/>
          <a:p>
            <a:pPr indent="0" marL="0">
              <a:lnSpc>
                <a:spcPct val="135000"/>
              </a:lnSpc>
              <a:buNone/>
            </a:pPr>
            <a:r>
              <a:rPr lang="en-US" sz="1150" dirty="0">
                <a:solidFill>
                  <a:srgbClr val="CBD5E1"/>
                </a:solidFill>
              </a:rPr>
              <a:t>FastAPI + SQLite + BM25 + FAISS + WordNet + Crawler + Wikipedia indexer in one package.</a:t>
            </a:r>
            <a:endParaRPr lang="en-US" sz="1150" dirty="0"/>
          </a:p>
        </p:txBody>
      </p:sp>
      <p:sp>
        <p:nvSpPr>
          <p:cNvPr id="36" name="Shape 34"/>
          <p:cNvSpPr/>
          <p:nvPr/>
        </p:nvSpPr>
        <p:spPr>
          <a:xfrm>
            <a:off x="228600" y="4754880"/>
            <a:ext cx="8686800" cy="228600"/>
          </a:xfrm>
          <a:prstGeom prst="rect">
            <a:avLst/>
          </a:prstGeom>
          <a:solidFill>
            <a:srgbClr val="0D9488"/>
          </a:solidFill>
          <a:ln w="12700">
            <a:solidFill>
              <a:srgbClr val="0D9488"/>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Vector Space Model &amp; The Explorer Search Engine</dc:title>
  <dc:subject>PptxGenJS Presentation</dc:subject>
  <dc:creator>PptxGenJS</dc:creator>
  <cp:lastModifiedBy>PptxGenJS</cp:lastModifiedBy>
  <cp:revision>1</cp:revision>
  <dcterms:created xsi:type="dcterms:W3CDTF">2026-04-24T20:03:10Z</dcterms:created>
  <dcterms:modified xsi:type="dcterms:W3CDTF">2026-04-24T20:03:10Z</dcterms:modified>
</cp:coreProperties>
</file>